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4" r:id="rId11"/>
    <p:sldId id="265" r:id="rId12"/>
    <p:sldId id="266" r:id="rId13"/>
    <p:sldId id="269" r:id="rId14"/>
    <p:sldId id="270" r:id="rId15"/>
    <p:sldId id="271" r:id="rId16"/>
    <p:sldId id="272" r:id="rId17"/>
    <p:sldId id="267" r:id="rId18"/>
    <p:sldId id="274" r:id="rId19"/>
    <p:sldId id="277" r:id="rId20"/>
    <p:sldId id="276" r:id="rId21"/>
    <p:sldId id="275" r:id="rId22"/>
    <p:sldId id="278" r:id="rId23"/>
    <p:sldId id="26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国家正在推进文旅产业数字化转型。我们的目标不是再做一个录音播放器，而是把数字人、可靠知识问答、个性化导览和游客洞察整合成一套可落地的景区服务系统。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这四个痛点不能只解决其中一个。只有游客端与管理端连成闭环，数字人才从展示效果变成真正的景区生产力。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闭环从理解游客开始，以运营优化结束，再反哺下一次服务。系统既面对游客，也面对景区管理者。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游客可以从文字或语音开始，也可以按兴趣生成路线、拍照识景、使用当前位置或景点码。所有入口最终都进入同一个有知识依据的讲解链路。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架构上不把所有能力塞进一个模型。文本生成有三条路线；视觉、情感、语音和数字人各自独立，模型失败时可以明确降级而不是让整套系统崩溃。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的重点不是一句回答听起来像真的，而是事实来自哪里、回答失败时如何拒答、更新资料后能否立即生效。这里所有测试数字都保留评测口径。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多模态情绪来自游客与数字人的真实对话，不需要管理员上传视频。游客未授权时只做文本分析；授权语音时结合原声和 ASR 文本，媒体默认删除。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识景准确率低时，产品不能硬猜。我们把视觉候选、本地参考图、位置先验和游客确认组合起来；定位也提供二维码、Wi-Fi 与手动选择等降级路径。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后台数据不是静态假图。当前截图来自运行中的系统，指标由聊天记录、反馈、情绪事件和响应时间聚合生成。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情绪分析的输入是游客与数字人的对话。管理端不需要上传游客视频；它负责查看聚合报告、维护知识、配置数字人并落实系统建议。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最新四轮首响中位数为 2160 毫秒，低于赛题 5 秒目标。系统还把模型显存不足、数字人断连和情感模型降级变成可见、可恢复的状态。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灵山小向导希望解决的不是一次演示，而是景区长期存在的服务供给与运营反馈问题。谢谢各位评委。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EDD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0" Type="http://schemas.openxmlformats.org/officeDocument/2006/relationships/notesSlide" Target="../notesSlides/notesSlide2.xml"/><Relationship Id="rId3" Type="http://schemas.openxmlformats.org/officeDocument/2006/relationships/tags" Target="../tags/tag3.xml"/><Relationship Id="rId29" Type="http://schemas.openxmlformats.org/officeDocument/2006/relationships/slideLayout" Target="../slideLayouts/slideLayout2.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8394192" y="-1143000"/>
            <a:ext cx="5074920" cy="5074920"/>
          </a:xfrm>
          <a:prstGeom prst="ellipse">
            <a:avLst/>
          </a:prstGeom>
          <a:solidFill>
            <a:srgbClr val="233B2A">
              <a:alpha val="85000"/>
            </a:srgbClr>
          </a:solidFill>
          <a:ln w="15240">
            <a:solidFill>
              <a:srgbClr val="2E4E38"/>
            </a:solidFill>
            <a:prstDash val="solid"/>
          </a:ln>
        </p:spPr>
      </p:sp>
      <p:sp>
        <p:nvSpPr>
          <p:cNvPr id="3" name="Shape 1"/>
          <p:cNvSpPr/>
          <p:nvPr/>
        </p:nvSpPr>
        <p:spPr>
          <a:xfrm>
            <a:off x="9308592" y="-347472"/>
            <a:ext cx="3520440" cy="3520440"/>
          </a:xfrm>
          <a:prstGeom prst="ellipse">
            <a:avLst/>
          </a:prstGeom>
          <a:solidFill>
            <a:srgbClr val="1A2E20">
              <a:alpha val="0"/>
            </a:srgbClr>
          </a:solidFill>
          <a:ln w="15240">
            <a:solidFill>
              <a:srgbClr val="2E4E38"/>
            </a:solidFill>
            <a:prstDash val="solid"/>
          </a:ln>
        </p:spPr>
      </p:sp>
      <p:sp>
        <p:nvSpPr>
          <p:cNvPr id="4" name="Text 2"/>
          <p:cNvSpPr txBox="1"/>
          <p:nvPr/>
        </p:nvSpPr>
        <p:spPr>
          <a:xfrm>
            <a:off x="749808" y="658368"/>
            <a:ext cx="5303520" cy="310896"/>
          </a:xfrm>
          <a:prstGeom prst="rect">
            <a:avLst/>
          </a:prstGeom>
          <a:noFill/>
        </p:spPr>
        <p:txBody>
          <a:bodyPr wrap="square" lIns="0" tIns="0" rIns="0" bIns="0" rtlCol="0" anchor="ctr">
            <a:normAutofit/>
          </a:bodyPr>
          <a:lstStyle/>
          <a:p>
            <a:pPr marL="0" indent="0" algn="l">
              <a:buNone/>
            </a:pPr>
            <a:r>
              <a:rPr lang="en-US" sz="1250" b="1" kern="0" spc="14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赛题</a:t>
            </a:r>
            <a:endParaRPr lang="en-US" sz="1250" dirty="0"/>
          </a:p>
        </p:txBody>
      </p:sp>
      <p:sp>
        <p:nvSpPr>
          <p:cNvPr id="5" name="Shape 3"/>
          <p:cNvSpPr/>
          <p:nvPr/>
        </p:nvSpPr>
        <p:spPr>
          <a:xfrm>
            <a:off x="749808" y="1152144"/>
            <a:ext cx="731520" cy="64008"/>
          </a:xfrm>
          <a:prstGeom prst="rect">
            <a:avLst/>
          </a:prstGeom>
          <a:solidFill>
            <a:srgbClr val="E8734A"/>
          </a:solidFill>
          <a:ln w="12700">
            <a:solidFill>
              <a:srgbClr val="E8734A"/>
            </a:solidFill>
            <a:prstDash val="solid"/>
          </a:ln>
        </p:spPr>
      </p:sp>
      <p:sp>
        <p:nvSpPr>
          <p:cNvPr id="6" name="Text 4"/>
          <p:cNvSpPr txBox="1"/>
          <p:nvPr/>
        </p:nvSpPr>
        <p:spPr>
          <a:xfrm>
            <a:off x="749808" y="1481328"/>
            <a:ext cx="5852160" cy="841248"/>
          </a:xfrm>
          <a:prstGeom prst="rect">
            <a:avLst/>
          </a:prstGeom>
          <a:noFill/>
        </p:spPr>
        <p:txBody>
          <a:bodyPr wrap="square" lIns="0" tIns="0" rIns="0" bIns="0" rtlCol="0" anchor="ctr">
            <a:normAutofit/>
          </a:bodyPr>
          <a:lstStyle/>
          <a:p>
            <a:pPr marL="0" indent="0" algn="l">
              <a:buNone/>
            </a:pPr>
            <a:r>
              <a:rPr lang="en-US" sz="48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灵山小向导</a:t>
            </a:r>
            <a:endParaRPr lang="en-US" sz="4800" dirty="0"/>
          </a:p>
        </p:txBody>
      </p:sp>
      <p:sp>
        <p:nvSpPr>
          <p:cNvPr id="7" name="Text 5"/>
          <p:cNvSpPr txBox="1"/>
          <p:nvPr/>
        </p:nvSpPr>
        <p:spPr>
          <a:xfrm>
            <a:off x="749808" y="2350008"/>
            <a:ext cx="5943600" cy="530352"/>
          </a:xfrm>
          <a:prstGeom prst="rect">
            <a:avLst/>
          </a:prstGeom>
          <a:noFill/>
        </p:spPr>
        <p:txBody>
          <a:bodyPr wrap="square" lIns="0" tIns="0" rIns="0" bIns="0" rtlCol="0" anchor="ctr">
            <a:normAutofit/>
          </a:bodyPr>
          <a:lstStyle/>
          <a:p>
            <a:pPr marL="0" indent="0" algn="l">
              <a:buNone/>
            </a:pPr>
            <a:r>
              <a:rPr lang="en-US" sz="25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景区导览服务 AI 数字人</a:t>
            </a:r>
            <a:endParaRPr lang="en-US" sz="2500" dirty="0"/>
          </a:p>
        </p:txBody>
      </p:sp>
      <p:sp>
        <p:nvSpPr>
          <p:cNvPr id="8" name="Text 6"/>
          <p:cNvSpPr txBox="1"/>
          <p:nvPr/>
        </p:nvSpPr>
        <p:spPr>
          <a:xfrm>
            <a:off x="777240" y="3127248"/>
            <a:ext cx="5413248" cy="841248"/>
          </a:xfrm>
          <a:prstGeom prst="rect">
            <a:avLst/>
          </a:prstGeom>
          <a:noFill/>
        </p:spPr>
        <p:txBody>
          <a:bodyPr wrap="square" lIns="0" tIns="0" rIns="0" bIns="0" rtlCol="0" anchor="t">
            <a:normAutofit/>
          </a:bodyPr>
          <a:lstStyle/>
          <a:p>
            <a:pPr marL="0" indent="0" algn="l">
              <a:buNone/>
            </a:pPr>
            <a:r>
              <a:rPr lang="en-US" sz="1700" dirty="0">
                <a:solidFill>
                  <a:srgbClr val="D5DFD8"/>
                </a:solidFill>
                <a:latin typeface="微软雅黑" panose="020B0503020204020204" pitchFamily="34" charset="-122"/>
                <a:ea typeface="微软雅黑" panose="020B0503020204020204" pitchFamily="34" charset="-122"/>
                <a:cs typeface="微软雅黑" panose="020B0503020204020204" pitchFamily="34" charset="-120"/>
              </a:rPr>
              <a:t>让每位游客拥有一位会理解、会讲解、会反馈的专属数字人导游</a:t>
            </a:r>
            <a:endParaRPr lang="en-US" sz="1700" dirty="0"/>
          </a:p>
        </p:txBody>
      </p:sp>
      <p:sp>
        <p:nvSpPr>
          <p:cNvPr id="9" name="Shape 7"/>
          <p:cNvSpPr/>
          <p:nvPr/>
        </p:nvSpPr>
        <p:spPr>
          <a:xfrm>
            <a:off x="777240" y="4315968"/>
            <a:ext cx="1664208" cy="310896"/>
          </a:xfrm>
          <a:prstGeom prst="roundRect">
            <a:avLst/>
          </a:prstGeom>
          <a:solidFill>
            <a:srgbClr val="2E4E38"/>
          </a:solidFill>
          <a:ln w="12700">
            <a:solidFill>
              <a:srgbClr val="2E4E38"/>
            </a:solidFill>
            <a:prstDash val="solid"/>
          </a:ln>
        </p:spPr>
      </p:sp>
      <p:sp>
        <p:nvSpPr>
          <p:cNvPr id="10" name="Text 8"/>
          <p:cNvSpPr txBox="1"/>
          <p:nvPr/>
        </p:nvSpPr>
        <p:spPr>
          <a:xfrm>
            <a:off x="832104" y="4343400"/>
            <a:ext cx="155448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语音 · 文本 · 表情</a:t>
            </a:r>
            <a:endParaRPr lang="en-US" sz="950" dirty="0"/>
          </a:p>
        </p:txBody>
      </p:sp>
      <p:sp>
        <p:nvSpPr>
          <p:cNvPr id="11" name="Shape 9"/>
          <p:cNvSpPr/>
          <p:nvPr/>
        </p:nvSpPr>
        <p:spPr>
          <a:xfrm>
            <a:off x="2578608" y="4315968"/>
            <a:ext cx="1097280" cy="310896"/>
          </a:xfrm>
          <a:prstGeom prst="roundRect">
            <a:avLst/>
          </a:prstGeom>
          <a:solidFill>
            <a:srgbClr val="2E4E38"/>
          </a:solidFill>
          <a:ln w="12700">
            <a:solidFill>
              <a:srgbClr val="2E4E38"/>
            </a:solidFill>
            <a:prstDash val="solid"/>
          </a:ln>
        </p:spPr>
      </p:sp>
      <p:sp>
        <p:nvSpPr>
          <p:cNvPr id="12" name="Text 10"/>
          <p:cNvSpPr txBox="1"/>
          <p:nvPr/>
        </p:nvSpPr>
        <p:spPr>
          <a:xfrm>
            <a:off x="2633472" y="4343400"/>
            <a:ext cx="98755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RAG </a:t>
            </a:r>
            <a:r>
              <a:rPr lang="zh-CN" alt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检索生成</a:t>
            </a:r>
            <a:endParaRPr lang="zh-CN" alt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3" name="Shape 11"/>
          <p:cNvSpPr/>
          <p:nvPr/>
        </p:nvSpPr>
        <p:spPr>
          <a:xfrm>
            <a:off x="3813048" y="4315968"/>
            <a:ext cx="1115568" cy="310896"/>
          </a:xfrm>
          <a:prstGeom prst="roundRect">
            <a:avLst/>
          </a:prstGeom>
          <a:solidFill>
            <a:srgbClr val="2E4E38"/>
          </a:solidFill>
          <a:ln w="12700">
            <a:solidFill>
              <a:srgbClr val="2E4E38"/>
            </a:solidFill>
            <a:prstDash val="solid"/>
          </a:ln>
        </p:spPr>
      </p:sp>
      <p:sp>
        <p:nvSpPr>
          <p:cNvPr id="14" name="Text 12"/>
          <p:cNvSpPr txBox="1"/>
          <p:nvPr/>
        </p:nvSpPr>
        <p:spPr>
          <a:xfrm>
            <a:off x="3867912" y="4343400"/>
            <a:ext cx="100584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识景定位</a:t>
            </a:r>
            <a:endParaRPr lang="en-US" sz="950" dirty="0"/>
          </a:p>
        </p:txBody>
      </p:sp>
      <p:sp>
        <p:nvSpPr>
          <p:cNvPr id="15" name="Shape 13"/>
          <p:cNvSpPr/>
          <p:nvPr/>
        </p:nvSpPr>
        <p:spPr>
          <a:xfrm>
            <a:off x="5065776" y="4315968"/>
            <a:ext cx="1115568" cy="310896"/>
          </a:xfrm>
          <a:prstGeom prst="roundRect">
            <a:avLst/>
          </a:prstGeom>
          <a:solidFill>
            <a:srgbClr val="2E4E38"/>
          </a:solidFill>
          <a:ln w="12700">
            <a:solidFill>
              <a:srgbClr val="2E4E38"/>
            </a:solidFill>
            <a:prstDash val="solid"/>
          </a:ln>
        </p:spPr>
      </p:sp>
      <p:sp>
        <p:nvSpPr>
          <p:cNvPr id="16" name="Text 14"/>
          <p:cNvSpPr txBox="1"/>
          <p:nvPr/>
        </p:nvSpPr>
        <p:spPr>
          <a:xfrm>
            <a:off x="5120640" y="4343400"/>
            <a:ext cx="100584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运营洞察</a:t>
            </a:r>
            <a:endParaRPr lang="en-US" sz="950" dirty="0"/>
          </a:p>
        </p:txBody>
      </p:sp>
      <p:sp>
        <p:nvSpPr>
          <p:cNvPr id="17" name="Shape 15"/>
          <p:cNvSpPr/>
          <p:nvPr/>
        </p:nvSpPr>
        <p:spPr>
          <a:xfrm>
            <a:off x="6510528" y="987552"/>
            <a:ext cx="5029200" cy="4224528"/>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18" name="Shape 16"/>
          <p:cNvSpPr/>
          <p:nvPr/>
        </p:nvSpPr>
        <p:spPr>
          <a:xfrm>
            <a:off x="6510528" y="987552"/>
            <a:ext cx="5029200" cy="274320"/>
          </a:xfrm>
          <a:prstGeom prst="rect">
            <a:avLst/>
          </a:prstGeom>
          <a:solidFill>
            <a:srgbClr val="ECE4D2"/>
          </a:solidFill>
          <a:ln w="12700">
            <a:solidFill>
              <a:srgbClr val="ECE4D2"/>
            </a:solidFill>
            <a:prstDash val="solid"/>
          </a:ln>
        </p:spPr>
      </p:sp>
      <p:sp>
        <p:nvSpPr>
          <p:cNvPr id="19" name="Shape 17"/>
          <p:cNvSpPr/>
          <p:nvPr/>
        </p:nvSpPr>
        <p:spPr>
          <a:xfrm>
            <a:off x="6656832" y="1078992"/>
            <a:ext cx="73152" cy="73152"/>
          </a:xfrm>
          <a:prstGeom prst="ellipse">
            <a:avLst/>
          </a:prstGeom>
          <a:solidFill>
            <a:srgbClr val="E8734A"/>
          </a:solidFill>
          <a:ln w="12700">
            <a:solidFill>
              <a:srgbClr val="E8734A"/>
            </a:solidFill>
            <a:prstDash val="solid"/>
          </a:ln>
        </p:spPr>
      </p:sp>
      <p:sp>
        <p:nvSpPr>
          <p:cNvPr id="20" name="Shape 18"/>
          <p:cNvSpPr/>
          <p:nvPr/>
        </p:nvSpPr>
        <p:spPr>
          <a:xfrm>
            <a:off x="6821424" y="1078992"/>
            <a:ext cx="73152" cy="73152"/>
          </a:xfrm>
          <a:prstGeom prst="ellipse">
            <a:avLst/>
          </a:prstGeom>
          <a:solidFill>
            <a:srgbClr val="B78635"/>
          </a:solidFill>
          <a:ln w="12700">
            <a:solidFill>
              <a:srgbClr val="B78635"/>
            </a:solidFill>
            <a:prstDash val="solid"/>
          </a:ln>
        </p:spPr>
      </p:sp>
      <p:sp>
        <p:nvSpPr>
          <p:cNvPr id="21" name="Shape 19"/>
          <p:cNvSpPr/>
          <p:nvPr/>
        </p:nvSpPr>
        <p:spPr>
          <a:xfrm>
            <a:off x="6986016" y="1078992"/>
            <a:ext cx="73152" cy="73152"/>
          </a:xfrm>
          <a:prstGeom prst="ellipse">
            <a:avLst/>
          </a:prstGeom>
          <a:solidFill>
            <a:srgbClr val="6AB870"/>
          </a:solidFill>
          <a:ln w="12700">
            <a:solidFill>
              <a:srgbClr val="6AB870"/>
            </a:solidFill>
            <a:prstDash val="solid"/>
          </a:ln>
        </p:spPr>
      </p:sp>
      <p:sp>
        <p:nvSpPr>
          <p:cNvPr id="22" name="Text 20"/>
          <p:cNvSpPr txBox="1"/>
          <p:nvPr/>
        </p:nvSpPr>
        <p:spPr>
          <a:xfrm>
            <a:off x="7150608" y="1051560"/>
            <a:ext cx="4251960"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游客交互端 </a:t>
            </a:r>
            <a:endParaRPr lang="en-US" sz="750" dirty="0"/>
          </a:p>
        </p:txBody>
      </p:sp>
      <p:pic>
        <p:nvPicPr>
          <p:cNvPr id="23" name="Image 0" descr="/home/gmn/codes/cup/deliverables/manual-assets/01-visitor-home.png"/>
          <p:cNvPicPr>
            <a:picLocks noChangeAspect="1"/>
          </p:cNvPicPr>
          <p:nvPr/>
        </p:nvPicPr>
        <p:blipFill>
          <a:blip r:embed="rId1"/>
          <a:stretch>
            <a:fillRect/>
          </a:stretch>
        </p:blipFill>
        <p:spPr>
          <a:xfrm>
            <a:off x="6620256" y="1724558"/>
            <a:ext cx="4809744" cy="3006547"/>
          </a:xfrm>
          <a:prstGeom prst="rect">
            <a:avLst/>
          </a:prstGeom>
        </p:spPr>
      </p:pic>
      <p:sp>
        <p:nvSpPr>
          <p:cNvPr id="25" name="Text 22"/>
          <p:cNvSpPr txBox="1"/>
          <p:nvPr/>
        </p:nvSpPr>
        <p:spPr>
          <a:xfrm>
            <a:off x="10835640" y="6016752"/>
            <a:ext cx="658368" cy="256032"/>
          </a:xfrm>
          <a:prstGeom prst="rect">
            <a:avLst/>
          </a:prstGeom>
          <a:noFill/>
        </p:spPr>
        <p:txBody>
          <a:bodyPr wrap="square" lIns="0" tIns="0" rIns="0" bIns="0" rtlCol="0" anchor="ctr">
            <a:normAutofit/>
          </a:bodyPr>
          <a:lstStyle/>
          <a:p>
            <a:pPr marL="0" indent="0" algn="r">
              <a:buNone/>
            </a:pPr>
            <a:r>
              <a:rPr lang="en-US" sz="1050" b="1" kern="0" spc="15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景区缺的不是又一台讲解器，而是一位</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有温度</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可规模化的导游</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传统导览的四个断点，分别发生在供给、互动、情感和运营环节</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PROBLEM</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custDataLst>
              <p:tags r:id="rId1"/>
            </p:custDataLst>
          </p:nvPr>
        </p:nvSpPr>
        <p:spPr>
          <a:xfrm>
            <a:off x="658368" y="1481328"/>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custDataLst>
              <p:tags r:id="rId2"/>
            </p:custDataLst>
          </p:nvPr>
        </p:nvSpPr>
        <p:spPr>
          <a:xfrm>
            <a:off x="886968" y="1719072"/>
            <a:ext cx="420624" cy="420624"/>
          </a:xfrm>
          <a:prstGeom prst="ellipse">
            <a:avLst/>
          </a:prstGeom>
          <a:solidFill>
            <a:srgbClr val="E8734A"/>
          </a:solidFill>
          <a:ln w="12700">
            <a:solidFill>
              <a:srgbClr val="E8734A"/>
            </a:solidFill>
            <a:prstDash val="solid"/>
          </a:ln>
        </p:spPr>
      </p:sp>
      <p:sp>
        <p:nvSpPr>
          <p:cNvPr id="9" name="Text 7"/>
          <p:cNvSpPr txBox="1"/>
          <p:nvPr>
            <p:custDataLst>
              <p:tags r:id="rId3"/>
            </p:custDataLst>
          </p:nvPr>
        </p:nvSpPr>
        <p:spPr>
          <a:xfrm>
            <a:off x="886968" y="172821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150" dirty="0"/>
          </a:p>
        </p:txBody>
      </p:sp>
      <p:sp>
        <p:nvSpPr>
          <p:cNvPr id="10" name="Text 8"/>
          <p:cNvSpPr txBox="1"/>
          <p:nvPr>
            <p:custDataLst>
              <p:tags r:id="rId4"/>
            </p:custDataLst>
          </p:nvPr>
        </p:nvSpPr>
        <p:spPr>
          <a:xfrm>
            <a:off x="1481328" y="1682496"/>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旺季供给断点</a:t>
            </a:r>
            <a:endParaRPr lang="en-US" sz="1750" dirty="0"/>
          </a:p>
        </p:txBody>
      </p:sp>
      <p:sp>
        <p:nvSpPr>
          <p:cNvPr id="11" name="Shape 9"/>
          <p:cNvSpPr/>
          <p:nvPr>
            <p:custDataLst>
              <p:tags r:id="rId5"/>
            </p:custDataLst>
          </p:nvPr>
        </p:nvSpPr>
        <p:spPr>
          <a:xfrm>
            <a:off x="4251960" y="1700784"/>
            <a:ext cx="1417320" cy="310896"/>
          </a:xfrm>
          <a:prstGeom prst="roundRect">
            <a:avLst/>
          </a:prstGeom>
          <a:solidFill>
            <a:srgbClr val="ECE4D2"/>
          </a:solidFill>
          <a:ln w="12700">
            <a:solidFill>
              <a:srgbClr val="ECE4D2"/>
            </a:solidFill>
            <a:prstDash val="solid"/>
          </a:ln>
        </p:spPr>
      </p:sp>
      <p:sp>
        <p:nvSpPr>
          <p:cNvPr id="12" name="Text 10"/>
          <p:cNvSpPr txBox="1"/>
          <p:nvPr>
            <p:custDataLst>
              <p:tags r:id="rId6"/>
            </p:custDataLst>
          </p:nvPr>
        </p:nvSpPr>
        <p:spPr>
          <a:xfrm>
            <a:off x="4306824" y="1728216"/>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游客等待 / 景区成本</a:t>
            </a:r>
            <a:endParaRPr lang="en-US" sz="950" dirty="0"/>
          </a:p>
        </p:txBody>
      </p:sp>
      <p:sp>
        <p:nvSpPr>
          <p:cNvPr id="13" name="Text 11"/>
          <p:cNvSpPr txBox="1"/>
          <p:nvPr>
            <p:custDataLst>
              <p:tags r:id="rId7"/>
            </p:custDataLst>
          </p:nvPr>
        </p:nvSpPr>
        <p:spPr>
          <a:xfrm>
            <a:off x="886968" y="2267712"/>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专业导游供不应求，服务容量随人力线性增长。</a:t>
            </a:r>
            <a:endParaRPr lang="en-US" sz="1250" dirty="0"/>
          </a:p>
        </p:txBody>
      </p:sp>
      <p:sp>
        <p:nvSpPr>
          <p:cNvPr id="14" name="Shape 12"/>
          <p:cNvSpPr/>
          <p:nvPr>
            <p:custDataLst>
              <p:tags r:id="rId8"/>
            </p:custDataLst>
          </p:nvPr>
        </p:nvSpPr>
        <p:spPr>
          <a:xfrm>
            <a:off x="6245352" y="1481328"/>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15" name="Shape 13"/>
          <p:cNvSpPr/>
          <p:nvPr>
            <p:custDataLst>
              <p:tags r:id="rId9"/>
            </p:custDataLst>
          </p:nvPr>
        </p:nvSpPr>
        <p:spPr>
          <a:xfrm>
            <a:off x="6473952" y="1719072"/>
            <a:ext cx="420624" cy="420624"/>
          </a:xfrm>
          <a:prstGeom prst="ellipse">
            <a:avLst/>
          </a:prstGeom>
          <a:solidFill>
            <a:srgbClr val="5B9E8C"/>
          </a:solidFill>
          <a:ln w="12700">
            <a:solidFill>
              <a:srgbClr val="5B9E8C"/>
            </a:solidFill>
            <a:prstDash val="solid"/>
          </a:ln>
        </p:spPr>
      </p:sp>
      <p:sp>
        <p:nvSpPr>
          <p:cNvPr id="16" name="Text 14"/>
          <p:cNvSpPr txBox="1"/>
          <p:nvPr>
            <p:custDataLst>
              <p:tags r:id="rId10"/>
            </p:custDataLst>
          </p:nvPr>
        </p:nvSpPr>
        <p:spPr>
          <a:xfrm>
            <a:off x="6473952" y="172821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150" dirty="0"/>
          </a:p>
        </p:txBody>
      </p:sp>
      <p:sp>
        <p:nvSpPr>
          <p:cNvPr id="17" name="Text 15"/>
          <p:cNvSpPr txBox="1"/>
          <p:nvPr>
            <p:custDataLst>
              <p:tags r:id="rId11"/>
            </p:custDataLst>
          </p:nvPr>
        </p:nvSpPr>
        <p:spPr>
          <a:xfrm>
            <a:off x="7068312" y="1682496"/>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知识互动断点</a:t>
            </a:r>
            <a:endParaRPr lang="en-US" sz="1750" dirty="0"/>
          </a:p>
        </p:txBody>
      </p:sp>
      <p:sp>
        <p:nvSpPr>
          <p:cNvPr id="18" name="Shape 16"/>
          <p:cNvSpPr/>
          <p:nvPr>
            <p:custDataLst>
              <p:tags r:id="rId12"/>
            </p:custDataLst>
          </p:nvPr>
        </p:nvSpPr>
        <p:spPr>
          <a:xfrm>
            <a:off x="9838944" y="1700784"/>
            <a:ext cx="1417320" cy="310896"/>
          </a:xfrm>
          <a:prstGeom prst="roundRect">
            <a:avLst/>
          </a:prstGeom>
          <a:solidFill>
            <a:srgbClr val="ECE4D2"/>
          </a:solidFill>
          <a:ln w="12700">
            <a:solidFill>
              <a:srgbClr val="ECE4D2"/>
            </a:solidFill>
            <a:prstDash val="solid"/>
          </a:ln>
        </p:spPr>
      </p:sp>
      <p:sp>
        <p:nvSpPr>
          <p:cNvPr id="19" name="Text 17"/>
          <p:cNvSpPr txBox="1"/>
          <p:nvPr>
            <p:custDataLst>
              <p:tags r:id="rId13"/>
            </p:custDataLst>
          </p:nvPr>
        </p:nvSpPr>
        <p:spPr>
          <a:xfrm>
            <a:off x="9893808" y="1728216"/>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单向播放 / 信息滞后</a:t>
            </a:r>
            <a:endParaRPr lang="en-US" sz="950" dirty="0"/>
          </a:p>
        </p:txBody>
      </p:sp>
      <p:sp>
        <p:nvSpPr>
          <p:cNvPr id="20" name="Text 18"/>
          <p:cNvSpPr txBox="1"/>
          <p:nvPr>
            <p:custDataLst>
              <p:tags r:id="rId14"/>
            </p:custDataLst>
          </p:nvPr>
        </p:nvSpPr>
        <p:spPr>
          <a:xfrm>
            <a:off x="6473952" y="2267712"/>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录音内容固定，无法回答追问，也无法随资料更新。</a:t>
            </a:r>
            <a:endParaRPr lang="en-US" sz="1250" dirty="0"/>
          </a:p>
        </p:txBody>
      </p:sp>
      <p:sp>
        <p:nvSpPr>
          <p:cNvPr id="21" name="Shape 19"/>
          <p:cNvSpPr/>
          <p:nvPr>
            <p:custDataLst>
              <p:tags r:id="rId15"/>
            </p:custDataLst>
          </p:nvPr>
        </p:nvSpPr>
        <p:spPr>
          <a:xfrm>
            <a:off x="658368" y="3611880"/>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2" name="Shape 20"/>
          <p:cNvSpPr/>
          <p:nvPr>
            <p:custDataLst>
              <p:tags r:id="rId16"/>
            </p:custDataLst>
          </p:nvPr>
        </p:nvSpPr>
        <p:spPr>
          <a:xfrm>
            <a:off x="886968" y="3849624"/>
            <a:ext cx="420624" cy="420624"/>
          </a:xfrm>
          <a:prstGeom prst="ellipse">
            <a:avLst/>
          </a:prstGeom>
          <a:solidFill>
            <a:srgbClr val="3A8C7A"/>
          </a:solidFill>
          <a:ln w="12700">
            <a:solidFill>
              <a:srgbClr val="3A8C7A"/>
            </a:solidFill>
            <a:prstDash val="solid"/>
          </a:ln>
        </p:spPr>
      </p:sp>
      <p:sp>
        <p:nvSpPr>
          <p:cNvPr id="23" name="Text 21"/>
          <p:cNvSpPr txBox="1"/>
          <p:nvPr>
            <p:custDataLst>
              <p:tags r:id="rId17"/>
            </p:custDataLst>
          </p:nvPr>
        </p:nvSpPr>
        <p:spPr>
          <a:xfrm>
            <a:off x="886968" y="385876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150" dirty="0"/>
          </a:p>
        </p:txBody>
      </p:sp>
      <p:sp>
        <p:nvSpPr>
          <p:cNvPr id="24" name="Text 22"/>
          <p:cNvSpPr txBox="1"/>
          <p:nvPr>
            <p:custDataLst>
              <p:tags r:id="rId18"/>
            </p:custDataLst>
          </p:nvPr>
        </p:nvSpPr>
        <p:spPr>
          <a:xfrm>
            <a:off x="1481328" y="3813048"/>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情感体验断点</a:t>
            </a:r>
            <a:endParaRPr lang="en-US" sz="1750" dirty="0"/>
          </a:p>
        </p:txBody>
      </p:sp>
      <p:sp>
        <p:nvSpPr>
          <p:cNvPr id="25" name="Shape 23"/>
          <p:cNvSpPr/>
          <p:nvPr>
            <p:custDataLst>
              <p:tags r:id="rId19"/>
            </p:custDataLst>
          </p:nvPr>
        </p:nvSpPr>
        <p:spPr>
          <a:xfrm>
            <a:off x="4251960" y="3831336"/>
            <a:ext cx="1417320" cy="310896"/>
          </a:xfrm>
          <a:prstGeom prst="roundRect">
            <a:avLst/>
          </a:prstGeom>
          <a:solidFill>
            <a:srgbClr val="ECE4D2"/>
          </a:solidFill>
          <a:ln w="12700">
            <a:solidFill>
              <a:srgbClr val="ECE4D2"/>
            </a:solidFill>
            <a:prstDash val="solid"/>
          </a:ln>
        </p:spPr>
      </p:sp>
      <p:sp>
        <p:nvSpPr>
          <p:cNvPr id="26" name="Text 24"/>
          <p:cNvSpPr txBox="1"/>
          <p:nvPr>
            <p:custDataLst>
              <p:tags r:id="rId20"/>
            </p:custDataLst>
          </p:nvPr>
        </p:nvSpPr>
        <p:spPr>
          <a:xfrm>
            <a:off x="4306824" y="3858768"/>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缺少连接 / 不够自然</a:t>
            </a:r>
            <a:endParaRPr lang="en-US" sz="950" dirty="0"/>
          </a:p>
        </p:txBody>
      </p:sp>
      <p:sp>
        <p:nvSpPr>
          <p:cNvPr id="27" name="Text 25"/>
          <p:cNvSpPr txBox="1"/>
          <p:nvPr>
            <p:custDataLst>
              <p:tags r:id="rId21"/>
            </p:custDataLst>
          </p:nvPr>
        </p:nvSpPr>
        <p:spPr>
          <a:xfrm>
            <a:off x="886968" y="4398264"/>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设备听不出情绪，也不会用语气、表情作出回应。</a:t>
            </a:r>
            <a:endParaRPr lang="en-US" sz="1250" dirty="0"/>
          </a:p>
        </p:txBody>
      </p:sp>
      <p:sp>
        <p:nvSpPr>
          <p:cNvPr id="28" name="Shape 26"/>
          <p:cNvSpPr/>
          <p:nvPr>
            <p:custDataLst>
              <p:tags r:id="rId22"/>
            </p:custDataLst>
          </p:nvPr>
        </p:nvSpPr>
        <p:spPr>
          <a:xfrm>
            <a:off x="6245352" y="3611880"/>
            <a:ext cx="5285232" cy="1764792"/>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9" name="Shape 27"/>
          <p:cNvSpPr/>
          <p:nvPr>
            <p:custDataLst>
              <p:tags r:id="rId23"/>
            </p:custDataLst>
          </p:nvPr>
        </p:nvSpPr>
        <p:spPr>
          <a:xfrm>
            <a:off x="6473952" y="3849624"/>
            <a:ext cx="420624" cy="420624"/>
          </a:xfrm>
          <a:prstGeom prst="ellipse">
            <a:avLst/>
          </a:prstGeom>
          <a:solidFill>
            <a:srgbClr val="6AB870"/>
          </a:solidFill>
          <a:ln w="12700">
            <a:solidFill>
              <a:srgbClr val="6AB870"/>
            </a:solidFill>
            <a:prstDash val="solid"/>
          </a:ln>
        </p:spPr>
      </p:sp>
      <p:sp>
        <p:nvSpPr>
          <p:cNvPr id="30" name="Text 28"/>
          <p:cNvSpPr txBox="1"/>
          <p:nvPr>
            <p:custDataLst>
              <p:tags r:id="rId24"/>
            </p:custDataLst>
          </p:nvPr>
        </p:nvSpPr>
        <p:spPr>
          <a:xfrm>
            <a:off x="6473952" y="385876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150" dirty="0"/>
          </a:p>
        </p:txBody>
      </p:sp>
      <p:sp>
        <p:nvSpPr>
          <p:cNvPr id="31" name="Text 29"/>
          <p:cNvSpPr txBox="1"/>
          <p:nvPr>
            <p:custDataLst>
              <p:tags r:id="rId25"/>
            </p:custDataLst>
          </p:nvPr>
        </p:nvSpPr>
        <p:spPr>
          <a:xfrm>
            <a:off x="7068312" y="3813048"/>
            <a:ext cx="3337560" cy="384048"/>
          </a:xfrm>
          <a:prstGeom prst="rect">
            <a:avLst/>
          </a:prstGeom>
          <a:noFill/>
        </p:spPr>
        <p:txBody>
          <a:bodyPr wrap="square" lIns="0" tIns="0" rIns="0" bIns="0" rtlCol="0" anchor="ctr">
            <a:normAutofit/>
          </a:bodyPr>
          <a:lstStyle/>
          <a:p>
            <a:pPr marL="0" indent="0" algn="l">
              <a:buNone/>
            </a:pPr>
            <a:r>
              <a:rPr lang="en-US" sz="17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运营数据断点</a:t>
            </a:r>
            <a:endParaRPr lang="en-US" sz="1750" dirty="0"/>
          </a:p>
        </p:txBody>
      </p:sp>
      <p:sp>
        <p:nvSpPr>
          <p:cNvPr id="32" name="Shape 30"/>
          <p:cNvSpPr/>
          <p:nvPr>
            <p:custDataLst>
              <p:tags r:id="rId26"/>
            </p:custDataLst>
          </p:nvPr>
        </p:nvSpPr>
        <p:spPr>
          <a:xfrm>
            <a:off x="9838944" y="3831336"/>
            <a:ext cx="1417320" cy="310896"/>
          </a:xfrm>
          <a:prstGeom prst="roundRect">
            <a:avLst/>
          </a:prstGeom>
          <a:solidFill>
            <a:srgbClr val="ECE4D2"/>
          </a:solidFill>
          <a:ln w="12700">
            <a:solidFill>
              <a:srgbClr val="ECE4D2"/>
            </a:solidFill>
            <a:prstDash val="solid"/>
          </a:ln>
        </p:spPr>
      </p:sp>
      <p:sp>
        <p:nvSpPr>
          <p:cNvPr id="33" name="Text 31"/>
          <p:cNvSpPr txBox="1"/>
          <p:nvPr>
            <p:custDataLst>
              <p:tags r:id="rId27"/>
            </p:custDataLst>
          </p:nvPr>
        </p:nvSpPr>
        <p:spPr>
          <a:xfrm>
            <a:off x="9893808" y="3858768"/>
            <a:ext cx="1307592"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看不见需求 / 难决策</a:t>
            </a:r>
            <a:endParaRPr lang="en-US" sz="950" dirty="0"/>
          </a:p>
        </p:txBody>
      </p:sp>
      <p:sp>
        <p:nvSpPr>
          <p:cNvPr id="34" name="Text 32"/>
          <p:cNvSpPr txBox="1"/>
          <p:nvPr>
            <p:custDataLst>
              <p:tags r:id="rId28"/>
            </p:custDataLst>
          </p:nvPr>
        </p:nvSpPr>
        <p:spPr>
          <a:xfrm>
            <a:off x="6473952" y="4398264"/>
            <a:ext cx="4663440" cy="621792"/>
          </a:xfrm>
          <a:prstGeom prst="rect">
            <a:avLst/>
          </a:prstGeom>
          <a:noFill/>
        </p:spPr>
        <p:txBody>
          <a:bodyPr wrap="square" lIns="0" tIns="0" rIns="0" bIns="0" rtlCol="0" anchor="t">
            <a:normAutofit/>
          </a:bodyPr>
          <a:lstStyle/>
          <a:p>
            <a:pPr marL="0" indent="0" algn="l">
              <a:buNone/>
            </a:pPr>
            <a:r>
              <a:rPr lang="en-US" sz="12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问题、评价和情绪散落，管理者难以量化改进。</a:t>
            </a:r>
            <a:endParaRPr lang="en-US" sz="1250" dirty="0"/>
          </a:p>
        </p:txBody>
      </p:sp>
      <p:sp>
        <p:nvSpPr>
          <p:cNvPr id="35" name="Shape 33"/>
          <p:cNvSpPr/>
          <p:nvPr/>
        </p:nvSpPr>
        <p:spPr>
          <a:xfrm>
            <a:off x="658368" y="5742432"/>
            <a:ext cx="10872216" cy="438912"/>
          </a:xfrm>
          <a:prstGeom prst="roundRect">
            <a:avLst/>
          </a:prstGeom>
          <a:solidFill>
            <a:srgbClr val="1A2E20"/>
          </a:solidFill>
          <a:ln w="12700">
            <a:solidFill>
              <a:srgbClr val="1A2E20"/>
            </a:solidFill>
            <a:prstDash val="solid"/>
          </a:ln>
        </p:spPr>
      </p:sp>
      <p:sp>
        <p:nvSpPr>
          <p:cNvPr id="36" name="Text 34"/>
          <p:cNvSpPr txBox="1"/>
          <p:nvPr/>
        </p:nvSpPr>
        <p:spPr>
          <a:xfrm>
            <a:off x="896112" y="5797296"/>
            <a:ext cx="10387584" cy="274320"/>
          </a:xfrm>
          <a:prstGeom prst="rect">
            <a:avLst/>
          </a:prstGeom>
          <a:noFill/>
        </p:spPr>
        <p:txBody>
          <a:bodyPr wrap="square" lIns="0" tIns="0" rIns="0" bIns="0" rtlCol="0" anchor="ctr">
            <a:normAutofit/>
          </a:bodyPr>
          <a:lstStyle/>
          <a:p>
            <a:pPr marL="0" indent="0" algn="ctr">
              <a:buNone/>
            </a:pPr>
            <a:r>
              <a:rPr lang="en-US" sz="14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目标：把 7×24 小时服务、个性化体验和游客洞察放进同一条闭环</a:t>
            </a:r>
            <a:endParaRPr lang="en-US" sz="1450" dirty="0"/>
          </a:p>
        </p:txBody>
      </p:sp>
      <p:sp>
        <p:nvSpPr>
          <p:cNvPr id="37" name="Text 3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8" name="Text 3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一个数字人，把游客体验与景区运营连成闭环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游客每一次提问、定位、识景和评价，都能成为下一轮服务优化的依据</a:t>
            </a:r>
            <a:endParaRPr lang="en-US" sz="1150" dirty="0"/>
          </a:p>
        </p:txBody>
      </p:sp>
      <p:sp>
        <p:nvSpPr>
          <p:cNvPr id="5" name="Text 3"/>
          <p:cNvSpPr txBox="1"/>
          <p:nvPr/>
        </p:nvSpPr>
        <p:spPr>
          <a:xfrm>
            <a:off x="10686981" y="393192"/>
            <a:ext cx="880179"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SOLUTION</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7" name="Shape 5"/>
          <p:cNvSpPr/>
          <p:nvPr/>
        </p:nvSpPr>
        <p:spPr>
          <a:xfrm>
            <a:off x="685800" y="1828800"/>
            <a:ext cx="1874520" cy="1481328"/>
          </a:xfrm>
          <a:prstGeom prst="roundRect">
            <a:avLst/>
          </a:prstGeom>
          <a:solidFill>
            <a:srgbClr val="233B2A"/>
          </a:solidFill>
          <a:ln w="10160">
            <a:solidFill>
              <a:srgbClr val="2E4E38"/>
            </a:solidFill>
            <a:prstDash val="solid"/>
          </a:ln>
        </p:spPr>
      </p:sp>
      <p:sp>
        <p:nvSpPr>
          <p:cNvPr id="8" name="Shape 6"/>
          <p:cNvSpPr/>
          <p:nvPr/>
        </p:nvSpPr>
        <p:spPr>
          <a:xfrm>
            <a:off x="850392" y="1993392"/>
            <a:ext cx="420624" cy="420624"/>
          </a:xfrm>
          <a:prstGeom prst="ellipse">
            <a:avLst/>
          </a:prstGeom>
          <a:solidFill>
            <a:srgbClr val="E8734A"/>
          </a:solidFill>
          <a:ln w="12700">
            <a:solidFill>
              <a:srgbClr val="E8734A"/>
            </a:solidFill>
            <a:prstDash val="solid"/>
          </a:ln>
        </p:spPr>
      </p:sp>
      <p:sp>
        <p:nvSpPr>
          <p:cNvPr id="9" name="Text 7"/>
          <p:cNvSpPr txBox="1"/>
          <p:nvPr/>
        </p:nvSpPr>
        <p:spPr>
          <a:xfrm>
            <a:off x="850392" y="200253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150" dirty="0"/>
          </a:p>
        </p:txBody>
      </p:sp>
      <p:sp>
        <p:nvSpPr>
          <p:cNvPr id="10" name="Text 8"/>
          <p:cNvSpPr txBox="1"/>
          <p:nvPr/>
        </p:nvSpPr>
        <p:spPr>
          <a:xfrm>
            <a:off x="1344168" y="1993392"/>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理解游客</a:t>
            </a:r>
            <a:endParaRPr lang="en-US" sz="1500" dirty="0"/>
          </a:p>
        </p:txBody>
      </p:sp>
      <p:sp>
        <p:nvSpPr>
          <p:cNvPr id="11" name="Text 9"/>
          <p:cNvSpPr txBox="1"/>
          <p:nvPr/>
        </p:nvSpPr>
        <p:spPr>
          <a:xfrm>
            <a:off x="868680" y="2532888"/>
            <a:ext cx="1499616" cy="566928"/>
          </a:xfrm>
          <a:prstGeom prst="rect">
            <a:avLst/>
          </a:prstGeom>
          <a:noFill/>
        </p:spPr>
        <p:txBody>
          <a:bodyPr wrap="square" lIns="0" tIns="0" rIns="0" bIns="0" rtlCol="0" anchor="t">
            <a:normAutofit/>
          </a:bodyPr>
          <a:lstStyle/>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与</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sym typeface="+mn-ea"/>
              </a:rPr>
              <a:t>语音 / 文本</a:t>
            </a: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数字人交互</a:t>
            </a:r>
            <a:endPar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图片识景</a:t>
            </a:r>
            <a:endParaRPr lang="en-US" altLang="zh-CN"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en-US" altLang="zh-CN"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GPS</a:t>
            </a: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记录当前位置</a:t>
            </a:r>
            <a:endPar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10"/>
          <p:cNvSpPr/>
          <p:nvPr/>
        </p:nvSpPr>
        <p:spPr>
          <a:xfrm>
            <a:off x="2560320" y="2569464"/>
            <a:ext cx="402336" cy="1344168"/>
          </a:xfrm>
          <a:prstGeom prst="line">
            <a:avLst/>
          </a:prstGeom>
          <a:noFill/>
          <a:ln w="22860">
            <a:solidFill>
              <a:srgbClr val="E8734A"/>
            </a:solidFill>
            <a:prstDash val="solid"/>
            <a:headEnd type="none"/>
            <a:tailEnd type="triangle"/>
          </a:ln>
        </p:spPr>
      </p:sp>
      <p:sp>
        <p:nvSpPr>
          <p:cNvPr id="13" name="Shape 11"/>
          <p:cNvSpPr/>
          <p:nvPr/>
        </p:nvSpPr>
        <p:spPr>
          <a:xfrm>
            <a:off x="2944368" y="3182112"/>
            <a:ext cx="1874520" cy="1481328"/>
          </a:xfrm>
          <a:prstGeom prst="roundRect">
            <a:avLst/>
          </a:prstGeom>
          <a:solidFill>
            <a:srgbClr val="233B2A"/>
          </a:solidFill>
          <a:ln w="10160">
            <a:solidFill>
              <a:srgbClr val="2E4E38"/>
            </a:solidFill>
            <a:prstDash val="solid"/>
          </a:ln>
        </p:spPr>
      </p:sp>
      <p:sp>
        <p:nvSpPr>
          <p:cNvPr id="14" name="Shape 12"/>
          <p:cNvSpPr/>
          <p:nvPr/>
        </p:nvSpPr>
        <p:spPr>
          <a:xfrm>
            <a:off x="3108960" y="3346704"/>
            <a:ext cx="420624" cy="420624"/>
          </a:xfrm>
          <a:prstGeom prst="ellipse">
            <a:avLst/>
          </a:prstGeom>
          <a:solidFill>
            <a:srgbClr val="5B9E8C"/>
          </a:solidFill>
          <a:ln w="12700">
            <a:solidFill>
              <a:srgbClr val="5B9E8C"/>
            </a:solidFill>
            <a:prstDash val="solid"/>
          </a:ln>
        </p:spPr>
      </p:sp>
      <p:sp>
        <p:nvSpPr>
          <p:cNvPr id="15" name="Text 13"/>
          <p:cNvSpPr txBox="1"/>
          <p:nvPr/>
        </p:nvSpPr>
        <p:spPr>
          <a:xfrm>
            <a:off x="3108960" y="335584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150" dirty="0"/>
          </a:p>
        </p:txBody>
      </p:sp>
      <p:sp>
        <p:nvSpPr>
          <p:cNvPr id="16" name="Text 14"/>
          <p:cNvSpPr txBox="1"/>
          <p:nvPr/>
        </p:nvSpPr>
        <p:spPr>
          <a:xfrm>
            <a:off x="3602736" y="3346704"/>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可靠讲解</a:t>
            </a:r>
            <a:endParaRPr lang="en-US" sz="1500" dirty="0"/>
          </a:p>
        </p:txBody>
      </p:sp>
      <p:sp>
        <p:nvSpPr>
          <p:cNvPr id="17" name="Text 15"/>
          <p:cNvSpPr txBox="1"/>
          <p:nvPr/>
        </p:nvSpPr>
        <p:spPr>
          <a:xfrm>
            <a:off x="3127248" y="3886200"/>
            <a:ext cx="1499616" cy="566928"/>
          </a:xfrm>
          <a:prstGeom prst="rect">
            <a:avLst/>
          </a:prstGeom>
          <a:noFill/>
        </p:spPr>
        <p:txBody>
          <a:bodyPr wrap="square" lIns="0" tIns="0" rIns="0" bIns="0" rtlCol="0" anchor="t">
            <a:normAutofit/>
          </a:bodyPr>
          <a:lstStyle/>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文本</a:t>
            </a:r>
            <a:r>
              <a:rPr lang="en-US" altLang="zh-CN"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 / </a:t>
            </a: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图片</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RAG 引用</a:t>
            </a:r>
            <a:endParaRPr lang="en-US" sz="1050" dirty="0"/>
          </a:p>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路线与景点知识</a:t>
            </a:r>
            <a:endParaRPr lang="en-US" sz="1050" dirty="0"/>
          </a:p>
        </p:txBody>
      </p:sp>
      <p:sp>
        <p:nvSpPr>
          <p:cNvPr id="18" name="Shape 16"/>
          <p:cNvSpPr/>
          <p:nvPr/>
        </p:nvSpPr>
        <p:spPr>
          <a:xfrm>
            <a:off x="4818888" y="2578608"/>
            <a:ext cx="402336" cy="1344168"/>
          </a:xfrm>
          <a:prstGeom prst="line">
            <a:avLst/>
          </a:prstGeom>
          <a:noFill/>
          <a:ln w="22860">
            <a:solidFill>
              <a:srgbClr val="5B9E8C"/>
            </a:solidFill>
            <a:prstDash val="solid"/>
            <a:headEnd type="none"/>
            <a:tailEnd type="triangle"/>
          </a:ln>
        </p:spPr>
      </p:sp>
      <p:sp>
        <p:nvSpPr>
          <p:cNvPr id="19" name="Shape 17"/>
          <p:cNvSpPr/>
          <p:nvPr/>
        </p:nvSpPr>
        <p:spPr>
          <a:xfrm>
            <a:off x="5202936" y="1828800"/>
            <a:ext cx="1874520" cy="1481328"/>
          </a:xfrm>
          <a:prstGeom prst="roundRect">
            <a:avLst/>
          </a:prstGeom>
          <a:solidFill>
            <a:srgbClr val="233B2A"/>
          </a:solidFill>
          <a:ln w="10160">
            <a:solidFill>
              <a:srgbClr val="2E4E38"/>
            </a:solidFill>
            <a:prstDash val="solid"/>
          </a:ln>
        </p:spPr>
      </p:sp>
      <p:sp>
        <p:nvSpPr>
          <p:cNvPr id="20" name="Shape 18"/>
          <p:cNvSpPr/>
          <p:nvPr/>
        </p:nvSpPr>
        <p:spPr>
          <a:xfrm>
            <a:off x="5367528" y="1993392"/>
            <a:ext cx="420624" cy="420624"/>
          </a:xfrm>
          <a:prstGeom prst="ellipse">
            <a:avLst/>
          </a:prstGeom>
          <a:solidFill>
            <a:srgbClr val="3A8C7A"/>
          </a:solidFill>
          <a:ln w="12700">
            <a:solidFill>
              <a:srgbClr val="3A8C7A"/>
            </a:solidFill>
            <a:prstDash val="solid"/>
          </a:ln>
        </p:spPr>
      </p:sp>
      <p:sp>
        <p:nvSpPr>
          <p:cNvPr id="21" name="Text 19"/>
          <p:cNvSpPr txBox="1"/>
          <p:nvPr/>
        </p:nvSpPr>
        <p:spPr>
          <a:xfrm>
            <a:off x="5367528" y="200253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150" dirty="0"/>
          </a:p>
        </p:txBody>
      </p:sp>
      <p:sp>
        <p:nvSpPr>
          <p:cNvPr id="22" name="Text 20"/>
          <p:cNvSpPr txBox="1"/>
          <p:nvPr/>
        </p:nvSpPr>
        <p:spPr>
          <a:xfrm>
            <a:off x="5861304" y="1993392"/>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自然表达</a:t>
            </a:r>
            <a:endParaRPr lang="en-US" sz="1500" dirty="0"/>
          </a:p>
        </p:txBody>
      </p:sp>
      <p:sp>
        <p:nvSpPr>
          <p:cNvPr id="23" name="Text 21"/>
          <p:cNvSpPr txBox="1"/>
          <p:nvPr/>
        </p:nvSpPr>
        <p:spPr>
          <a:xfrm>
            <a:off x="5385816" y="2532888"/>
            <a:ext cx="1499616" cy="566928"/>
          </a:xfrm>
          <a:prstGeom prst="rect">
            <a:avLst/>
          </a:prstGeom>
          <a:noFill/>
        </p:spPr>
        <p:txBody>
          <a:bodyPr wrap="square" lIns="0" tIns="0" rIns="0" bIns="0" rtlCol="0" anchor="t">
            <a:normAutofit/>
          </a:bodyPr>
          <a:lstStyle/>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TTS</a:t>
            </a: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转录</a:t>
            </a:r>
            <a:endPar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ctr">
              <a:buNone/>
            </a:pP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数字人</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口型 / 语气与表情</a:t>
            </a:r>
            <a:endParaRPr lang="en-US" sz="1050" dirty="0"/>
          </a:p>
        </p:txBody>
      </p:sp>
      <p:sp>
        <p:nvSpPr>
          <p:cNvPr id="24" name="Shape 22"/>
          <p:cNvSpPr/>
          <p:nvPr/>
        </p:nvSpPr>
        <p:spPr>
          <a:xfrm>
            <a:off x="7077456" y="2569464"/>
            <a:ext cx="402336" cy="1344168"/>
          </a:xfrm>
          <a:prstGeom prst="line">
            <a:avLst/>
          </a:prstGeom>
          <a:noFill/>
          <a:ln w="22860">
            <a:solidFill>
              <a:srgbClr val="3A8C7A"/>
            </a:solidFill>
            <a:prstDash val="solid"/>
            <a:headEnd type="none"/>
            <a:tailEnd type="triangle"/>
          </a:ln>
        </p:spPr>
      </p:sp>
      <p:sp>
        <p:nvSpPr>
          <p:cNvPr id="25" name="Shape 23"/>
          <p:cNvSpPr/>
          <p:nvPr/>
        </p:nvSpPr>
        <p:spPr>
          <a:xfrm>
            <a:off x="7461504" y="3182112"/>
            <a:ext cx="1874520" cy="1481328"/>
          </a:xfrm>
          <a:prstGeom prst="roundRect">
            <a:avLst/>
          </a:prstGeom>
          <a:solidFill>
            <a:srgbClr val="233B2A"/>
          </a:solidFill>
          <a:ln w="10160">
            <a:solidFill>
              <a:srgbClr val="2E4E38"/>
            </a:solidFill>
            <a:prstDash val="solid"/>
          </a:ln>
        </p:spPr>
      </p:sp>
      <p:sp>
        <p:nvSpPr>
          <p:cNvPr id="26" name="Shape 24"/>
          <p:cNvSpPr/>
          <p:nvPr/>
        </p:nvSpPr>
        <p:spPr>
          <a:xfrm>
            <a:off x="7626096" y="3346704"/>
            <a:ext cx="420624" cy="420624"/>
          </a:xfrm>
          <a:prstGeom prst="ellipse">
            <a:avLst/>
          </a:prstGeom>
          <a:solidFill>
            <a:srgbClr val="6AB870"/>
          </a:solidFill>
          <a:ln w="12700">
            <a:solidFill>
              <a:srgbClr val="6AB870"/>
            </a:solidFill>
            <a:prstDash val="solid"/>
          </a:ln>
        </p:spPr>
      </p:sp>
      <p:sp>
        <p:nvSpPr>
          <p:cNvPr id="27" name="Text 25"/>
          <p:cNvSpPr txBox="1"/>
          <p:nvPr/>
        </p:nvSpPr>
        <p:spPr>
          <a:xfrm>
            <a:off x="7626096" y="335584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1150" dirty="0"/>
          </a:p>
        </p:txBody>
      </p:sp>
      <p:sp>
        <p:nvSpPr>
          <p:cNvPr id="28" name="Text 26"/>
          <p:cNvSpPr txBox="1"/>
          <p:nvPr/>
        </p:nvSpPr>
        <p:spPr>
          <a:xfrm>
            <a:off x="8119872" y="3346704"/>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记录感受</a:t>
            </a:r>
            <a:endParaRPr lang="en-US" sz="1500" dirty="0"/>
          </a:p>
        </p:txBody>
      </p:sp>
      <p:sp>
        <p:nvSpPr>
          <p:cNvPr id="29" name="Text 27"/>
          <p:cNvSpPr txBox="1"/>
          <p:nvPr/>
        </p:nvSpPr>
        <p:spPr>
          <a:xfrm>
            <a:off x="7644384" y="3886200"/>
            <a:ext cx="1499616" cy="566928"/>
          </a:xfrm>
          <a:prstGeom prst="rect">
            <a:avLst/>
          </a:prstGeom>
          <a:noFill/>
        </p:spPr>
        <p:txBody>
          <a:bodyPr wrap="square" lIns="0" tIns="0" rIns="0" bIns="0" rtlCol="0" anchor="t">
            <a:normAutofit/>
          </a:bodyPr>
          <a:lstStyle/>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情绪</a:t>
            </a:r>
            <a:r>
              <a:rPr lang="zh-CN" altLang="en-US" sz="1050" dirty="0">
                <a:solidFill>
                  <a:srgbClr val="B8CABF"/>
                </a:solidFill>
                <a:latin typeface="微软雅黑" panose="020B0503020204020204" pitchFamily="34" charset="-122"/>
                <a:ea typeface="微软雅黑" panose="020B0503020204020204" pitchFamily="34" charset="-122"/>
                <a:cs typeface="Arial" panose="020B0604020202020204" pitchFamily="34" charset="0"/>
              </a:rPr>
              <a:t>识别</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 / 满意度</a:t>
            </a:r>
            <a:endParaRPr lang="en-US" sz="1050" dirty="0"/>
          </a:p>
        </p:txBody>
      </p:sp>
      <p:sp>
        <p:nvSpPr>
          <p:cNvPr id="30" name="Shape 28"/>
          <p:cNvSpPr/>
          <p:nvPr/>
        </p:nvSpPr>
        <p:spPr>
          <a:xfrm>
            <a:off x="9336024" y="2578608"/>
            <a:ext cx="402336" cy="1344168"/>
          </a:xfrm>
          <a:prstGeom prst="line">
            <a:avLst/>
          </a:prstGeom>
          <a:noFill/>
          <a:ln w="22860">
            <a:solidFill>
              <a:srgbClr val="6AB870"/>
            </a:solidFill>
            <a:prstDash val="solid"/>
            <a:headEnd type="none"/>
            <a:tailEnd type="triangle"/>
          </a:ln>
        </p:spPr>
      </p:sp>
      <p:sp>
        <p:nvSpPr>
          <p:cNvPr id="31" name="Shape 29"/>
          <p:cNvSpPr/>
          <p:nvPr/>
        </p:nvSpPr>
        <p:spPr>
          <a:xfrm>
            <a:off x="9720072" y="1828800"/>
            <a:ext cx="1874520" cy="1481328"/>
          </a:xfrm>
          <a:prstGeom prst="roundRect">
            <a:avLst/>
          </a:prstGeom>
          <a:solidFill>
            <a:srgbClr val="233B2A"/>
          </a:solidFill>
          <a:ln w="10160">
            <a:solidFill>
              <a:srgbClr val="2E4E38"/>
            </a:solidFill>
            <a:prstDash val="solid"/>
          </a:ln>
        </p:spPr>
      </p:sp>
      <p:sp>
        <p:nvSpPr>
          <p:cNvPr id="32" name="Shape 30"/>
          <p:cNvSpPr/>
          <p:nvPr/>
        </p:nvSpPr>
        <p:spPr>
          <a:xfrm>
            <a:off x="9884664" y="1993392"/>
            <a:ext cx="420624" cy="420624"/>
          </a:xfrm>
          <a:prstGeom prst="ellipse">
            <a:avLst/>
          </a:prstGeom>
          <a:solidFill>
            <a:srgbClr val="B78635"/>
          </a:solidFill>
          <a:ln w="12700">
            <a:solidFill>
              <a:srgbClr val="B78635"/>
            </a:solidFill>
            <a:prstDash val="solid"/>
          </a:ln>
        </p:spPr>
      </p:sp>
      <p:sp>
        <p:nvSpPr>
          <p:cNvPr id="33" name="Text 31"/>
          <p:cNvSpPr txBox="1"/>
          <p:nvPr/>
        </p:nvSpPr>
        <p:spPr>
          <a:xfrm>
            <a:off x="9884664" y="200253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5</a:t>
            </a:r>
            <a:endParaRPr lang="en-US" sz="1150" dirty="0"/>
          </a:p>
        </p:txBody>
      </p:sp>
      <p:sp>
        <p:nvSpPr>
          <p:cNvPr id="34" name="Text 32"/>
          <p:cNvSpPr txBox="1"/>
          <p:nvPr/>
        </p:nvSpPr>
        <p:spPr>
          <a:xfrm>
            <a:off x="10378440" y="1993392"/>
            <a:ext cx="1051560" cy="347472"/>
          </a:xfrm>
          <a:prstGeom prst="rect">
            <a:avLst/>
          </a:prstGeom>
          <a:noFill/>
        </p:spPr>
        <p:txBody>
          <a:bodyPr wrap="square" lIns="0" tIns="0" rIns="0" bIns="0" rtlCol="0" anchor="ctr">
            <a:normAutofit/>
          </a:bodyPr>
          <a:lstStyle/>
          <a:p>
            <a:pPr marL="0" indent="0" algn="l">
              <a:buNone/>
            </a:pPr>
            <a:r>
              <a:rPr lang="en-US" sz="15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运营优化</a:t>
            </a:r>
            <a:endParaRPr lang="en-US" sz="1500" dirty="0"/>
          </a:p>
        </p:txBody>
      </p:sp>
      <p:sp>
        <p:nvSpPr>
          <p:cNvPr id="35" name="Text 33"/>
          <p:cNvSpPr txBox="1"/>
          <p:nvPr/>
        </p:nvSpPr>
        <p:spPr>
          <a:xfrm>
            <a:off x="9902952" y="2532888"/>
            <a:ext cx="1499616" cy="566928"/>
          </a:xfrm>
          <a:prstGeom prst="rect">
            <a:avLst/>
          </a:prstGeom>
          <a:noFill/>
        </p:spPr>
        <p:txBody>
          <a:bodyPr wrap="square" lIns="0" tIns="0" rIns="0" bIns="0" rtlCol="0" anchor="t">
            <a:normAutofit/>
          </a:bodyPr>
          <a:lstStyle/>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知识</a:t>
            </a:r>
            <a:r>
              <a:rPr lang="zh-CN" alt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库</a:t>
            </a: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更新</a:t>
            </a:r>
            <a:endParaRPr lang="en-US" sz="1050" dirty="0"/>
          </a:p>
          <a:p>
            <a:pPr marL="0" indent="0" algn="ctr">
              <a:buNone/>
            </a:pPr>
            <a:r>
              <a:rPr lang="en-US" sz="1050" dirty="0">
                <a:solidFill>
                  <a:srgbClr val="B8CABF"/>
                </a:solidFill>
                <a:latin typeface="微软雅黑" panose="020B0503020204020204" pitchFamily="34" charset="-122"/>
                <a:ea typeface="微软雅黑" panose="020B0503020204020204" pitchFamily="34" charset="-122"/>
                <a:cs typeface="微软雅黑" panose="020B0503020204020204" pitchFamily="34" charset="-120"/>
              </a:rPr>
              <a:t>服务建议与看板</a:t>
            </a:r>
            <a:endParaRPr lang="en-US" sz="1050" dirty="0"/>
          </a:p>
        </p:txBody>
      </p:sp>
      <p:sp>
        <p:nvSpPr>
          <p:cNvPr id="36" name="Shape 34"/>
          <p:cNvSpPr/>
          <p:nvPr/>
        </p:nvSpPr>
        <p:spPr>
          <a:xfrm>
            <a:off x="3611880" y="5166360"/>
            <a:ext cx="4983480" cy="594360"/>
          </a:xfrm>
          <a:prstGeom prst="roundRect">
            <a:avLst/>
          </a:prstGeom>
          <a:solidFill>
            <a:srgbClr val="E8734A"/>
          </a:solidFill>
          <a:ln w="12700">
            <a:solidFill>
              <a:srgbClr val="E8734A"/>
            </a:solidFill>
            <a:prstDash val="solid"/>
          </a:ln>
        </p:spPr>
      </p:sp>
      <p:sp>
        <p:nvSpPr>
          <p:cNvPr id="37" name="Text 35"/>
          <p:cNvSpPr txBox="1"/>
          <p:nvPr/>
        </p:nvSpPr>
        <p:spPr>
          <a:xfrm>
            <a:off x="3822192" y="5312664"/>
            <a:ext cx="4572000" cy="283464"/>
          </a:xfrm>
          <a:prstGeom prst="rect">
            <a:avLst/>
          </a:prstGeom>
          <a:noFill/>
        </p:spPr>
        <p:txBody>
          <a:bodyPr wrap="square" lIns="0" tIns="0" rIns="0" bIns="0" rtlCol="0" anchor="ctr">
            <a:normAutofit/>
          </a:bodyP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游客得到更懂自己的导游   ·   景区得到可行动的数据</a:t>
            </a:r>
            <a:endParaRPr lang="en-US" sz="1400" dirty="0"/>
          </a:p>
        </p:txBody>
      </p:sp>
      <p:sp>
        <p:nvSpPr>
          <p:cNvPr id="38" name="Text 36"/>
          <p:cNvSpPr txBox="1"/>
          <p:nvPr/>
        </p:nvSpPr>
        <p:spPr>
          <a:xfrm>
            <a:off x="731520" y="5989320"/>
            <a:ext cx="2011680" cy="246888"/>
          </a:xfrm>
          <a:prstGeom prst="rect">
            <a:avLst/>
          </a:prstGeom>
          <a:noFill/>
        </p:spPr>
        <p:txBody>
          <a:bodyPr wrap="square" lIns="0" tIns="0" rIns="0" bIns="0" rtlCol="0" anchor="ctr">
            <a:normAutofit/>
          </a:bodyPr>
          <a:lstStyle/>
          <a:p>
            <a:pPr marL="0" indent="0" algn="l">
              <a:buNone/>
            </a:pPr>
            <a:r>
              <a:rPr lang="en-US" sz="105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游客交互端</a:t>
            </a:r>
            <a:endParaRPr lang="en-US" sz="1050" dirty="0"/>
          </a:p>
        </p:txBody>
      </p:sp>
      <p:sp>
        <p:nvSpPr>
          <p:cNvPr id="39" name="Text 37"/>
          <p:cNvSpPr txBox="1"/>
          <p:nvPr/>
        </p:nvSpPr>
        <p:spPr>
          <a:xfrm>
            <a:off x="9454896" y="5989320"/>
            <a:ext cx="2011680" cy="246888"/>
          </a:xfrm>
          <a:prstGeom prst="rect">
            <a:avLst/>
          </a:prstGeom>
          <a:noFill/>
        </p:spPr>
        <p:txBody>
          <a:bodyPr wrap="square" lIns="0" tIns="0" rIns="0" bIns="0" rtlCol="0" anchor="ctr">
            <a:normAutofit/>
          </a:bodyPr>
          <a:lstStyle/>
          <a:p>
            <a:pPr marL="0" indent="0" algn="r">
              <a:buNone/>
            </a:pPr>
            <a:r>
              <a:rPr lang="en-US" sz="105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管理运营端</a:t>
            </a:r>
            <a:endParaRPr lang="en-US" sz="1050" dirty="0"/>
          </a:p>
        </p:txBody>
      </p:sp>
      <p:sp>
        <p:nvSpPr>
          <p:cNvPr id="40" name="Text 3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1" name="Text 39"/>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游客</a:t>
            </a:r>
            <a:r>
              <a:rPr lang="zh-CN" altLang="en-US" sz="2700" b="1" dirty="0">
                <a:solidFill>
                  <a:srgbClr val="1A2E20"/>
                </a:solidFill>
                <a:latin typeface="微软雅黑" panose="020B0503020204020204" pitchFamily="34" charset="-122"/>
                <a:ea typeface="微软雅黑" panose="020B0503020204020204" pitchFamily="34" charset="-122"/>
                <a:cs typeface="Arial" panose="020B0604020202020204" pitchFamily="34" charset="0"/>
              </a:rPr>
              <a:t>交互</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演示</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问答、路线、识景、定位</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PRODUCT</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566928" y="1444752"/>
            <a:ext cx="6537960" cy="4233672"/>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566928" y="1455335"/>
            <a:ext cx="6537960" cy="274320"/>
          </a:xfrm>
          <a:prstGeom prst="rect">
            <a:avLst/>
          </a:prstGeom>
          <a:solidFill>
            <a:srgbClr val="ECE4D2"/>
          </a:solidFill>
          <a:ln w="12700">
            <a:solidFill>
              <a:srgbClr val="ECE4D2"/>
            </a:solidFill>
            <a:prstDash val="solid"/>
          </a:ln>
        </p:spPr>
      </p:sp>
      <p:sp>
        <p:nvSpPr>
          <p:cNvPr id="9" name="Shape 7"/>
          <p:cNvSpPr/>
          <p:nvPr/>
        </p:nvSpPr>
        <p:spPr>
          <a:xfrm>
            <a:off x="713232" y="1546775"/>
            <a:ext cx="73152" cy="73152"/>
          </a:xfrm>
          <a:prstGeom prst="ellipse">
            <a:avLst/>
          </a:prstGeom>
          <a:solidFill>
            <a:srgbClr val="E8734A"/>
          </a:solidFill>
          <a:ln w="12700">
            <a:solidFill>
              <a:srgbClr val="E8734A"/>
            </a:solidFill>
            <a:prstDash val="solid"/>
          </a:ln>
        </p:spPr>
      </p:sp>
      <p:sp>
        <p:nvSpPr>
          <p:cNvPr id="10" name="Shape 8"/>
          <p:cNvSpPr/>
          <p:nvPr/>
        </p:nvSpPr>
        <p:spPr>
          <a:xfrm>
            <a:off x="877824" y="1546775"/>
            <a:ext cx="73152" cy="73152"/>
          </a:xfrm>
          <a:prstGeom prst="ellipse">
            <a:avLst/>
          </a:prstGeom>
          <a:solidFill>
            <a:srgbClr val="B78635"/>
          </a:solidFill>
          <a:ln w="12700">
            <a:solidFill>
              <a:srgbClr val="B78635"/>
            </a:solidFill>
            <a:prstDash val="solid"/>
          </a:ln>
        </p:spPr>
      </p:sp>
      <p:sp>
        <p:nvSpPr>
          <p:cNvPr id="11" name="Shape 9"/>
          <p:cNvSpPr/>
          <p:nvPr/>
        </p:nvSpPr>
        <p:spPr>
          <a:xfrm>
            <a:off x="1042416" y="1546775"/>
            <a:ext cx="73152" cy="73152"/>
          </a:xfrm>
          <a:prstGeom prst="ellipse">
            <a:avLst/>
          </a:prstGeom>
          <a:solidFill>
            <a:srgbClr val="6AB870"/>
          </a:solidFill>
          <a:ln w="12700">
            <a:solidFill>
              <a:srgbClr val="6AB870"/>
            </a:solidFill>
            <a:prstDash val="solid"/>
          </a:ln>
        </p:spPr>
      </p:sp>
      <p:sp>
        <p:nvSpPr>
          <p:cNvPr id="12" name="Text 10"/>
          <p:cNvSpPr txBox="1"/>
          <p:nvPr/>
        </p:nvSpPr>
        <p:spPr>
          <a:xfrm>
            <a:off x="1207008" y="1519343"/>
            <a:ext cx="5760720"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游客端 · 数字人问答</a:t>
            </a:r>
            <a:endParaRPr lang="en-US" sz="750" dirty="0"/>
          </a:p>
        </p:txBody>
      </p:sp>
      <p:pic>
        <p:nvPicPr>
          <p:cNvPr id="13" name="Image 0" descr="/home/gmn/codes/cup/deliverables/manual-assets/01-visitor-home.png"/>
          <p:cNvPicPr>
            <a:picLocks noChangeAspect="1"/>
          </p:cNvPicPr>
          <p:nvPr/>
        </p:nvPicPr>
        <p:blipFill>
          <a:blip r:embed="rId1"/>
          <a:stretch>
            <a:fillRect/>
          </a:stretch>
        </p:blipFill>
        <p:spPr>
          <a:xfrm>
            <a:off x="829361" y="1810512"/>
            <a:ext cx="6013094" cy="3758184"/>
          </a:xfrm>
          <a:prstGeom prst="rect">
            <a:avLst/>
          </a:prstGeom>
        </p:spPr>
      </p:pic>
      <p:sp>
        <p:nvSpPr>
          <p:cNvPr id="14" name="Shape 11"/>
          <p:cNvSpPr/>
          <p:nvPr/>
        </p:nvSpPr>
        <p:spPr>
          <a:xfrm>
            <a:off x="7333488" y="1444752"/>
            <a:ext cx="4261104" cy="2039112"/>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15" name="Shape 12"/>
          <p:cNvSpPr/>
          <p:nvPr/>
        </p:nvSpPr>
        <p:spPr>
          <a:xfrm>
            <a:off x="7333488" y="1444752"/>
            <a:ext cx="4261104" cy="274320"/>
          </a:xfrm>
          <a:prstGeom prst="rect">
            <a:avLst/>
          </a:prstGeom>
          <a:solidFill>
            <a:srgbClr val="ECE4D2"/>
          </a:solidFill>
          <a:ln w="12700">
            <a:solidFill>
              <a:srgbClr val="ECE4D2"/>
            </a:solidFill>
            <a:prstDash val="solid"/>
          </a:ln>
        </p:spPr>
      </p:sp>
      <p:sp>
        <p:nvSpPr>
          <p:cNvPr id="16" name="Shape 13"/>
          <p:cNvSpPr/>
          <p:nvPr/>
        </p:nvSpPr>
        <p:spPr>
          <a:xfrm>
            <a:off x="7479792" y="1536192"/>
            <a:ext cx="73152" cy="73152"/>
          </a:xfrm>
          <a:prstGeom prst="ellipse">
            <a:avLst/>
          </a:prstGeom>
          <a:solidFill>
            <a:srgbClr val="E8734A"/>
          </a:solidFill>
          <a:ln w="12700">
            <a:solidFill>
              <a:srgbClr val="E8734A"/>
            </a:solidFill>
            <a:prstDash val="solid"/>
          </a:ln>
        </p:spPr>
      </p:sp>
      <p:sp>
        <p:nvSpPr>
          <p:cNvPr id="17" name="Shape 14"/>
          <p:cNvSpPr/>
          <p:nvPr/>
        </p:nvSpPr>
        <p:spPr>
          <a:xfrm>
            <a:off x="7644384" y="1536192"/>
            <a:ext cx="73152" cy="73152"/>
          </a:xfrm>
          <a:prstGeom prst="ellipse">
            <a:avLst/>
          </a:prstGeom>
          <a:solidFill>
            <a:srgbClr val="B78635"/>
          </a:solidFill>
          <a:ln w="12700">
            <a:solidFill>
              <a:srgbClr val="B78635"/>
            </a:solidFill>
            <a:prstDash val="solid"/>
          </a:ln>
        </p:spPr>
      </p:sp>
      <p:sp>
        <p:nvSpPr>
          <p:cNvPr id="18" name="Shape 15"/>
          <p:cNvSpPr/>
          <p:nvPr/>
        </p:nvSpPr>
        <p:spPr>
          <a:xfrm>
            <a:off x="7808976" y="1536192"/>
            <a:ext cx="73152" cy="73152"/>
          </a:xfrm>
          <a:prstGeom prst="ellipse">
            <a:avLst/>
          </a:prstGeom>
          <a:solidFill>
            <a:srgbClr val="6AB870"/>
          </a:solidFill>
          <a:ln w="12700">
            <a:solidFill>
              <a:srgbClr val="6AB870"/>
            </a:solidFill>
            <a:prstDash val="solid"/>
          </a:ln>
        </p:spPr>
      </p:sp>
      <p:sp>
        <p:nvSpPr>
          <p:cNvPr id="19" name="Text 16"/>
          <p:cNvSpPr txBox="1"/>
          <p:nvPr/>
        </p:nvSpPr>
        <p:spPr>
          <a:xfrm>
            <a:off x="7973568" y="1508760"/>
            <a:ext cx="3483864"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个性化路线</a:t>
            </a:r>
            <a:endParaRPr lang="en-US" sz="750" dirty="0"/>
          </a:p>
        </p:txBody>
      </p:sp>
      <p:pic>
        <p:nvPicPr>
          <p:cNvPr id="20" name="Image 1" descr="/home/gmn/codes/cup/deliverables/manual-assets/02-visitor-route.png"/>
          <p:cNvPicPr>
            <a:picLocks noChangeAspect="1"/>
          </p:cNvPicPr>
          <p:nvPr/>
        </p:nvPicPr>
        <p:blipFill>
          <a:blip r:embed="rId2"/>
          <a:stretch>
            <a:fillRect/>
          </a:stretch>
        </p:blipFill>
        <p:spPr>
          <a:xfrm>
            <a:off x="8066837" y="1719072"/>
            <a:ext cx="2823667" cy="1764792"/>
          </a:xfrm>
          <a:prstGeom prst="rect">
            <a:avLst/>
          </a:prstGeom>
        </p:spPr>
      </p:pic>
      <p:sp>
        <p:nvSpPr>
          <p:cNvPr id="21" name="Shape 17"/>
          <p:cNvSpPr/>
          <p:nvPr/>
        </p:nvSpPr>
        <p:spPr>
          <a:xfrm>
            <a:off x="7333488" y="3657600"/>
            <a:ext cx="4261104" cy="2020824"/>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22" name="Shape 18"/>
          <p:cNvSpPr/>
          <p:nvPr/>
        </p:nvSpPr>
        <p:spPr>
          <a:xfrm>
            <a:off x="7333488" y="3657600"/>
            <a:ext cx="4261104" cy="274320"/>
          </a:xfrm>
          <a:prstGeom prst="rect">
            <a:avLst/>
          </a:prstGeom>
          <a:solidFill>
            <a:srgbClr val="ECE4D2"/>
          </a:solidFill>
          <a:ln w="12700">
            <a:solidFill>
              <a:srgbClr val="ECE4D2"/>
            </a:solidFill>
            <a:prstDash val="solid"/>
          </a:ln>
        </p:spPr>
      </p:sp>
      <p:sp>
        <p:nvSpPr>
          <p:cNvPr id="23" name="Shape 19"/>
          <p:cNvSpPr/>
          <p:nvPr/>
        </p:nvSpPr>
        <p:spPr>
          <a:xfrm>
            <a:off x="7479792" y="3749040"/>
            <a:ext cx="73152" cy="73152"/>
          </a:xfrm>
          <a:prstGeom prst="ellipse">
            <a:avLst/>
          </a:prstGeom>
          <a:solidFill>
            <a:srgbClr val="E8734A"/>
          </a:solidFill>
          <a:ln w="12700">
            <a:solidFill>
              <a:srgbClr val="E8734A"/>
            </a:solidFill>
            <a:prstDash val="solid"/>
          </a:ln>
        </p:spPr>
      </p:sp>
      <p:sp>
        <p:nvSpPr>
          <p:cNvPr id="24" name="Shape 20"/>
          <p:cNvSpPr/>
          <p:nvPr/>
        </p:nvSpPr>
        <p:spPr>
          <a:xfrm>
            <a:off x="7644384" y="3749040"/>
            <a:ext cx="73152" cy="73152"/>
          </a:xfrm>
          <a:prstGeom prst="ellipse">
            <a:avLst/>
          </a:prstGeom>
          <a:solidFill>
            <a:srgbClr val="B78635"/>
          </a:solidFill>
          <a:ln w="12700">
            <a:solidFill>
              <a:srgbClr val="B78635"/>
            </a:solidFill>
            <a:prstDash val="solid"/>
          </a:ln>
        </p:spPr>
      </p:sp>
      <p:sp>
        <p:nvSpPr>
          <p:cNvPr id="25" name="Shape 21"/>
          <p:cNvSpPr/>
          <p:nvPr/>
        </p:nvSpPr>
        <p:spPr>
          <a:xfrm>
            <a:off x="7808976" y="3749040"/>
            <a:ext cx="73152" cy="73152"/>
          </a:xfrm>
          <a:prstGeom prst="ellipse">
            <a:avLst/>
          </a:prstGeom>
          <a:solidFill>
            <a:srgbClr val="6AB870"/>
          </a:solidFill>
          <a:ln w="12700">
            <a:solidFill>
              <a:srgbClr val="6AB870"/>
            </a:solidFill>
            <a:prstDash val="solid"/>
          </a:ln>
        </p:spPr>
      </p:sp>
      <p:sp>
        <p:nvSpPr>
          <p:cNvPr id="26" name="Text 22"/>
          <p:cNvSpPr txBox="1"/>
          <p:nvPr/>
        </p:nvSpPr>
        <p:spPr>
          <a:xfrm>
            <a:off x="7973568" y="3721608"/>
            <a:ext cx="3483864"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多源定位</a:t>
            </a:r>
            <a:endParaRPr lang="en-US" sz="750" dirty="0"/>
          </a:p>
        </p:txBody>
      </p:sp>
      <p:pic>
        <p:nvPicPr>
          <p:cNvPr id="27" name="Image 2" descr="/home/gmn/codes/cup/deliverables/manual-assets/03-visitor-location.png"/>
          <p:cNvPicPr>
            <a:picLocks noChangeAspect="1"/>
          </p:cNvPicPr>
          <p:nvPr/>
        </p:nvPicPr>
        <p:blipFill>
          <a:blip r:embed="rId3"/>
          <a:stretch>
            <a:fillRect/>
          </a:stretch>
        </p:blipFill>
        <p:spPr>
          <a:xfrm>
            <a:off x="8066828" y="3922771"/>
            <a:ext cx="2823633" cy="1764771"/>
          </a:xfrm>
          <a:prstGeom prst="rect">
            <a:avLst/>
          </a:prstGeom>
        </p:spPr>
      </p:pic>
      <p:sp>
        <p:nvSpPr>
          <p:cNvPr id="28" name="Shape 23"/>
          <p:cNvSpPr/>
          <p:nvPr/>
        </p:nvSpPr>
        <p:spPr>
          <a:xfrm>
            <a:off x="685800" y="5925312"/>
            <a:ext cx="2148840" cy="310896"/>
          </a:xfrm>
          <a:prstGeom prst="roundRect">
            <a:avLst/>
          </a:prstGeom>
          <a:solidFill>
            <a:srgbClr val="1A2E20"/>
          </a:solidFill>
          <a:ln w="12700">
            <a:solidFill>
              <a:srgbClr val="1A2E20"/>
            </a:solidFill>
            <a:prstDash val="solid"/>
          </a:ln>
        </p:spPr>
      </p:sp>
      <p:sp>
        <p:nvSpPr>
          <p:cNvPr id="29" name="Text 24"/>
          <p:cNvSpPr txBox="1"/>
          <p:nvPr/>
        </p:nvSpPr>
        <p:spPr>
          <a:xfrm>
            <a:off x="740664" y="5952744"/>
            <a:ext cx="20391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实时问答</a:t>
            </a:r>
            <a:endParaRPr lang="en-US" sz="950" dirty="0"/>
          </a:p>
        </p:txBody>
      </p:sp>
      <p:sp>
        <p:nvSpPr>
          <p:cNvPr id="30" name="Shape 25"/>
          <p:cNvSpPr/>
          <p:nvPr/>
        </p:nvSpPr>
        <p:spPr>
          <a:xfrm>
            <a:off x="3172968" y="5925312"/>
            <a:ext cx="2148840" cy="310896"/>
          </a:xfrm>
          <a:prstGeom prst="roundRect">
            <a:avLst/>
          </a:prstGeom>
          <a:solidFill>
            <a:srgbClr val="ECE4D2"/>
          </a:solidFill>
          <a:ln w="12700">
            <a:solidFill>
              <a:srgbClr val="ECE4D2"/>
            </a:solidFill>
            <a:prstDash val="solid"/>
          </a:ln>
        </p:spPr>
      </p:sp>
      <p:sp>
        <p:nvSpPr>
          <p:cNvPr id="31" name="Text 26"/>
          <p:cNvSpPr txBox="1"/>
          <p:nvPr/>
        </p:nvSpPr>
        <p:spPr>
          <a:xfrm>
            <a:off x="3227832" y="5952744"/>
            <a:ext cx="2039112" cy="246888"/>
          </a:xfrm>
          <a:prstGeom prst="rect">
            <a:avLst/>
          </a:prstGeom>
          <a:noFill/>
        </p:spPr>
        <p:txBody>
          <a:bodyPr wrap="square" lIns="0" tIns="0" rIns="0" bIns="0" rtlCol="0" anchor="ctr">
            <a:normAutofit/>
          </a:bodyPr>
          <a:lstStyle/>
          <a:p>
            <a:pPr marL="0" indent="0" algn="ctr">
              <a:buNone/>
            </a:pPr>
            <a:r>
              <a:rPr lang="zh-CN" alt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旅游</a:t>
            </a: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路线</a:t>
            </a:r>
            <a:endParaRPr lang="en-US" sz="950" dirty="0"/>
          </a:p>
        </p:txBody>
      </p:sp>
      <p:sp>
        <p:nvSpPr>
          <p:cNvPr id="32" name="Shape 27"/>
          <p:cNvSpPr/>
          <p:nvPr/>
        </p:nvSpPr>
        <p:spPr>
          <a:xfrm>
            <a:off x="5660136" y="5925312"/>
            <a:ext cx="2148840" cy="310896"/>
          </a:xfrm>
          <a:prstGeom prst="roundRect">
            <a:avLst/>
          </a:prstGeom>
          <a:solidFill>
            <a:srgbClr val="1A2E20"/>
          </a:solidFill>
          <a:ln w="12700">
            <a:solidFill>
              <a:srgbClr val="1A2E20"/>
            </a:solidFill>
            <a:prstDash val="solid"/>
          </a:ln>
        </p:spPr>
      </p:sp>
      <p:sp>
        <p:nvSpPr>
          <p:cNvPr id="33" name="Text 28"/>
          <p:cNvSpPr txBox="1"/>
          <p:nvPr/>
        </p:nvSpPr>
        <p:spPr>
          <a:xfrm>
            <a:off x="5715000" y="5952744"/>
            <a:ext cx="20391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摄像头识景</a:t>
            </a:r>
            <a:endParaRPr lang="en-US" sz="950" dirty="0"/>
          </a:p>
        </p:txBody>
      </p:sp>
      <p:sp>
        <p:nvSpPr>
          <p:cNvPr id="34" name="Shape 29"/>
          <p:cNvSpPr/>
          <p:nvPr/>
        </p:nvSpPr>
        <p:spPr>
          <a:xfrm>
            <a:off x="8147304" y="5925312"/>
            <a:ext cx="2615184" cy="310896"/>
          </a:xfrm>
          <a:prstGeom prst="roundRect">
            <a:avLst/>
          </a:prstGeom>
          <a:solidFill>
            <a:srgbClr val="ECE4D2"/>
          </a:solidFill>
          <a:ln w="12700">
            <a:solidFill>
              <a:srgbClr val="ECE4D2"/>
            </a:solidFill>
            <a:prstDash val="solid"/>
          </a:ln>
        </p:spPr>
      </p:sp>
      <p:sp>
        <p:nvSpPr>
          <p:cNvPr id="35" name="Text 30"/>
          <p:cNvSpPr txBox="1"/>
          <p:nvPr/>
        </p:nvSpPr>
        <p:spPr>
          <a:xfrm>
            <a:off x="8202168" y="5952744"/>
            <a:ext cx="2505456" cy="246888"/>
          </a:xfrm>
          <a:prstGeom prst="rect">
            <a:avLst/>
          </a:prstGeom>
          <a:noFill/>
        </p:spPr>
        <p:txBody>
          <a:bodyPr wrap="square" lIns="0" tIns="0" rIns="0" bIns="0" rtlCol="0" anchor="ctr">
            <a:normAutofit/>
          </a:bodyPr>
          <a:lstStyle/>
          <a:p>
            <a:pPr marL="0" indent="0" algn="ctr">
              <a:buNone/>
            </a:pPr>
            <a:r>
              <a:rPr lang="en-US" sz="9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GPS / 二维码 / Wi-Fi / 手动定位</a:t>
            </a:r>
            <a:endParaRPr lang="en-US" sz="950" dirty="0"/>
          </a:p>
        </p:txBody>
      </p:sp>
      <p:sp>
        <p:nvSpPr>
          <p:cNvPr id="36" name="Text 31"/>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7" name="Text 32"/>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多模型各司其职，不让一个大模型承担所有风险</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网关统一会话与权限；检索、生成、视觉、语音、情感和数字人按能力解耦</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SYSTEM</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151779" y="1269407"/>
            <a:ext cx="7986381" cy="5130461"/>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pic>
        <p:nvPicPr>
          <p:cNvPr id="8" name="Image 0" descr="/home/gmn/codes/cup/deliverables/diagrams/02-system-architecture.svg"/>
          <p:cNvPicPr>
            <a:picLocks noChangeAspect="1"/>
          </p:cNvPicPr>
          <p:nvPr/>
        </p:nvPicPr>
        <p:blipFill>
          <a:blip r:embed="rId1">
            <a:extLst>
              <a:ext uri="{96DAC541-7B7A-43D3-8B79-37D633B846F1}">
                <asvg:svgBlip xmlns:asvg="http://schemas.microsoft.com/office/drawing/2016/SVG/main" r:embed="rId1"/>
              </a:ext>
            </a:extLst>
          </a:blip>
          <a:stretch>
            <a:fillRect/>
          </a:stretch>
        </p:blipFill>
        <p:spPr>
          <a:xfrm>
            <a:off x="779370" y="1408218"/>
            <a:ext cx="6731184" cy="4874271"/>
          </a:xfrm>
          <a:prstGeom prst="rect">
            <a:avLst/>
          </a:prstGeom>
        </p:spPr>
      </p:pic>
      <p:sp>
        <p:nvSpPr>
          <p:cNvPr id="9" name="Shape 6"/>
          <p:cNvSpPr/>
          <p:nvPr/>
        </p:nvSpPr>
        <p:spPr>
          <a:xfrm>
            <a:off x="8366760" y="1408176"/>
            <a:ext cx="3227832" cy="950976"/>
          </a:xfrm>
          <a:prstGeom prst="roundRect">
            <a:avLst/>
          </a:prstGeom>
          <a:solidFill>
            <a:srgbClr val="1A2E20"/>
          </a:solidFill>
          <a:ln w="10160">
            <a:solidFill>
              <a:srgbClr val="2E4E38"/>
            </a:solidFill>
            <a:prstDash val="solid"/>
          </a:ln>
        </p:spPr>
      </p:sp>
      <p:sp>
        <p:nvSpPr>
          <p:cNvPr id="10" name="Shape 7"/>
          <p:cNvSpPr/>
          <p:nvPr/>
        </p:nvSpPr>
        <p:spPr>
          <a:xfrm>
            <a:off x="8366760" y="1408176"/>
            <a:ext cx="73152" cy="950976"/>
          </a:xfrm>
          <a:prstGeom prst="rect">
            <a:avLst/>
          </a:prstGeom>
          <a:solidFill>
            <a:srgbClr val="E8734A"/>
          </a:solidFill>
          <a:ln w="12700">
            <a:solidFill>
              <a:srgbClr val="E8734A"/>
            </a:solidFill>
            <a:prstDash val="solid"/>
          </a:ln>
        </p:spPr>
      </p:sp>
      <p:sp>
        <p:nvSpPr>
          <p:cNvPr id="11" name="Text 8"/>
          <p:cNvSpPr txBox="1"/>
          <p:nvPr/>
        </p:nvSpPr>
        <p:spPr>
          <a:xfrm>
            <a:off x="8613648" y="1517904"/>
            <a:ext cx="1024128" cy="256032"/>
          </a:xfrm>
          <a:prstGeom prst="rect">
            <a:avLst/>
          </a:prstGeom>
          <a:noFill/>
        </p:spPr>
        <p:txBody>
          <a:bodyPr wrap="square" lIns="0" tIns="0" rIns="0" bIns="0" rtlCol="0" anchor="ctr">
            <a:normAutofit/>
          </a:bodyPr>
          <a:lstStyle/>
          <a:p>
            <a:pPr marL="0" indent="0" algn="l">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生成路线</a:t>
            </a:r>
            <a:endParaRPr lang="en-US" sz="1250" dirty="0"/>
          </a:p>
        </p:txBody>
      </p:sp>
      <p:sp>
        <p:nvSpPr>
          <p:cNvPr id="12" name="Text 9"/>
          <p:cNvSpPr txBox="1"/>
          <p:nvPr/>
        </p:nvSpPr>
        <p:spPr>
          <a:xfrm>
            <a:off x="9674352" y="1508760"/>
            <a:ext cx="1673352" cy="676656"/>
          </a:xfrm>
          <a:prstGeom prst="rect">
            <a:avLst/>
          </a:prstGeom>
          <a:noFill/>
        </p:spPr>
        <p:txBody>
          <a:bodyPr wrap="square" lIns="0" tIns="0" rIns="0" bIns="0" rtlCol="0" anchor="t">
            <a:normAutofit/>
          </a:bodyPr>
          <a:lstStyle/>
          <a:p>
            <a:pPr marL="0" indent="0" algn="l">
              <a:buNone/>
            </a:pPr>
            <a:r>
              <a:rPr lang="en-US"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云端 GLM </a:t>
            </a:r>
            <a:r>
              <a:rPr lang="en-US" altLang="zh-CN"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API</a:t>
            </a:r>
            <a:endParaRPr lang="en-US" sz="920" dirty="0"/>
          </a:p>
          <a:p>
            <a:pPr marL="0" indent="0" algn="l">
              <a:buNone/>
            </a:pPr>
            <a:r>
              <a:rPr lang="en-US"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Qwen3-1.7B 轻量本地</a:t>
            </a:r>
            <a:endParaRPr lang="en-US" sz="920" dirty="0"/>
          </a:p>
          <a:p>
            <a:pPr marL="0" indent="0" algn="l">
              <a:buNone/>
            </a:pPr>
            <a:r>
              <a:rPr lang="en-US" sz="920" dirty="0">
                <a:solidFill>
                  <a:srgbClr val="C7D6CD"/>
                </a:solidFill>
                <a:latin typeface="微软雅黑" panose="020B0503020204020204" pitchFamily="34" charset="-122"/>
                <a:ea typeface="微软雅黑" panose="020B0503020204020204" pitchFamily="34" charset="-122"/>
                <a:cs typeface="微软雅黑" panose="020B0503020204020204" pitchFamily="34" charset="-120"/>
              </a:rPr>
              <a:t>Qwen2-7B 完整本地</a:t>
            </a:r>
            <a:endParaRPr lang="en-US" sz="920" dirty="0"/>
          </a:p>
        </p:txBody>
      </p:sp>
      <p:sp>
        <p:nvSpPr>
          <p:cNvPr id="13" name="Shape 10"/>
          <p:cNvSpPr/>
          <p:nvPr/>
        </p:nvSpPr>
        <p:spPr>
          <a:xfrm>
            <a:off x="8366760" y="2578608"/>
            <a:ext cx="3227832" cy="950976"/>
          </a:xfrm>
          <a:prstGeom prst="roundRect">
            <a:avLst/>
          </a:prstGeom>
          <a:solidFill>
            <a:srgbClr val="FFFDF8"/>
          </a:solidFill>
          <a:ln w="10160">
            <a:solidFill>
              <a:srgbClr val="E0D4B8"/>
            </a:solidFill>
            <a:prstDash val="solid"/>
          </a:ln>
        </p:spPr>
      </p:sp>
      <p:sp>
        <p:nvSpPr>
          <p:cNvPr id="14" name="Shape 11"/>
          <p:cNvSpPr/>
          <p:nvPr/>
        </p:nvSpPr>
        <p:spPr>
          <a:xfrm>
            <a:off x="8366760" y="2578608"/>
            <a:ext cx="73152" cy="950976"/>
          </a:xfrm>
          <a:prstGeom prst="rect">
            <a:avLst/>
          </a:prstGeom>
          <a:solidFill>
            <a:srgbClr val="5B9E8C"/>
          </a:solidFill>
          <a:ln w="12700">
            <a:solidFill>
              <a:srgbClr val="5B9E8C"/>
            </a:solidFill>
            <a:prstDash val="solid"/>
          </a:ln>
        </p:spPr>
      </p:sp>
      <p:sp>
        <p:nvSpPr>
          <p:cNvPr id="15" name="Text 12"/>
          <p:cNvSpPr txBox="1"/>
          <p:nvPr/>
        </p:nvSpPr>
        <p:spPr>
          <a:xfrm>
            <a:off x="8613648" y="2688336"/>
            <a:ext cx="1024128" cy="256032"/>
          </a:xfrm>
          <a:prstGeom prst="rect">
            <a:avLst/>
          </a:prstGeom>
          <a:noFill/>
        </p:spPr>
        <p:txBody>
          <a:bodyPr wrap="square" lIns="0" tIns="0" rIns="0" bIns="0" rtlCol="0" anchor="ctr">
            <a:normAutofit/>
          </a:bodyPr>
          <a:lstStyle/>
          <a:p>
            <a:pPr marL="0" indent="0" algn="l">
              <a:buNone/>
            </a:pPr>
            <a:r>
              <a:rPr lang="en-US" sz="12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感知与表达</a:t>
            </a:r>
            <a:endParaRPr lang="en-US" sz="1250" dirty="0"/>
          </a:p>
        </p:txBody>
      </p:sp>
      <p:sp>
        <p:nvSpPr>
          <p:cNvPr id="16" name="Text 13"/>
          <p:cNvSpPr txBox="1"/>
          <p:nvPr/>
        </p:nvSpPr>
        <p:spPr>
          <a:xfrm>
            <a:off x="9674352" y="2679192"/>
            <a:ext cx="1673352" cy="676656"/>
          </a:xfrm>
          <a:prstGeom prst="rect">
            <a:avLst/>
          </a:prstGeom>
          <a:noFill/>
        </p:spPr>
        <p:txBody>
          <a:bodyPr wrap="square" lIns="0" tIns="0" rIns="0" bIns="0" rtlCol="0" anchor="t">
            <a:normAutofit/>
          </a:bodyPr>
          <a:lstStyle/>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GLM-4V + SigLIP/CLIP</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ASR + TTS</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HumanOmni 七类情绪</a:t>
            </a:r>
            <a:endParaRPr lang="en-US" sz="920" dirty="0"/>
          </a:p>
        </p:txBody>
      </p:sp>
      <p:sp>
        <p:nvSpPr>
          <p:cNvPr id="17" name="Shape 14"/>
          <p:cNvSpPr/>
          <p:nvPr/>
        </p:nvSpPr>
        <p:spPr>
          <a:xfrm>
            <a:off x="8366760" y="3749040"/>
            <a:ext cx="3227832" cy="950976"/>
          </a:xfrm>
          <a:prstGeom prst="roundRect">
            <a:avLst/>
          </a:prstGeom>
          <a:solidFill>
            <a:srgbClr val="FFFDF8"/>
          </a:solidFill>
          <a:ln w="10160">
            <a:solidFill>
              <a:srgbClr val="E0D4B8"/>
            </a:solidFill>
            <a:prstDash val="solid"/>
          </a:ln>
        </p:spPr>
      </p:sp>
      <p:sp>
        <p:nvSpPr>
          <p:cNvPr id="18" name="Shape 15"/>
          <p:cNvSpPr/>
          <p:nvPr/>
        </p:nvSpPr>
        <p:spPr>
          <a:xfrm>
            <a:off x="8366760" y="3749040"/>
            <a:ext cx="73152" cy="950976"/>
          </a:xfrm>
          <a:prstGeom prst="rect">
            <a:avLst/>
          </a:prstGeom>
          <a:solidFill>
            <a:srgbClr val="3A8C7A"/>
          </a:solidFill>
          <a:ln w="12700">
            <a:solidFill>
              <a:srgbClr val="3A8C7A"/>
            </a:solidFill>
            <a:prstDash val="solid"/>
          </a:ln>
        </p:spPr>
      </p:sp>
      <p:sp>
        <p:nvSpPr>
          <p:cNvPr id="19" name="Text 16"/>
          <p:cNvSpPr txBox="1"/>
          <p:nvPr/>
        </p:nvSpPr>
        <p:spPr>
          <a:xfrm>
            <a:off x="8613648" y="3858768"/>
            <a:ext cx="1024128" cy="256032"/>
          </a:xfrm>
          <a:prstGeom prst="rect">
            <a:avLst/>
          </a:prstGeom>
          <a:noFill/>
        </p:spPr>
        <p:txBody>
          <a:bodyPr wrap="square" lIns="0" tIns="0" rIns="0" bIns="0" rtlCol="0" anchor="ctr">
            <a:normAutofit/>
          </a:bodyPr>
          <a:lstStyle/>
          <a:p>
            <a:pPr marL="0" indent="0" algn="l">
              <a:buNone/>
            </a:pPr>
            <a:r>
              <a:rPr lang="en-US" sz="12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数字人驱动</a:t>
            </a:r>
            <a:endParaRPr lang="en-US" sz="1250" dirty="0"/>
          </a:p>
        </p:txBody>
      </p:sp>
      <p:sp>
        <p:nvSpPr>
          <p:cNvPr id="20" name="Text 17"/>
          <p:cNvSpPr txBox="1"/>
          <p:nvPr/>
        </p:nvSpPr>
        <p:spPr>
          <a:xfrm>
            <a:off x="9674352" y="3849624"/>
            <a:ext cx="1673352" cy="676656"/>
          </a:xfrm>
          <a:prstGeom prst="rect">
            <a:avLst/>
          </a:prstGeom>
          <a:noFill/>
        </p:spPr>
        <p:txBody>
          <a:bodyPr wrap="square" lIns="0" tIns="0" rIns="0" bIns="0" rtlCol="0" anchor="t">
            <a:normAutofit/>
          </a:bodyPr>
          <a:lstStyle/>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LiveTalking / Wav2Lip</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Live2D 情感表情回退</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WebRTC 实时传输</a:t>
            </a:r>
            <a:endParaRPr lang="en-US" sz="920" dirty="0"/>
          </a:p>
        </p:txBody>
      </p:sp>
      <p:sp>
        <p:nvSpPr>
          <p:cNvPr id="21" name="Shape 18"/>
          <p:cNvSpPr/>
          <p:nvPr/>
        </p:nvSpPr>
        <p:spPr>
          <a:xfrm>
            <a:off x="8366760" y="4919472"/>
            <a:ext cx="3227832" cy="950976"/>
          </a:xfrm>
          <a:prstGeom prst="roundRect">
            <a:avLst/>
          </a:prstGeom>
          <a:solidFill>
            <a:srgbClr val="FFFDF8"/>
          </a:solidFill>
          <a:ln w="10160">
            <a:solidFill>
              <a:srgbClr val="E0D4B8"/>
            </a:solidFill>
            <a:prstDash val="solid"/>
          </a:ln>
        </p:spPr>
      </p:sp>
      <p:sp>
        <p:nvSpPr>
          <p:cNvPr id="22" name="Shape 19"/>
          <p:cNvSpPr/>
          <p:nvPr/>
        </p:nvSpPr>
        <p:spPr>
          <a:xfrm>
            <a:off x="8366760" y="4919472"/>
            <a:ext cx="73152" cy="950976"/>
          </a:xfrm>
          <a:prstGeom prst="rect">
            <a:avLst/>
          </a:prstGeom>
          <a:solidFill>
            <a:srgbClr val="6AB870"/>
          </a:solidFill>
          <a:ln w="12700">
            <a:solidFill>
              <a:srgbClr val="6AB870"/>
            </a:solidFill>
            <a:prstDash val="solid"/>
          </a:ln>
        </p:spPr>
      </p:sp>
      <p:sp>
        <p:nvSpPr>
          <p:cNvPr id="23" name="Text 20"/>
          <p:cNvSpPr txBox="1"/>
          <p:nvPr/>
        </p:nvSpPr>
        <p:spPr>
          <a:xfrm>
            <a:off x="8613648" y="5029200"/>
            <a:ext cx="1024128" cy="256032"/>
          </a:xfrm>
          <a:prstGeom prst="rect">
            <a:avLst/>
          </a:prstGeom>
          <a:noFill/>
        </p:spPr>
        <p:txBody>
          <a:bodyPr wrap="square" lIns="0" tIns="0" rIns="0" bIns="0" rtlCol="0" anchor="ctr">
            <a:normAutofit/>
          </a:bodyPr>
          <a:lstStyle/>
          <a:p>
            <a:pPr marL="0" indent="0" algn="l">
              <a:buNone/>
            </a:pPr>
            <a:r>
              <a:rPr lang="en-US" sz="12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数据资产</a:t>
            </a:r>
            <a:endParaRPr lang="en-US" sz="1250" dirty="0"/>
          </a:p>
        </p:txBody>
      </p:sp>
      <p:sp>
        <p:nvSpPr>
          <p:cNvPr id="24" name="Text 21"/>
          <p:cNvSpPr txBox="1"/>
          <p:nvPr/>
        </p:nvSpPr>
        <p:spPr>
          <a:xfrm>
            <a:off x="9674352" y="5020056"/>
            <a:ext cx="1673352" cy="676656"/>
          </a:xfrm>
          <a:prstGeom prst="rect">
            <a:avLst/>
          </a:prstGeom>
          <a:noFill/>
        </p:spPr>
        <p:txBody>
          <a:bodyPr wrap="square" lIns="0" tIns="0" rIns="0" bIns="0" rtlCol="0" anchor="t">
            <a:normAutofit/>
          </a:bodyPr>
          <a:lstStyle/>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BGE-M3 + FAISS</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SQLite 实时记录</a:t>
            </a:r>
            <a:endParaRPr lang="en-US" sz="920" dirty="0"/>
          </a:p>
          <a:p>
            <a:pPr marL="0" indent="0" algn="l">
              <a:buNone/>
            </a:pPr>
            <a:r>
              <a:rPr lang="en-US" sz="92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140,447 条历史访问数据</a:t>
            </a:r>
            <a:endParaRPr lang="en-US" sz="920" dirty="0"/>
          </a:p>
        </p:txBody>
      </p:sp>
      <p:sp>
        <p:nvSpPr>
          <p:cNvPr id="25" name="Shape 22"/>
          <p:cNvSpPr/>
          <p:nvPr/>
        </p:nvSpPr>
        <p:spPr>
          <a:xfrm>
            <a:off x="8439912" y="6036733"/>
            <a:ext cx="914400" cy="310896"/>
          </a:xfrm>
          <a:prstGeom prst="roundRect">
            <a:avLst/>
          </a:prstGeom>
          <a:solidFill>
            <a:srgbClr val="E8734A"/>
          </a:solidFill>
          <a:ln w="12700">
            <a:solidFill>
              <a:srgbClr val="E8734A"/>
            </a:solidFill>
            <a:prstDash val="solid"/>
          </a:ln>
        </p:spPr>
      </p:sp>
      <p:sp>
        <p:nvSpPr>
          <p:cNvPr id="26" name="Text 23"/>
          <p:cNvSpPr txBox="1"/>
          <p:nvPr/>
        </p:nvSpPr>
        <p:spPr>
          <a:xfrm>
            <a:off x="8494776" y="6064165"/>
            <a:ext cx="80467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动态选卡</a:t>
            </a:r>
            <a:endParaRPr lang="en-US" sz="950" dirty="0"/>
          </a:p>
        </p:txBody>
      </p:sp>
      <p:sp>
        <p:nvSpPr>
          <p:cNvPr id="27" name="Shape 24"/>
          <p:cNvSpPr/>
          <p:nvPr/>
        </p:nvSpPr>
        <p:spPr>
          <a:xfrm>
            <a:off x="9500616" y="6036733"/>
            <a:ext cx="914400" cy="310896"/>
          </a:xfrm>
          <a:prstGeom prst="roundRect">
            <a:avLst/>
          </a:prstGeom>
          <a:solidFill>
            <a:srgbClr val="5B9E8C"/>
          </a:solidFill>
          <a:ln w="12700">
            <a:solidFill>
              <a:srgbClr val="5B9E8C"/>
            </a:solidFill>
            <a:prstDash val="solid"/>
          </a:ln>
        </p:spPr>
      </p:sp>
      <p:sp>
        <p:nvSpPr>
          <p:cNvPr id="28" name="Text 25"/>
          <p:cNvSpPr txBox="1"/>
          <p:nvPr/>
        </p:nvSpPr>
        <p:spPr>
          <a:xfrm>
            <a:off x="9555480" y="6064165"/>
            <a:ext cx="80467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按需加载</a:t>
            </a:r>
            <a:endParaRPr lang="en-US" sz="950" dirty="0"/>
          </a:p>
        </p:txBody>
      </p:sp>
      <p:sp>
        <p:nvSpPr>
          <p:cNvPr id="29" name="Shape 26"/>
          <p:cNvSpPr/>
          <p:nvPr/>
        </p:nvSpPr>
        <p:spPr>
          <a:xfrm>
            <a:off x="10561320" y="6036733"/>
            <a:ext cx="914400" cy="310896"/>
          </a:xfrm>
          <a:prstGeom prst="roundRect">
            <a:avLst/>
          </a:prstGeom>
          <a:solidFill>
            <a:srgbClr val="6AB870"/>
          </a:solidFill>
          <a:ln w="12700">
            <a:solidFill>
              <a:srgbClr val="6AB870"/>
            </a:solidFill>
            <a:prstDash val="solid"/>
          </a:ln>
        </p:spPr>
      </p:sp>
      <p:sp>
        <p:nvSpPr>
          <p:cNvPr id="30" name="Text 27"/>
          <p:cNvSpPr txBox="1"/>
          <p:nvPr/>
        </p:nvSpPr>
        <p:spPr>
          <a:xfrm>
            <a:off x="10616184" y="6064165"/>
            <a:ext cx="80467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空闲释放</a:t>
            </a:r>
            <a:endParaRPr lang="en-US" sz="950" dirty="0"/>
          </a:p>
        </p:txBody>
      </p:sp>
      <p:sp>
        <p:nvSpPr>
          <p:cNvPr id="31" name="Text 2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2" name="Text 29"/>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回答必须有出处；不知道时须拒答</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本地景区知识库负责事实边界，生成模型负责把检索证据组织成自然讲解</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RAG</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726975" y="3849733"/>
            <a:ext cx="1920240" cy="1481328"/>
          </a:xfrm>
          <a:prstGeom prst="roundRect">
            <a:avLst/>
          </a:prstGeom>
          <a:solidFill>
            <a:srgbClr val="FFFDF8"/>
          </a:solidFill>
          <a:ln w="10160">
            <a:solidFill>
              <a:srgbClr val="E0D4B8"/>
            </a:solidFill>
            <a:prstDash val="solid"/>
          </a:ln>
        </p:spPr>
      </p:sp>
      <p:sp>
        <p:nvSpPr>
          <p:cNvPr id="8" name="Shape 6"/>
          <p:cNvSpPr/>
          <p:nvPr/>
        </p:nvSpPr>
        <p:spPr>
          <a:xfrm>
            <a:off x="726975" y="3849733"/>
            <a:ext cx="1920240" cy="73152"/>
          </a:xfrm>
          <a:prstGeom prst="rect">
            <a:avLst/>
          </a:prstGeom>
          <a:solidFill>
            <a:srgbClr val="E8734A"/>
          </a:solidFill>
          <a:ln w="12700">
            <a:solidFill>
              <a:srgbClr val="E8734A"/>
            </a:solidFill>
            <a:prstDash val="solid"/>
          </a:ln>
        </p:spPr>
      </p:sp>
      <p:sp>
        <p:nvSpPr>
          <p:cNvPr id="9" name="Text 7"/>
          <p:cNvSpPr txBox="1"/>
          <p:nvPr/>
        </p:nvSpPr>
        <p:spPr>
          <a:xfrm>
            <a:off x="864135"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权威资料</a:t>
            </a:r>
            <a:endParaRPr lang="en-US" sz="1450" dirty="0"/>
          </a:p>
        </p:txBody>
      </p:sp>
      <p:sp>
        <p:nvSpPr>
          <p:cNvPr id="10" name="Text 8"/>
          <p:cNvSpPr txBox="1"/>
          <p:nvPr/>
        </p:nvSpPr>
        <p:spPr>
          <a:xfrm>
            <a:off x="854991"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DOCX / TXT</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管理员上传</a:t>
            </a:r>
            <a:endParaRPr lang="en-US" sz="1000" dirty="0"/>
          </a:p>
        </p:txBody>
      </p:sp>
      <p:sp>
        <p:nvSpPr>
          <p:cNvPr id="11" name="Shape 9"/>
          <p:cNvSpPr/>
          <p:nvPr/>
        </p:nvSpPr>
        <p:spPr>
          <a:xfrm>
            <a:off x="2647215" y="4590397"/>
            <a:ext cx="283464" cy="0"/>
          </a:xfrm>
          <a:prstGeom prst="line">
            <a:avLst/>
          </a:prstGeom>
          <a:noFill/>
          <a:ln w="20320">
            <a:solidFill>
              <a:srgbClr val="E8734A"/>
            </a:solidFill>
            <a:prstDash val="solid"/>
            <a:headEnd type="none"/>
            <a:tailEnd type="triangle"/>
          </a:ln>
        </p:spPr>
      </p:sp>
      <p:sp>
        <p:nvSpPr>
          <p:cNvPr id="12" name="Shape 10"/>
          <p:cNvSpPr/>
          <p:nvPr/>
        </p:nvSpPr>
        <p:spPr>
          <a:xfrm>
            <a:off x="2930679" y="3849733"/>
            <a:ext cx="1920240" cy="1481328"/>
          </a:xfrm>
          <a:prstGeom prst="roundRect">
            <a:avLst/>
          </a:prstGeom>
          <a:solidFill>
            <a:srgbClr val="FFFDF8"/>
          </a:solidFill>
          <a:ln w="10160">
            <a:solidFill>
              <a:srgbClr val="E0D4B8"/>
            </a:solidFill>
            <a:prstDash val="solid"/>
          </a:ln>
        </p:spPr>
      </p:sp>
      <p:sp>
        <p:nvSpPr>
          <p:cNvPr id="13" name="Shape 11"/>
          <p:cNvSpPr/>
          <p:nvPr/>
        </p:nvSpPr>
        <p:spPr>
          <a:xfrm>
            <a:off x="2930679" y="3849733"/>
            <a:ext cx="1920240" cy="73152"/>
          </a:xfrm>
          <a:prstGeom prst="rect">
            <a:avLst/>
          </a:prstGeom>
          <a:solidFill>
            <a:srgbClr val="5B9E8C"/>
          </a:solidFill>
          <a:ln w="12700">
            <a:solidFill>
              <a:srgbClr val="5B9E8C"/>
            </a:solidFill>
            <a:prstDash val="solid"/>
          </a:ln>
        </p:spPr>
      </p:sp>
      <p:sp>
        <p:nvSpPr>
          <p:cNvPr id="14" name="Text 12"/>
          <p:cNvSpPr txBox="1"/>
          <p:nvPr/>
        </p:nvSpPr>
        <p:spPr>
          <a:xfrm>
            <a:off x="3067839"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本地索引</a:t>
            </a:r>
            <a:endParaRPr lang="en-US" sz="1450" dirty="0"/>
          </a:p>
        </p:txBody>
      </p:sp>
      <p:sp>
        <p:nvSpPr>
          <p:cNvPr id="15" name="Text 13"/>
          <p:cNvSpPr txBox="1"/>
          <p:nvPr/>
        </p:nvSpPr>
        <p:spPr>
          <a:xfrm>
            <a:off x="3058695"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BGE-M3</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FAISS 向量检索</a:t>
            </a:r>
            <a:endParaRPr lang="en-US" sz="1000" dirty="0"/>
          </a:p>
        </p:txBody>
      </p:sp>
      <p:sp>
        <p:nvSpPr>
          <p:cNvPr id="16" name="Shape 14"/>
          <p:cNvSpPr/>
          <p:nvPr/>
        </p:nvSpPr>
        <p:spPr>
          <a:xfrm>
            <a:off x="4850919" y="4590397"/>
            <a:ext cx="283464" cy="0"/>
          </a:xfrm>
          <a:prstGeom prst="line">
            <a:avLst/>
          </a:prstGeom>
          <a:noFill/>
          <a:ln w="20320">
            <a:solidFill>
              <a:srgbClr val="5B9E8C"/>
            </a:solidFill>
            <a:prstDash val="solid"/>
            <a:headEnd type="none"/>
            <a:tailEnd type="triangle"/>
          </a:ln>
        </p:spPr>
      </p:sp>
      <p:sp>
        <p:nvSpPr>
          <p:cNvPr id="17" name="Shape 15"/>
          <p:cNvSpPr/>
          <p:nvPr/>
        </p:nvSpPr>
        <p:spPr>
          <a:xfrm>
            <a:off x="5134383" y="3849733"/>
            <a:ext cx="1920240" cy="1481328"/>
          </a:xfrm>
          <a:prstGeom prst="roundRect">
            <a:avLst/>
          </a:prstGeom>
          <a:solidFill>
            <a:srgbClr val="FFFDF8"/>
          </a:solidFill>
          <a:ln w="10160">
            <a:solidFill>
              <a:srgbClr val="E0D4B8"/>
            </a:solidFill>
            <a:prstDash val="solid"/>
          </a:ln>
        </p:spPr>
      </p:sp>
      <p:sp>
        <p:nvSpPr>
          <p:cNvPr id="18" name="Shape 16"/>
          <p:cNvSpPr/>
          <p:nvPr/>
        </p:nvSpPr>
        <p:spPr>
          <a:xfrm>
            <a:off x="5134383" y="3849733"/>
            <a:ext cx="1920240" cy="73152"/>
          </a:xfrm>
          <a:prstGeom prst="rect">
            <a:avLst/>
          </a:prstGeom>
          <a:solidFill>
            <a:srgbClr val="3A8C7A"/>
          </a:solidFill>
          <a:ln w="12700">
            <a:solidFill>
              <a:srgbClr val="3A8C7A"/>
            </a:solidFill>
            <a:prstDash val="solid"/>
          </a:ln>
        </p:spPr>
      </p:sp>
      <p:sp>
        <p:nvSpPr>
          <p:cNvPr id="19" name="Text 17"/>
          <p:cNvSpPr txBox="1"/>
          <p:nvPr/>
        </p:nvSpPr>
        <p:spPr>
          <a:xfrm>
            <a:off x="5271543"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上下文约束</a:t>
            </a:r>
            <a:endParaRPr lang="en-US" sz="1450" dirty="0"/>
          </a:p>
        </p:txBody>
      </p:sp>
      <p:sp>
        <p:nvSpPr>
          <p:cNvPr id="20" name="Text 18"/>
          <p:cNvSpPr txBox="1"/>
          <p:nvPr/>
        </p:nvSpPr>
        <p:spPr>
          <a:xfrm>
            <a:off x="5262399"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景点 / 兴趣 / 历史</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引用片段与拒答</a:t>
            </a:r>
            <a:endParaRPr lang="en-US" sz="1000" dirty="0"/>
          </a:p>
        </p:txBody>
      </p:sp>
      <p:sp>
        <p:nvSpPr>
          <p:cNvPr id="21" name="Shape 19"/>
          <p:cNvSpPr/>
          <p:nvPr/>
        </p:nvSpPr>
        <p:spPr>
          <a:xfrm>
            <a:off x="7054623" y="4590397"/>
            <a:ext cx="283464" cy="0"/>
          </a:xfrm>
          <a:prstGeom prst="line">
            <a:avLst/>
          </a:prstGeom>
          <a:noFill/>
          <a:ln w="20320">
            <a:solidFill>
              <a:srgbClr val="3A8C7A"/>
            </a:solidFill>
            <a:prstDash val="solid"/>
            <a:headEnd type="none"/>
            <a:tailEnd type="triangle"/>
          </a:ln>
        </p:spPr>
      </p:sp>
      <p:sp>
        <p:nvSpPr>
          <p:cNvPr id="22" name="Shape 20"/>
          <p:cNvSpPr/>
          <p:nvPr/>
        </p:nvSpPr>
        <p:spPr>
          <a:xfrm>
            <a:off x="7338087" y="3849733"/>
            <a:ext cx="1920240" cy="1481328"/>
          </a:xfrm>
          <a:prstGeom prst="roundRect">
            <a:avLst/>
          </a:prstGeom>
          <a:solidFill>
            <a:srgbClr val="FFFDF8"/>
          </a:solidFill>
          <a:ln w="10160">
            <a:solidFill>
              <a:srgbClr val="E0D4B8"/>
            </a:solidFill>
            <a:prstDash val="solid"/>
          </a:ln>
        </p:spPr>
      </p:sp>
      <p:sp>
        <p:nvSpPr>
          <p:cNvPr id="23" name="Shape 21"/>
          <p:cNvSpPr/>
          <p:nvPr/>
        </p:nvSpPr>
        <p:spPr>
          <a:xfrm>
            <a:off x="7338087" y="3849733"/>
            <a:ext cx="1920240" cy="73152"/>
          </a:xfrm>
          <a:prstGeom prst="rect">
            <a:avLst/>
          </a:prstGeom>
          <a:solidFill>
            <a:srgbClr val="6AB870"/>
          </a:solidFill>
          <a:ln w="12700">
            <a:solidFill>
              <a:srgbClr val="6AB870"/>
            </a:solidFill>
            <a:prstDash val="solid"/>
          </a:ln>
        </p:spPr>
      </p:sp>
      <p:sp>
        <p:nvSpPr>
          <p:cNvPr id="24" name="Text 22"/>
          <p:cNvSpPr txBox="1"/>
          <p:nvPr/>
        </p:nvSpPr>
        <p:spPr>
          <a:xfrm>
            <a:off x="7475247"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三路生成</a:t>
            </a:r>
            <a:endParaRPr lang="en-US" sz="1450" dirty="0"/>
          </a:p>
        </p:txBody>
      </p:sp>
      <p:sp>
        <p:nvSpPr>
          <p:cNvPr id="25" name="Text 23"/>
          <p:cNvSpPr txBox="1"/>
          <p:nvPr/>
        </p:nvSpPr>
        <p:spPr>
          <a:xfrm>
            <a:off x="7466103"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GLM / Qwen3-1.7B</a:t>
            </a:r>
            <a:endParaRPr lang="en-US" sz="1000" dirty="0"/>
          </a:p>
          <a:p>
            <a:pPr marL="0" indent="0" algn="ctr">
              <a:buNone/>
            </a:pPr>
            <a:r>
              <a:rPr lang="en-US" sz="100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Qwen2-7B</a:t>
            </a:r>
            <a:endParaRPr lang="en-US" sz="1000" dirty="0"/>
          </a:p>
        </p:txBody>
      </p:sp>
      <p:sp>
        <p:nvSpPr>
          <p:cNvPr id="26" name="Shape 24"/>
          <p:cNvSpPr/>
          <p:nvPr/>
        </p:nvSpPr>
        <p:spPr>
          <a:xfrm>
            <a:off x="9258327" y="4590397"/>
            <a:ext cx="283464" cy="0"/>
          </a:xfrm>
          <a:prstGeom prst="line">
            <a:avLst/>
          </a:prstGeom>
          <a:noFill/>
          <a:ln w="20320">
            <a:solidFill>
              <a:srgbClr val="6AB870"/>
            </a:solidFill>
            <a:prstDash val="solid"/>
            <a:headEnd type="none"/>
            <a:tailEnd type="triangle"/>
          </a:ln>
        </p:spPr>
      </p:sp>
      <p:sp>
        <p:nvSpPr>
          <p:cNvPr id="27" name="Shape 25"/>
          <p:cNvSpPr/>
          <p:nvPr/>
        </p:nvSpPr>
        <p:spPr>
          <a:xfrm>
            <a:off x="9541791" y="3849733"/>
            <a:ext cx="1920240" cy="1481328"/>
          </a:xfrm>
          <a:prstGeom prst="roundRect">
            <a:avLst/>
          </a:prstGeom>
          <a:solidFill>
            <a:srgbClr val="1A2E20"/>
          </a:solidFill>
          <a:ln w="10160">
            <a:solidFill>
              <a:srgbClr val="2E4E38"/>
            </a:solidFill>
            <a:prstDash val="solid"/>
          </a:ln>
        </p:spPr>
      </p:sp>
      <p:sp>
        <p:nvSpPr>
          <p:cNvPr id="28" name="Shape 26"/>
          <p:cNvSpPr/>
          <p:nvPr/>
        </p:nvSpPr>
        <p:spPr>
          <a:xfrm>
            <a:off x="9541791" y="3849733"/>
            <a:ext cx="1920240" cy="73152"/>
          </a:xfrm>
          <a:prstGeom prst="rect">
            <a:avLst/>
          </a:prstGeom>
          <a:solidFill>
            <a:srgbClr val="B78635"/>
          </a:solidFill>
          <a:ln w="12700">
            <a:solidFill>
              <a:srgbClr val="B78635"/>
            </a:solidFill>
            <a:prstDash val="solid"/>
          </a:ln>
        </p:spPr>
      </p:sp>
      <p:sp>
        <p:nvSpPr>
          <p:cNvPr id="29" name="Text 27"/>
          <p:cNvSpPr txBox="1"/>
          <p:nvPr/>
        </p:nvSpPr>
        <p:spPr>
          <a:xfrm>
            <a:off x="9678951" y="4087477"/>
            <a:ext cx="1645920" cy="329184"/>
          </a:xfrm>
          <a:prstGeom prst="rect">
            <a:avLst/>
          </a:prstGeom>
          <a:noFill/>
        </p:spPr>
        <p:txBody>
          <a:bodyPr wrap="square" lIns="0" tIns="0" rIns="0" bIns="0" rtlCol="0" anchor="ctr">
            <a:normAutofit/>
          </a:bodyPr>
          <a:lstStyle/>
          <a:p>
            <a:pPr marL="0" indent="0" algn="ctr">
              <a:buNone/>
            </a:pPr>
            <a:r>
              <a:rPr lang="en-US" sz="14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可追溯回答</a:t>
            </a:r>
            <a:endParaRPr lang="en-US" sz="1450" dirty="0"/>
          </a:p>
        </p:txBody>
      </p:sp>
      <p:sp>
        <p:nvSpPr>
          <p:cNvPr id="30" name="Text 28"/>
          <p:cNvSpPr txBox="1"/>
          <p:nvPr/>
        </p:nvSpPr>
        <p:spPr>
          <a:xfrm>
            <a:off x="9669807" y="4544677"/>
            <a:ext cx="1664208" cy="530352"/>
          </a:xfrm>
          <a:prstGeom prst="rect">
            <a:avLst/>
          </a:prstGeom>
          <a:noFill/>
        </p:spPr>
        <p:txBody>
          <a:bodyPr wrap="square" lIns="0" tIns="0" rIns="0" bIns="0" rtlCol="0" anchor="t">
            <a:normAutofit/>
          </a:bodyPr>
          <a:lstStyle/>
          <a:p>
            <a:pPr marL="0" indent="0" algn="ctr">
              <a:buNone/>
            </a:pPr>
            <a:r>
              <a:rPr lang="en-US" sz="1000" dirty="0">
                <a:solidFill>
                  <a:srgbClr val="C6D3CB"/>
                </a:solidFill>
                <a:latin typeface="微软雅黑" panose="020B0503020204020204" pitchFamily="34" charset="-122"/>
                <a:ea typeface="微软雅黑" panose="020B0503020204020204" pitchFamily="34" charset="-122"/>
                <a:cs typeface="微软雅黑" panose="020B0503020204020204" pitchFamily="34" charset="-120"/>
              </a:rPr>
              <a:t>流式文本 + 引用</a:t>
            </a:r>
            <a:endParaRPr lang="en-US" sz="1000" dirty="0"/>
          </a:p>
          <a:p>
            <a:pPr marL="0" indent="0" algn="ctr">
              <a:buNone/>
            </a:pPr>
            <a:r>
              <a:rPr lang="en-US" sz="1000" dirty="0">
                <a:solidFill>
                  <a:srgbClr val="C6D3CB"/>
                </a:solidFill>
                <a:latin typeface="微软雅黑" panose="020B0503020204020204" pitchFamily="34" charset="-122"/>
                <a:ea typeface="微软雅黑" panose="020B0503020204020204" pitchFamily="34" charset="-122"/>
                <a:cs typeface="微软雅黑" panose="020B0503020204020204" pitchFamily="34" charset="-120"/>
              </a:rPr>
              <a:t>会话与响应时间</a:t>
            </a:r>
            <a:endParaRPr lang="en-US" sz="1000" dirty="0"/>
          </a:p>
        </p:txBody>
      </p:sp>
      <p:sp>
        <p:nvSpPr>
          <p:cNvPr id="31" name="Shape 29"/>
          <p:cNvSpPr/>
          <p:nvPr/>
        </p:nvSpPr>
        <p:spPr>
          <a:xfrm>
            <a:off x="3284492" y="1651091"/>
            <a:ext cx="2267712" cy="1572768"/>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32" name="Text 30"/>
          <p:cNvSpPr txBox="1"/>
          <p:nvPr/>
        </p:nvSpPr>
        <p:spPr>
          <a:xfrm>
            <a:off x="3449084" y="1779107"/>
            <a:ext cx="1938528" cy="566928"/>
          </a:xfrm>
          <a:prstGeom prst="rect">
            <a:avLst/>
          </a:prstGeom>
          <a:noFill/>
        </p:spPr>
        <p:txBody>
          <a:bodyPr wrap="square" lIns="0" tIns="0" rIns="0" bIns="0" rtlCol="0" anchor="ctr">
            <a:normAutofit/>
          </a:bodyPr>
          <a:lstStyle/>
          <a:p>
            <a:pPr marL="0" indent="0" algn="ctr">
              <a:buNone/>
            </a:pPr>
            <a:r>
              <a:rPr lang="en-US" sz="27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97</a:t>
            </a:r>
            <a:endParaRPr lang="en-US" sz="2700" dirty="0"/>
          </a:p>
        </p:txBody>
      </p:sp>
      <p:sp>
        <p:nvSpPr>
          <p:cNvPr id="33" name="Text 31"/>
          <p:cNvSpPr txBox="1"/>
          <p:nvPr/>
        </p:nvSpPr>
        <p:spPr>
          <a:xfrm>
            <a:off x="3430796" y="2364323"/>
            <a:ext cx="1975104"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当前知识片段</a:t>
            </a:r>
            <a:endParaRPr lang="en-US" sz="1150" dirty="0"/>
          </a:p>
        </p:txBody>
      </p:sp>
      <p:sp>
        <p:nvSpPr>
          <p:cNvPr id="34" name="Text 32"/>
          <p:cNvSpPr txBox="1"/>
          <p:nvPr/>
        </p:nvSpPr>
        <p:spPr>
          <a:xfrm>
            <a:off x="3430796" y="2666075"/>
            <a:ext cx="1975104" cy="457200"/>
          </a:xfrm>
          <a:prstGeom prst="rect">
            <a:avLst/>
          </a:prstGeom>
          <a:noFill/>
        </p:spPr>
        <p:txBody>
          <a:bodyPr wrap="square" lIns="0" tIns="0" rIns="0" bIns="0" rtlCol="0" anchor="t">
            <a:normAutofit/>
          </a:bodyPr>
          <a:lstStyle/>
          <a:p>
            <a:pPr marL="0" indent="0" algn="ctr">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管理端实时显示，可上传后自动重建索引</a:t>
            </a:r>
            <a:endParaRPr lang="en-US" sz="850" dirty="0"/>
          </a:p>
        </p:txBody>
      </p:sp>
      <p:sp>
        <p:nvSpPr>
          <p:cNvPr id="43" name="Shape 41"/>
          <p:cNvSpPr/>
          <p:nvPr/>
        </p:nvSpPr>
        <p:spPr>
          <a:xfrm>
            <a:off x="6547104" y="1651091"/>
            <a:ext cx="3502152" cy="1572768"/>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44" name="Text 42"/>
          <p:cNvSpPr txBox="1"/>
          <p:nvPr/>
        </p:nvSpPr>
        <p:spPr>
          <a:xfrm>
            <a:off x="6711696" y="1779107"/>
            <a:ext cx="3172968" cy="566928"/>
          </a:xfrm>
          <a:prstGeom prst="rect">
            <a:avLst/>
          </a:prstGeom>
          <a:noFill/>
        </p:spPr>
        <p:txBody>
          <a:bodyPr wrap="square" lIns="0" tIns="0" rIns="0" bIns="0" rtlCol="0" anchor="ctr">
            <a:normAutofit/>
          </a:bodyPr>
          <a:lstStyle/>
          <a:p>
            <a:pPr marL="0" indent="0" algn="ctr">
              <a:buNone/>
            </a:pPr>
            <a:r>
              <a:rPr lang="en-US" sz="270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3 路</a:t>
            </a:r>
            <a:endParaRPr lang="en-US" sz="2700" dirty="0"/>
          </a:p>
        </p:txBody>
      </p:sp>
      <p:sp>
        <p:nvSpPr>
          <p:cNvPr id="45" name="Text 43"/>
          <p:cNvSpPr txBox="1"/>
          <p:nvPr/>
        </p:nvSpPr>
        <p:spPr>
          <a:xfrm>
            <a:off x="6693408" y="2364323"/>
            <a:ext cx="3209544"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云端 + 两级本地模型</a:t>
            </a:r>
            <a:endParaRPr lang="en-US" sz="1150" dirty="0"/>
          </a:p>
        </p:txBody>
      </p:sp>
      <p:sp>
        <p:nvSpPr>
          <p:cNvPr id="46" name="Text 44"/>
          <p:cNvSpPr txBox="1"/>
          <p:nvPr/>
        </p:nvSpPr>
        <p:spPr>
          <a:xfrm>
            <a:off x="6693408" y="2666075"/>
            <a:ext cx="3209544" cy="457200"/>
          </a:xfrm>
          <a:prstGeom prst="rect">
            <a:avLst/>
          </a:prstGeom>
          <a:noFill/>
        </p:spPr>
        <p:txBody>
          <a:bodyPr wrap="square" lIns="0" tIns="0" rIns="0" bIns="0" rtlCol="0" anchor="t">
            <a:normAutofit/>
          </a:bodyPr>
          <a:lstStyle/>
          <a:p>
            <a:pPr marL="0" indent="0" algn="ctr">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7B 显存不足时可切换 1.7B；OOM 明确报错</a:t>
            </a:r>
            <a:endParaRPr lang="en-US" sz="850" dirty="0"/>
          </a:p>
        </p:txBody>
      </p:sp>
      <p:sp>
        <p:nvSpPr>
          <p:cNvPr id="50" name="Text 4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32"/>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a:t>
            </a:r>
            <a:r>
              <a:rPr lang="en-US" altLang="zh-CN" sz="900" b="1" dirty="0">
                <a:solidFill>
                  <a:srgbClr val="E8734A"/>
                </a:solidFill>
                <a:latin typeface="微软雅黑" panose="020B0503020204020204" pitchFamily="34" charset="-122"/>
                <a:ea typeface="微软雅黑" panose="020B0503020204020204" pitchFamily="34" charset="-122"/>
                <a:cs typeface="Arial" panose="020B0604020202020204" pitchFamily="34" charset="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数字人既要会说，也要听出游客的情绪</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拟真口型负责沉浸感；情绪标签负责回复语气、语速与 Live2D 表情</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EMOTION</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7" name="Shape 5"/>
          <p:cNvSpPr/>
          <p:nvPr/>
        </p:nvSpPr>
        <p:spPr>
          <a:xfrm>
            <a:off x="658368" y="1444752"/>
            <a:ext cx="3127248" cy="4526280"/>
          </a:xfrm>
          <a:prstGeom prst="roundRect">
            <a:avLst/>
          </a:prstGeom>
          <a:solidFill>
            <a:srgbClr val="233B2A"/>
          </a:solidFill>
          <a:ln w="10160">
            <a:solidFill>
              <a:srgbClr val="2E4E38"/>
            </a:solidFill>
            <a:prstDash val="solid"/>
          </a:ln>
        </p:spPr>
      </p:sp>
      <p:pic>
        <p:nvPicPr>
          <p:cNvPr id="8" name="Image 0" descr="/home/gmn/codes/cup/LiveTalking/data/avatars/lingshan_guide_v2/full_imgs/00000000.png"/>
          <p:cNvPicPr>
            <a:picLocks noChangeAspect="1"/>
          </p:cNvPicPr>
          <p:nvPr/>
        </p:nvPicPr>
        <p:blipFill>
          <a:blip r:embed="rId1"/>
          <a:stretch>
            <a:fillRect/>
          </a:stretch>
        </p:blipFill>
        <p:spPr>
          <a:xfrm>
            <a:off x="1056132" y="1655064"/>
            <a:ext cx="2331720" cy="3108960"/>
          </a:xfrm>
          <a:prstGeom prst="rect">
            <a:avLst/>
          </a:prstGeom>
        </p:spPr>
      </p:pic>
      <p:sp>
        <p:nvSpPr>
          <p:cNvPr id="9" name="Text 6"/>
          <p:cNvSpPr txBox="1"/>
          <p:nvPr/>
        </p:nvSpPr>
        <p:spPr>
          <a:xfrm>
            <a:off x="1051560" y="4864608"/>
            <a:ext cx="2340864" cy="310896"/>
          </a:xfrm>
          <a:prstGeom prst="rect">
            <a:avLst/>
          </a:prstGeom>
          <a:noFill/>
        </p:spPr>
        <p:txBody>
          <a:bodyPr wrap="square" lIns="0" tIns="0" rIns="0" bIns="0" rtlCol="0" anchor="ctr">
            <a:normAutofit/>
          </a:bodyPr>
          <a:lstStyle/>
          <a:p>
            <a:pPr marL="0" indent="0" algn="ctr">
              <a:buNone/>
            </a:pPr>
            <a:r>
              <a:rPr lang="en-US" sz="1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拟真数字人</a:t>
            </a:r>
            <a:endParaRPr lang="en-US" sz="1700" dirty="0"/>
          </a:p>
        </p:txBody>
      </p:sp>
      <p:sp>
        <p:nvSpPr>
          <p:cNvPr id="10" name="Text 7"/>
          <p:cNvSpPr txBox="1"/>
          <p:nvPr/>
        </p:nvSpPr>
        <p:spPr>
          <a:xfrm>
            <a:off x="987552" y="5285232"/>
            <a:ext cx="2487168" cy="292608"/>
          </a:xfrm>
          <a:prstGeom prst="rect">
            <a:avLst/>
          </a:prstGeom>
          <a:noFill/>
        </p:spPr>
        <p:txBody>
          <a:bodyPr wrap="square" lIns="0" tIns="0" rIns="0" bIns="0" rtlCol="0" anchor="ctr">
            <a:normAutofit/>
          </a:bodyPr>
          <a:lstStyle/>
          <a:p>
            <a:pPr marL="0" indent="0" algn="ctr">
              <a:buNone/>
            </a:pPr>
            <a:r>
              <a:rPr lang="en-US" sz="1050" dirty="0">
                <a:solidFill>
                  <a:srgbClr val="B9CABF"/>
                </a:solidFill>
                <a:latin typeface="微软雅黑" panose="020B0503020204020204" pitchFamily="34" charset="-122"/>
                <a:ea typeface="微软雅黑" panose="020B0503020204020204" pitchFamily="34" charset="-122"/>
                <a:cs typeface="微软雅黑" panose="020B0503020204020204" pitchFamily="34" charset="-120"/>
              </a:rPr>
              <a:t>Wav2Lip 口型同步 · WebRTC 实时播放</a:t>
            </a:r>
            <a:endParaRPr lang="en-US" sz="1050" dirty="0"/>
          </a:p>
        </p:txBody>
      </p:sp>
      <p:sp>
        <p:nvSpPr>
          <p:cNvPr id="11" name="Shape 8"/>
          <p:cNvSpPr/>
          <p:nvPr/>
        </p:nvSpPr>
        <p:spPr>
          <a:xfrm>
            <a:off x="4251960" y="1517904"/>
            <a:ext cx="2880360" cy="557784"/>
          </a:xfrm>
          <a:prstGeom prst="roundRect">
            <a:avLst/>
          </a:prstGeom>
          <a:solidFill>
            <a:srgbClr val="233B2A"/>
          </a:solidFill>
          <a:ln w="15240">
            <a:solidFill>
              <a:srgbClr val="E8734A"/>
            </a:solidFill>
            <a:prstDash val="solid"/>
          </a:ln>
        </p:spPr>
      </p:sp>
      <p:sp>
        <p:nvSpPr>
          <p:cNvPr id="12" name="Text 9"/>
          <p:cNvSpPr txBox="1"/>
          <p:nvPr/>
        </p:nvSpPr>
        <p:spPr>
          <a:xfrm>
            <a:off x="4443984" y="1627632"/>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游客语音 / 文本</a:t>
            </a:r>
            <a:endParaRPr lang="en-US" sz="1250" dirty="0"/>
          </a:p>
        </p:txBody>
      </p:sp>
      <p:sp>
        <p:nvSpPr>
          <p:cNvPr id="13" name="Shape 10"/>
          <p:cNvSpPr/>
          <p:nvPr/>
        </p:nvSpPr>
        <p:spPr>
          <a:xfrm>
            <a:off x="5687568" y="2075688"/>
            <a:ext cx="0" cy="274320"/>
          </a:xfrm>
          <a:prstGeom prst="line">
            <a:avLst/>
          </a:prstGeom>
          <a:noFill/>
          <a:ln w="16510">
            <a:solidFill>
              <a:srgbClr val="E8734A"/>
            </a:solidFill>
            <a:prstDash val="solid"/>
            <a:headEnd type="none"/>
            <a:tailEnd type="triangle"/>
          </a:ln>
        </p:spPr>
      </p:sp>
      <p:sp>
        <p:nvSpPr>
          <p:cNvPr id="14" name="Shape 11"/>
          <p:cNvSpPr/>
          <p:nvPr/>
        </p:nvSpPr>
        <p:spPr>
          <a:xfrm>
            <a:off x="4251960" y="2350008"/>
            <a:ext cx="2880360" cy="557784"/>
          </a:xfrm>
          <a:prstGeom prst="roundRect">
            <a:avLst/>
          </a:prstGeom>
          <a:solidFill>
            <a:srgbClr val="233B2A"/>
          </a:solidFill>
          <a:ln w="15240">
            <a:solidFill>
              <a:srgbClr val="5B9E8C"/>
            </a:solidFill>
            <a:prstDash val="solid"/>
          </a:ln>
        </p:spPr>
      </p:sp>
      <p:sp>
        <p:nvSpPr>
          <p:cNvPr id="15" name="Text 12"/>
          <p:cNvSpPr txBox="1"/>
          <p:nvPr/>
        </p:nvSpPr>
        <p:spPr>
          <a:xfrm>
            <a:off x="4443984" y="2459736"/>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ASR + 对话文本</a:t>
            </a:r>
            <a:endParaRPr lang="en-US" sz="1250" dirty="0"/>
          </a:p>
        </p:txBody>
      </p:sp>
      <p:sp>
        <p:nvSpPr>
          <p:cNvPr id="16" name="Shape 13"/>
          <p:cNvSpPr/>
          <p:nvPr/>
        </p:nvSpPr>
        <p:spPr>
          <a:xfrm>
            <a:off x="5687568" y="2907792"/>
            <a:ext cx="0" cy="274320"/>
          </a:xfrm>
          <a:prstGeom prst="line">
            <a:avLst/>
          </a:prstGeom>
          <a:noFill/>
          <a:ln w="16510">
            <a:solidFill>
              <a:srgbClr val="5B9E8C"/>
            </a:solidFill>
            <a:prstDash val="solid"/>
            <a:headEnd type="none"/>
            <a:tailEnd type="triangle"/>
          </a:ln>
        </p:spPr>
      </p:sp>
      <p:sp>
        <p:nvSpPr>
          <p:cNvPr id="17" name="Shape 14"/>
          <p:cNvSpPr/>
          <p:nvPr/>
        </p:nvSpPr>
        <p:spPr>
          <a:xfrm>
            <a:off x="4251960" y="3182112"/>
            <a:ext cx="2880360" cy="557784"/>
          </a:xfrm>
          <a:prstGeom prst="roundRect">
            <a:avLst/>
          </a:prstGeom>
          <a:solidFill>
            <a:srgbClr val="3A8C7A"/>
          </a:solidFill>
          <a:ln w="15240">
            <a:solidFill>
              <a:srgbClr val="3A8C7A"/>
            </a:solidFill>
            <a:prstDash val="solid"/>
          </a:ln>
        </p:spPr>
      </p:sp>
      <p:sp>
        <p:nvSpPr>
          <p:cNvPr id="18" name="Text 15"/>
          <p:cNvSpPr txBox="1"/>
          <p:nvPr/>
        </p:nvSpPr>
        <p:spPr>
          <a:xfrm>
            <a:off x="4443984" y="3291840"/>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七类情绪 / 倾向</a:t>
            </a:r>
            <a:endParaRPr lang="en-US" sz="1250" dirty="0"/>
          </a:p>
        </p:txBody>
      </p:sp>
      <p:sp>
        <p:nvSpPr>
          <p:cNvPr id="19" name="Shape 16"/>
          <p:cNvSpPr/>
          <p:nvPr/>
        </p:nvSpPr>
        <p:spPr>
          <a:xfrm>
            <a:off x="5687568" y="3739896"/>
            <a:ext cx="0" cy="274320"/>
          </a:xfrm>
          <a:prstGeom prst="line">
            <a:avLst/>
          </a:prstGeom>
          <a:noFill/>
          <a:ln w="16510">
            <a:solidFill>
              <a:srgbClr val="3A8C7A"/>
            </a:solidFill>
            <a:prstDash val="solid"/>
            <a:headEnd type="none"/>
            <a:tailEnd type="triangle"/>
          </a:ln>
        </p:spPr>
      </p:sp>
      <p:sp>
        <p:nvSpPr>
          <p:cNvPr id="20" name="Shape 17"/>
          <p:cNvSpPr/>
          <p:nvPr/>
        </p:nvSpPr>
        <p:spPr>
          <a:xfrm>
            <a:off x="4251960" y="4014216"/>
            <a:ext cx="2880360" cy="557784"/>
          </a:xfrm>
          <a:prstGeom prst="roundRect">
            <a:avLst/>
          </a:prstGeom>
          <a:solidFill>
            <a:srgbClr val="233B2A"/>
          </a:solidFill>
          <a:ln w="15240">
            <a:solidFill>
              <a:srgbClr val="6AB870"/>
            </a:solidFill>
            <a:prstDash val="solid"/>
          </a:ln>
        </p:spPr>
      </p:sp>
      <p:sp>
        <p:nvSpPr>
          <p:cNvPr id="21" name="Text 18"/>
          <p:cNvSpPr txBox="1"/>
          <p:nvPr/>
        </p:nvSpPr>
        <p:spPr>
          <a:xfrm>
            <a:off x="4443984" y="4123944"/>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RAG 回答 + 反应策略</a:t>
            </a:r>
            <a:endParaRPr lang="en-US" sz="1250" dirty="0"/>
          </a:p>
        </p:txBody>
      </p:sp>
      <p:sp>
        <p:nvSpPr>
          <p:cNvPr id="22" name="Shape 19"/>
          <p:cNvSpPr/>
          <p:nvPr/>
        </p:nvSpPr>
        <p:spPr>
          <a:xfrm>
            <a:off x="5687568" y="4572000"/>
            <a:ext cx="0" cy="274320"/>
          </a:xfrm>
          <a:prstGeom prst="line">
            <a:avLst/>
          </a:prstGeom>
          <a:noFill/>
          <a:ln w="16510">
            <a:solidFill>
              <a:srgbClr val="6AB870"/>
            </a:solidFill>
            <a:prstDash val="solid"/>
            <a:headEnd type="none"/>
            <a:tailEnd type="triangle"/>
          </a:ln>
        </p:spPr>
      </p:sp>
      <p:sp>
        <p:nvSpPr>
          <p:cNvPr id="23" name="Shape 20"/>
          <p:cNvSpPr/>
          <p:nvPr/>
        </p:nvSpPr>
        <p:spPr>
          <a:xfrm>
            <a:off x="4251960" y="4846320"/>
            <a:ext cx="2880360" cy="557784"/>
          </a:xfrm>
          <a:prstGeom prst="roundRect">
            <a:avLst/>
          </a:prstGeom>
          <a:solidFill>
            <a:srgbClr val="233B2A"/>
          </a:solidFill>
          <a:ln w="15240">
            <a:solidFill>
              <a:srgbClr val="B78635"/>
            </a:solidFill>
            <a:prstDash val="solid"/>
          </a:ln>
        </p:spPr>
      </p:sp>
      <p:sp>
        <p:nvSpPr>
          <p:cNvPr id="24" name="Text 21"/>
          <p:cNvSpPr txBox="1"/>
          <p:nvPr/>
        </p:nvSpPr>
        <p:spPr>
          <a:xfrm>
            <a:off x="4443984" y="4956048"/>
            <a:ext cx="2496312" cy="310896"/>
          </a:xfrm>
          <a:prstGeom prst="rect">
            <a:avLst/>
          </a:prstGeom>
          <a:noFill/>
        </p:spPr>
        <p:txBody>
          <a:bodyPr wrap="square" lIns="0" tIns="0" rIns="0" bIns="0" rtlCol="0" anchor="ctr">
            <a:normAutofit/>
          </a:bodyPr>
          <a:lstStyle/>
          <a:p>
            <a:pPr marL="0" indent="0" algn="ctr">
              <a:buNone/>
            </a:pPr>
            <a:r>
              <a:rPr lang="en-US" sz="12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TTS 语气 / 口型 / 表情</a:t>
            </a:r>
            <a:endParaRPr lang="en-US" sz="1250" dirty="0"/>
          </a:p>
        </p:txBody>
      </p:sp>
      <p:sp>
        <p:nvSpPr>
          <p:cNvPr id="25" name="Shape 22"/>
          <p:cNvSpPr/>
          <p:nvPr/>
        </p:nvSpPr>
        <p:spPr>
          <a:xfrm>
            <a:off x="7635240" y="1444752"/>
            <a:ext cx="3904488" cy="1975104"/>
          </a:xfrm>
          <a:prstGeom prst="roundRect">
            <a:avLst/>
          </a:prstGeom>
          <a:solidFill>
            <a:srgbClr val="233B2A"/>
          </a:solidFill>
          <a:ln w="10160">
            <a:solidFill>
              <a:srgbClr val="2E4E38"/>
            </a:solidFill>
            <a:prstDash val="solid"/>
          </a:ln>
        </p:spPr>
      </p:sp>
      <p:sp>
        <p:nvSpPr>
          <p:cNvPr id="26" name="Text 23"/>
          <p:cNvSpPr txBox="1"/>
          <p:nvPr/>
        </p:nvSpPr>
        <p:spPr>
          <a:xfrm>
            <a:off x="7882128" y="1682496"/>
            <a:ext cx="3401568" cy="347472"/>
          </a:xfrm>
          <a:prstGeom prst="rect">
            <a:avLst/>
          </a:prstGeom>
          <a:noFill/>
        </p:spPr>
        <p:txBody>
          <a:bodyPr wrap="square" lIns="0" tIns="0" rIns="0" bIns="0" rtlCol="0" anchor="ctr">
            <a:normAutofit/>
          </a:bodyPr>
          <a:lstStyle/>
          <a:p>
            <a:pPr marL="0" indent="0" algn="l">
              <a:buNone/>
            </a:pPr>
            <a:r>
              <a:rPr lang="en-US" sz="16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授权语音的多模态分析</a:t>
            </a:r>
            <a:endParaRPr lang="en-US" sz="1600" dirty="0"/>
          </a:p>
        </p:txBody>
      </p:sp>
      <p:sp>
        <p:nvSpPr>
          <p:cNvPr id="27" name="Text 24"/>
          <p:cNvSpPr txBox="1"/>
          <p:nvPr/>
        </p:nvSpPr>
        <p:spPr>
          <a:xfrm>
            <a:off x="7882128" y="2212848"/>
            <a:ext cx="3310128" cy="822960"/>
          </a:xfrm>
          <a:prstGeom prst="rect">
            <a:avLst/>
          </a:prstGeom>
          <a:noFill/>
        </p:spPr>
        <p:txBody>
          <a:bodyPr wrap="square" lIns="0" tIns="0" rIns="0" bIns="0" rtlCol="0" anchor="t">
            <a:normAutofit/>
          </a:bodyPr>
          <a:lstStyle/>
          <a:p>
            <a:pPr marL="171450" indent="-171450" algn="l">
              <a:buFont typeface="Arial" panose="020B0604020202020204" pitchFamily="34" charset="0"/>
              <a:buChar char="•"/>
            </a:pPr>
            <a:r>
              <a:rPr lang="en-US" sz="115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HumanOmni 微调模型</a:t>
            </a:r>
            <a:endParaRPr lang="en-US" sz="1150" dirty="0"/>
          </a:p>
          <a:p>
            <a:pPr marL="171450" indent="-171450" algn="l">
              <a:buFont typeface="Arial" panose="020B0604020202020204" pitchFamily="34" charset="0"/>
              <a:buChar char="•"/>
            </a:pPr>
            <a:r>
              <a:rPr lang="en-US" sz="115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音频原声 + ASR 文本 → 七类情绪</a:t>
            </a:r>
            <a:endParaRPr lang="en-US" sz="1150" dirty="0"/>
          </a:p>
          <a:p>
            <a:pPr marL="171450" indent="-171450" algn="l">
              <a:buFont typeface="Arial" panose="020B0604020202020204" pitchFamily="34" charset="0"/>
              <a:buChar char="•"/>
            </a:pPr>
            <a:r>
              <a:rPr lang="en-US" sz="115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原始音频默认分析后删除</a:t>
            </a:r>
            <a:endParaRPr lang="en-US" sz="1150" dirty="0"/>
          </a:p>
        </p:txBody>
      </p:sp>
      <p:sp>
        <p:nvSpPr>
          <p:cNvPr id="28" name="Shape 25"/>
          <p:cNvSpPr/>
          <p:nvPr/>
        </p:nvSpPr>
        <p:spPr>
          <a:xfrm>
            <a:off x="7635240" y="3639312"/>
            <a:ext cx="3904488" cy="2331720"/>
          </a:xfrm>
          <a:prstGeom prst="roundRect">
            <a:avLst/>
          </a:prstGeom>
          <a:solidFill>
            <a:srgbClr val="233B2A"/>
          </a:solidFill>
          <a:ln w="10160">
            <a:solidFill>
              <a:srgbClr val="2E4E38"/>
            </a:solidFill>
            <a:prstDash val="solid"/>
          </a:ln>
        </p:spPr>
      </p:sp>
      <p:sp>
        <p:nvSpPr>
          <p:cNvPr id="29" name="Text 26"/>
          <p:cNvSpPr txBox="1"/>
          <p:nvPr/>
        </p:nvSpPr>
        <p:spPr>
          <a:xfrm>
            <a:off x="7882128" y="3877056"/>
            <a:ext cx="3401568" cy="347472"/>
          </a:xfrm>
          <a:prstGeom prst="rect">
            <a:avLst/>
          </a:prstGeom>
          <a:noFill/>
        </p:spPr>
        <p:txBody>
          <a:bodyPr wrap="square" lIns="0" tIns="0" rIns="0" bIns="0" rtlCol="0" anchor="ctr">
            <a:normAutofit/>
          </a:bodyPr>
          <a:lstStyle/>
          <a:p>
            <a:pPr marL="0" indent="0" algn="l">
              <a:buNone/>
            </a:pPr>
            <a:r>
              <a:rPr lang="en-US" sz="16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情感交互</a:t>
            </a:r>
            <a:endParaRPr lang="en-US" sz="1600" dirty="0"/>
          </a:p>
        </p:txBody>
      </p:sp>
      <p:sp>
        <p:nvSpPr>
          <p:cNvPr id="30" name="Text 27"/>
          <p:cNvSpPr txBox="1"/>
          <p:nvPr/>
        </p:nvSpPr>
        <p:spPr>
          <a:xfrm>
            <a:off x="7882128" y="4462272"/>
            <a:ext cx="3401544" cy="1060704"/>
          </a:xfrm>
          <a:prstGeom prst="rect">
            <a:avLst/>
          </a:prstGeom>
          <a:noFill/>
        </p:spPr>
        <p:txBody>
          <a:bodyPr wrap="square" lIns="0" tIns="0" rIns="0" bIns="0" rtlCol="0" anchor="t">
            <a:normAutofit/>
          </a:bodyPr>
          <a:lstStyle/>
          <a:p>
            <a:pPr marL="171450" indent="-171450" algn="l">
              <a:buFont typeface="Arial" panose="020B0604020202020204" pitchFamily="34" charset="0"/>
              <a:buChar char="•"/>
            </a:pPr>
            <a:r>
              <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文本对话持续分析关注点与倾向</a:t>
            </a:r>
            <a:r>
              <a:rPr lang="zh-CN" alt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endParaRPr>
          </a:p>
          <a:p>
            <a:pPr marL="171450" indent="-171450" algn="l">
              <a:buFont typeface="Arial" panose="020B0604020202020204" pitchFamily="34" charset="0"/>
              <a:buChar char="•"/>
            </a:pPr>
            <a:r>
              <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只有游客明确授权语音时，才运行音频—文本模型。情绪结果驱动回复前缀、语速和表情模式。</a:t>
            </a:r>
            <a:endParaRPr 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endParaRPr>
          </a:p>
          <a:p>
            <a:pPr marL="171450" indent="-171450" algn="l">
              <a:buFont typeface="Arial" panose="020B0604020202020204" pitchFamily="34" charset="0"/>
              <a:buChar char="•"/>
            </a:pPr>
            <a:r>
              <a:rPr lang="zh-CN" altLang="en-US" sz="112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2"/>
              </a:rPr>
              <a:t>对于文本生成中的特殊符号（如“→”），数字人在语音生成时会进行处理，改成说“接着游览”。</a:t>
            </a:r>
            <a:endParaRPr lang="en-US" sz="1120" dirty="0"/>
          </a:p>
        </p:txBody>
      </p:sp>
      <p:sp>
        <p:nvSpPr>
          <p:cNvPr id="31" name="Text 28"/>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2" name="Text 29"/>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识景定位</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降级机制</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把低置信度当作产品状态：给候选、要确认、可纠错，再开始有依据的讲解</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PERCEPTION</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566928" y="1417320"/>
            <a:ext cx="5833872" cy="4133088"/>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566928" y="1417320"/>
            <a:ext cx="5833872" cy="274320"/>
          </a:xfrm>
          <a:prstGeom prst="rect">
            <a:avLst/>
          </a:prstGeom>
          <a:solidFill>
            <a:srgbClr val="ECE4D2"/>
          </a:solidFill>
          <a:ln w="12700">
            <a:solidFill>
              <a:srgbClr val="ECE4D2"/>
            </a:solidFill>
            <a:prstDash val="solid"/>
          </a:ln>
        </p:spPr>
      </p:sp>
      <p:sp>
        <p:nvSpPr>
          <p:cNvPr id="9" name="Shape 7"/>
          <p:cNvSpPr/>
          <p:nvPr/>
        </p:nvSpPr>
        <p:spPr>
          <a:xfrm>
            <a:off x="713232" y="1508760"/>
            <a:ext cx="73152" cy="73152"/>
          </a:xfrm>
          <a:prstGeom prst="ellipse">
            <a:avLst/>
          </a:prstGeom>
          <a:solidFill>
            <a:srgbClr val="E8734A"/>
          </a:solidFill>
          <a:ln w="12700">
            <a:solidFill>
              <a:srgbClr val="E8734A"/>
            </a:solidFill>
            <a:prstDash val="solid"/>
          </a:ln>
        </p:spPr>
      </p:sp>
      <p:sp>
        <p:nvSpPr>
          <p:cNvPr id="10" name="Shape 8"/>
          <p:cNvSpPr/>
          <p:nvPr/>
        </p:nvSpPr>
        <p:spPr>
          <a:xfrm>
            <a:off x="877824" y="1508760"/>
            <a:ext cx="73152" cy="73152"/>
          </a:xfrm>
          <a:prstGeom prst="ellipse">
            <a:avLst/>
          </a:prstGeom>
          <a:solidFill>
            <a:srgbClr val="B78635"/>
          </a:solidFill>
          <a:ln w="12700">
            <a:solidFill>
              <a:srgbClr val="B78635"/>
            </a:solidFill>
            <a:prstDash val="solid"/>
          </a:ln>
        </p:spPr>
      </p:sp>
      <p:sp>
        <p:nvSpPr>
          <p:cNvPr id="11" name="Shape 9"/>
          <p:cNvSpPr/>
          <p:nvPr/>
        </p:nvSpPr>
        <p:spPr>
          <a:xfrm>
            <a:off x="1042416" y="1508760"/>
            <a:ext cx="73152" cy="73152"/>
          </a:xfrm>
          <a:prstGeom prst="ellipse">
            <a:avLst/>
          </a:prstGeom>
          <a:solidFill>
            <a:srgbClr val="6AB870"/>
          </a:solidFill>
          <a:ln w="12700">
            <a:solidFill>
              <a:srgbClr val="6AB870"/>
            </a:solidFill>
            <a:prstDash val="solid"/>
          </a:ln>
        </p:spPr>
      </p:sp>
      <p:sp>
        <p:nvSpPr>
          <p:cNvPr id="12" name="Text 10"/>
          <p:cNvSpPr txBox="1"/>
          <p:nvPr/>
        </p:nvSpPr>
        <p:spPr>
          <a:xfrm>
            <a:off x="1207008" y="1481328"/>
            <a:ext cx="5056632"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游客端 · 多源定位</a:t>
            </a:r>
            <a:endParaRPr lang="en-US" sz="750" dirty="0"/>
          </a:p>
        </p:txBody>
      </p:sp>
      <p:pic>
        <p:nvPicPr>
          <p:cNvPr id="13" name="Image 0" descr="/home/gmn/codes/cup/deliverables/manual-assets/03-visitor-location.png"/>
          <p:cNvPicPr>
            <a:picLocks noChangeAspect="1"/>
          </p:cNvPicPr>
          <p:nvPr/>
        </p:nvPicPr>
        <p:blipFill>
          <a:blip r:embed="rId1"/>
          <a:stretch>
            <a:fillRect/>
          </a:stretch>
        </p:blipFill>
        <p:spPr>
          <a:xfrm>
            <a:off x="676656" y="1857146"/>
            <a:ext cx="5614416" cy="3508553"/>
          </a:xfrm>
          <a:prstGeom prst="rect">
            <a:avLst/>
          </a:prstGeom>
        </p:spPr>
      </p:pic>
      <p:sp>
        <p:nvSpPr>
          <p:cNvPr id="14" name="Shape 11"/>
          <p:cNvSpPr/>
          <p:nvPr/>
        </p:nvSpPr>
        <p:spPr>
          <a:xfrm>
            <a:off x="6720840" y="1435608"/>
            <a:ext cx="4837176" cy="859536"/>
          </a:xfrm>
          <a:prstGeom prst="roundRect">
            <a:avLst/>
          </a:prstGeom>
          <a:solidFill>
            <a:srgbClr val="FFFDF8"/>
          </a:solidFill>
          <a:ln w="10160">
            <a:solidFill>
              <a:srgbClr val="E0D4B8"/>
            </a:solidFill>
            <a:prstDash val="solid"/>
          </a:ln>
        </p:spPr>
      </p:sp>
      <p:sp>
        <p:nvSpPr>
          <p:cNvPr id="15" name="Shape 12"/>
          <p:cNvSpPr/>
          <p:nvPr/>
        </p:nvSpPr>
        <p:spPr>
          <a:xfrm>
            <a:off x="6931152" y="1655064"/>
            <a:ext cx="420624" cy="420624"/>
          </a:xfrm>
          <a:prstGeom prst="ellipse">
            <a:avLst/>
          </a:prstGeom>
          <a:solidFill>
            <a:srgbClr val="E8734A"/>
          </a:solidFill>
          <a:ln w="12700">
            <a:solidFill>
              <a:srgbClr val="E8734A"/>
            </a:solidFill>
            <a:prstDash val="solid"/>
          </a:ln>
        </p:spPr>
      </p:sp>
      <p:sp>
        <p:nvSpPr>
          <p:cNvPr id="16" name="Text 13"/>
          <p:cNvSpPr txBox="1"/>
          <p:nvPr/>
        </p:nvSpPr>
        <p:spPr>
          <a:xfrm>
            <a:off x="6931152" y="1664208"/>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150" dirty="0"/>
          </a:p>
        </p:txBody>
      </p:sp>
      <p:sp>
        <p:nvSpPr>
          <p:cNvPr id="17" name="Text 14"/>
          <p:cNvSpPr txBox="1"/>
          <p:nvPr/>
        </p:nvSpPr>
        <p:spPr>
          <a:xfrm>
            <a:off x="7516368" y="1600200"/>
            <a:ext cx="1325880" cy="283464"/>
          </a:xfrm>
          <a:prstGeom prst="rect">
            <a:avLst/>
          </a:prstGeom>
          <a:noFill/>
        </p:spPr>
        <p:txBody>
          <a:bodyPr wrap="square" lIns="0" tIns="0" rIns="0" bIns="0" rtlCol="0" anchor="ctr">
            <a:normAutofit/>
          </a:bodyPr>
          <a:lstStyle/>
          <a:p>
            <a:pPr marL="0" indent="0" algn="l">
              <a:buNone/>
            </a:pPr>
            <a:r>
              <a:rPr lang="en-US" sz="13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候选召回</a:t>
            </a:r>
            <a:endParaRPr lang="en-US" sz="1300" dirty="0"/>
          </a:p>
        </p:txBody>
      </p:sp>
      <p:sp>
        <p:nvSpPr>
          <p:cNvPr id="18" name="Text 15"/>
          <p:cNvSpPr txBox="1"/>
          <p:nvPr/>
        </p:nvSpPr>
        <p:spPr>
          <a:xfrm>
            <a:off x="8887968" y="1563624"/>
            <a:ext cx="2350008" cy="548640"/>
          </a:xfrm>
          <a:prstGeom prst="rect">
            <a:avLst/>
          </a:prstGeom>
          <a:noFill/>
        </p:spPr>
        <p:txBody>
          <a:bodyPr wrap="square" lIns="0" tIns="0" rIns="0" bIns="0" rtlCol="0" anchor="t">
            <a:normAutofit/>
          </a:bodyPr>
          <a:lstStyle/>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GLM-4V 提取画面线索</a:t>
            </a:r>
            <a:endParaRPr lang="en-US" sz="970" dirty="0"/>
          </a:p>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只允许返回本地景点目录</a:t>
            </a:r>
            <a:endParaRPr lang="en-US" sz="970" dirty="0"/>
          </a:p>
        </p:txBody>
      </p:sp>
      <p:sp>
        <p:nvSpPr>
          <p:cNvPr id="19" name="Shape 16"/>
          <p:cNvSpPr/>
          <p:nvPr/>
        </p:nvSpPr>
        <p:spPr>
          <a:xfrm>
            <a:off x="6720840" y="2514600"/>
            <a:ext cx="4837176" cy="859536"/>
          </a:xfrm>
          <a:prstGeom prst="roundRect">
            <a:avLst/>
          </a:prstGeom>
          <a:solidFill>
            <a:srgbClr val="FFFDF8"/>
          </a:solidFill>
          <a:ln w="10160">
            <a:solidFill>
              <a:srgbClr val="E0D4B8"/>
            </a:solidFill>
            <a:prstDash val="solid"/>
          </a:ln>
        </p:spPr>
      </p:sp>
      <p:sp>
        <p:nvSpPr>
          <p:cNvPr id="20" name="Shape 17"/>
          <p:cNvSpPr/>
          <p:nvPr/>
        </p:nvSpPr>
        <p:spPr>
          <a:xfrm>
            <a:off x="6931152" y="2734056"/>
            <a:ext cx="420624" cy="420624"/>
          </a:xfrm>
          <a:prstGeom prst="ellipse">
            <a:avLst/>
          </a:prstGeom>
          <a:solidFill>
            <a:srgbClr val="5B9E8C"/>
          </a:solidFill>
          <a:ln w="12700">
            <a:solidFill>
              <a:srgbClr val="5B9E8C"/>
            </a:solidFill>
            <a:prstDash val="solid"/>
          </a:ln>
        </p:spPr>
      </p:sp>
      <p:sp>
        <p:nvSpPr>
          <p:cNvPr id="21" name="Text 18"/>
          <p:cNvSpPr txBox="1"/>
          <p:nvPr/>
        </p:nvSpPr>
        <p:spPr>
          <a:xfrm>
            <a:off x="6931152" y="2743200"/>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150" dirty="0"/>
          </a:p>
        </p:txBody>
      </p:sp>
      <p:sp>
        <p:nvSpPr>
          <p:cNvPr id="22" name="Text 19"/>
          <p:cNvSpPr txBox="1"/>
          <p:nvPr/>
        </p:nvSpPr>
        <p:spPr>
          <a:xfrm>
            <a:off x="7516368" y="2679192"/>
            <a:ext cx="1325880" cy="283464"/>
          </a:xfrm>
          <a:prstGeom prst="rect">
            <a:avLst/>
          </a:prstGeom>
          <a:noFill/>
        </p:spPr>
        <p:txBody>
          <a:bodyPr wrap="square" lIns="0" tIns="0" rIns="0" bIns="0" rtlCol="0" anchor="ctr">
            <a:normAutofit/>
          </a:bodyPr>
          <a:lstStyle/>
          <a:p>
            <a:pPr marL="0" indent="0" algn="l">
              <a:buNone/>
            </a:pPr>
            <a:r>
              <a:rPr lang="en-US" sz="13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参考图复核</a:t>
            </a:r>
            <a:endParaRPr lang="en-US" sz="1300" dirty="0"/>
          </a:p>
        </p:txBody>
      </p:sp>
      <p:sp>
        <p:nvSpPr>
          <p:cNvPr id="23" name="Text 20"/>
          <p:cNvSpPr txBox="1"/>
          <p:nvPr/>
        </p:nvSpPr>
        <p:spPr>
          <a:xfrm>
            <a:off x="8887968" y="2642616"/>
            <a:ext cx="2350008" cy="548640"/>
          </a:xfrm>
          <a:prstGeom prst="rect">
            <a:avLst/>
          </a:prstGeom>
          <a:noFill/>
        </p:spPr>
        <p:txBody>
          <a:bodyPr wrap="square" lIns="0" tIns="0" rIns="0" bIns="0" rtlCol="0" anchor="t">
            <a:normAutofit/>
          </a:bodyPr>
          <a:lstStyle/>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SigLIP / CLIP 与授权图库比对</a:t>
            </a:r>
            <a:endParaRPr lang="en-US" sz="970" dirty="0"/>
          </a:p>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位置只作为弱先验</a:t>
            </a:r>
            <a:endParaRPr lang="en-US" sz="970" dirty="0"/>
          </a:p>
        </p:txBody>
      </p:sp>
      <p:sp>
        <p:nvSpPr>
          <p:cNvPr id="24" name="Shape 21"/>
          <p:cNvSpPr/>
          <p:nvPr/>
        </p:nvSpPr>
        <p:spPr>
          <a:xfrm>
            <a:off x="6720840" y="3593592"/>
            <a:ext cx="4837176" cy="859536"/>
          </a:xfrm>
          <a:prstGeom prst="roundRect">
            <a:avLst/>
          </a:prstGeom>
          <a:solidFill>
            <a:srgbClr val="1A2E20"/>
          </a:solidFill>
          <a:ln w="10160">
            <a:solidFill>
              <a:srgbClr val="2E4E38"/>
            </a:solidFill>
            <a:prstDash val="solid"/>
          </a:ln>
        </p:spPr>
      </p:sp>
      <p:sp>
        <p:nvSpPr>
          <p:cNvPr id="25" name="Shape 22"/>
          <p:cNvSpPr/>
          <p:nvPr/>
        </p:nvSpPr>
        <p:spPr>
          <a:xfrm>
            <a:off x="6931152" y="3813048"/>
            <a:ext cx="420624" cy="420624"/>
          </a:xfrm>
          <a:prstGeom prst="ellipse">
            <a:avLst/>
          </a:prstGeom>
          <a:solidFill>
            <a:srgbClr val="3A8C7A"/>
          </a:solidFill>
          <a:ln w="12700">
            <a:solidFill>
              <a:srgbClr val="3A8C7A"/>
            </a:solidFill>
            <a:prstDash val="solid"/>
          </a:ln>
        </p:spPr>
      </p:sp>
      <p:sp>
        <p:nvSpPr>
          <p:cNvPr id="26" name="Text 23"/>
          <p:cNvSpPr txBox="1"/>
          <p:nvPr/>
        </p:nvSpPr>
        <p:spPr>
          <a:xfrm>
            <a:off x="6931152" y="3822192"/>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150" dirty="0"/>
          </a:p>
        </p:txBody>
      </p:sp>
      <p:sp>
        <p:nvSpPr>
          <p:cNvPr id="27" name="Text 24"/>
          <p:cNvSpPr txBox="1"/>
          <p:nvPr/>
        </p:nvSpPr>
        <p:spPr>
          <a:xfrm>
            <a:off x="7516368" y="3758184"/>
            <a:ext cx="1325880" cy="283464"/>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置信度门控</a:t>
            </a:r>
            <a:endParaRPr lang="en-US" sz="1300" dirty="0"/>
          </a:p>
        </p:txBody>
      </p:sp>
      <p:sp>
        <p:nvSpPr>
          <p:cNvPr id="28" name="Text 25"/>
          <p:cNvSpPr txBox="1"/>
          <p:nvPr/>
        </p:nvSpPr>
        <p:spPr>
          <a:xfrm>
            <a:off x="8887968" y="3721608"/>
            <a:ext cx="2350008" cy="548640"/>
          </a:xfrm>
          <a:prstGeom prst="rect">
            <a:avLst/>
          </a:prstGeom>
          <a:noFill/>
        </p:spPr>
        <p:txBody>
          <a:bodyPr wrap="square" lIns="0" tIns="0" rIns="0" bIns="0" rtlCol="0" anchor="t">
            <a:normAutofit/>
          </a:bodyPr>
          <a:lstStyle/>
          <a:p>
            <a:pPr marL="0" indent="0" algn="l">
              <a:buNone/>
            </a:pPr>
            <a:r>
              <a:rPr lang="en-US" sz="97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高置信度直接提示</a:t>
            </a:r>
            <a:endParaRPr lang="en-US" sz="970" dirty="0"/>
          </a:p>
          <a:p>
            <a:pPr marL="0" indent="0" algn="l">
              <a:buNone/>
            </a:pPr>
            <a:r>
              <a:rPr lang="en-US" sz="970" dirty="0">
                <a:solidFill>
                  <a:srgbClr val="C4D2C9"/>
                </a:solidFill>
                <a:latin typeface="微软雅黑" panose="020B0503020204020204" pitchFamily="34" charset="-122"/>
                <a:ea typeface="微软雅黑" panose="020B0503020204020204" pitchFamily="34" charset="-122"/>
                <a:cs typeface="微软雅黑" panose="020B0503020204020204" pitchFamily="34" charset="-120"/>
              </a:rPr>
              <a:t>中低置信度要求游客确认</a:t>
            </a:r>
            <a:endParaRPr lang="en-US" sz="970" dirty="0"/>
          </a:p>
        </p:txBody>
      </p:sp>
      <p:sp>
        <p:nvSpPr>
          <p:cNvPr id="29" name="Shape 26"/>
          <p:cNvSpPr/>
          <p:nvPr/>
        </p:nvSpPr>
        <p:spPr>
          <a:xfrm>
            <a:off x="6720840" y="4672584"/>
            <a:ext cx="4837176" cy="859536"/>
          </a:xfrm>
          <a:prstGeom prst="roundRect">
            <a:avLst/>
          </a:prstGeom>
          <a:solidFill>
            <a:srgbClr val="FFFDF8"/>
          </a:solidFill>
          <a:ln w="10160">
            <a:solidFill>
              <a:srgbClr val="E0D4B8"/>
            </a:solidFill>
            <a:prstDash val="solid"/>
          </a:ln>
        </p:spPr>
      </p:sp>
      <p:sp>
        <p:nvSpPr>
          <p:cNvPr id="30" name="Shape 27"/>
          <p:cNvSpPr/>
          <p:nvPr/>
        </p:nvSpPr>
        <p:spPr>
          <a:xfrm>
            <a:off x="6931152" y="4892040"/>
            <a:ext cx="420624" cy="420624"/>
          </a:xfrm>
          <a:prstGeom prst="ellipse">
            <a:avLst/>
          </a:prstGeom>
          <a:solidFill>
            <a:srgbClr val="6AB870"/>
          </a:solidFill>
          <a:ln w="12700">
            <a:solidFill>
              <a:srgbClr val="6AB870"/>
            </a:solidFill>
            <a:prstDash val="solid"/>
          </a:ln>
        </p:spPr>
      </p:sp>
      <p:sp>
        <p:nvSpPr>
          <p:cNvPr id="31" name="Text 28"/>
          <p:cNvSpPr txBox="1"/>
          <p:nvPr/>
        </p:nvSpPr>
        <p:spPr>
          <a:xfrm>
            <a:off x="6931152" y="4901184"/>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4</a:t>
            </a:r>
            <a:endParaRPr lang="en-US" sz="1150" dirty="0"/>
          </a:p>
        </p:txBody>
      </p:sp>
      <p:sp>
        <p:nvSpPr>
          <p:cNvPr id="32" name="Text 29"/>
          <p:cNvSpPr txBox="1"/>
          <p:nvPr/>
        </p:nvSpPr>
        <p:spPr>
          <a:xfrm>
            <a:off x="7516368" y="4837176"/>
            <a:ext cx="1325880" cy="283464"/>
          </a:xfrm>
          <a:prstGeom prst="rect">
            <a:avLst/>
          </a:prstGeom>
          <a:noFill/>
        </p:spPr>
        <p:txBody>
          <a:bodyPr wrap="square" lIns="0" tIns="0" rIns="0" bIns="0" rtlCol="0" anchor="ctr">
            <a:normAutofit/>
          </a:bodyPr>
          <a:lstStyle/>
          <a:p>
            <a:pPr marL="0" indent="0" algn="l">
              <a:buNone/>
            </a:pPr>
            <a:r>
              <a:rPr lang="en-US" sz="13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确认后讲解</a:t>
            </a:r>
            <a:endParaRPr lang="en-US" sz="1300" dirty="0"/>
          </a:p>
        </p:txBody>
      </p:sp>
      <p:sp>
        <p:nvSpPr>
          <p:cNvPr id="33" name="Text 30"/>
          <p:cNvSpPr txBox="1"/>
          <p:nvPr/>
        </p:nvSpPr>
        <p:spPr>
          <a:xfrm>
            <a:off x="8887968" y="4800600"/>
            <a:ext cx="2350008" cy="548640"/>
          </a:xfrm>
          <a:prstGeom prst="rect">
            <a:avLst/>
          </a:prstGeom>
          <a:noFill/>
        </p:spPr>
        <p:txBody>
          <a:bodyPr wrap="square" lIns="0" tIns="0" rIns="0" bIns="0" rtlCol="0" anchor="t">
            <a:normAutofit/>
          </a:bodyPr>
          <a:lstStyle/>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纠错写入评测记录</a:t>
            </a:r>
            <a:endParaRPr lang="en-US" sz="970" dirty="0"/>
          </a:p>
          <a:p>
            <a:pPr marL="0" indent="0" algn="l">
              <a:buNone/>
            </a:pPr>
            <a:r>
              <a:rPr lang="en-US" sz="97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RAG 对确认景点提供引用</a:t>
            </a:r>
            <a:endParaRPr lang="en-US" sz="970" dirty="0"/>
          </a:p>
        </p:txBody>
      </p:sp>
      <p:sp>
        <p:nvSpPr>
          <p:cNvPr id="34" name="Text 31"/>
          <p:cNvSpPr txBox="1"/>
          <p:nvPr/>
        </p:nvSpPr>
        <p:spPr>
          <a:xfrm>
            <a:off x="6594348" y="5806440"/>
            <a:ext cx="1170432" cy="256032"/>
          </a:xfrm>
          <a:prstGeom prst="rect">
            <a:avLst/>
          </a:prstGeom>
          <a:noFill/>
        </p:spPr>
        <p:txBody>
          <a:bodyPr wrap="square" lIns="0" tIns="0" rIns="0" bIns="0" rtlCol="0" anchor="ctr">
            <a:normAutofit/>
          </a:bodyPr>
          <a:lstStyle/>
          <a:p>
            <a:pPr marL="0" indent="0" algn="l">
              <a:buNone/>
            </a:pPr>
            <a:r>
              <a:rPr lang="en-US" sz="105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定位降级顺序</a:t>
            </a:r>
            <a:endParaRPr lang="en-US" sz="1050" dirty="0"/>
          </a:p>
        </p:txBody>
      </p:sp>
      <p:sp>
        <p:nvSpPr>
          <p:cNvPr id="35" name="Text 32"/>
          <p:cNvSpPr txBox="1"/>
          <p:nvPr/>
        </p:nvSpPr>
        <p:spPr>
          <a:xfrm>
            <a:off x="7589877" y="5751576"/>
            <a:ext cx="4123968" cy="347472"/>
          </a:xfrm>
          <a:prstGeom prst="rect">
            <a:avLst/>
          </a:prstGeom>
          <a:noFill/>
        </p:spPr>
        <p:txBody>
          <a:bodyPr wrap="square" lIns="0" tIns="0" rIns="0" bIns="0" rtlCol="0" anchor="ctr">
            <a:normAutofit lnSpcReduction="20000"/>
          </a:bodyPr>
          <a:lstStyle/>
          <a:p>
            <a:pPr marL="0" indent="0" algn="l">
              <a:buNone/>
            </a:pPr>
            <a:r>
              <a:rPr lang="en-US" sz="122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GPS  →  景点二维码  →  景区 Wi-Fi / 信标  →  手动选择</a:t>
            </a:r>
            <a:endParaRPr lang="en-US" sz="1220" dirty="0"/>
          </a:p>
        </p:txBody>
      </p:sp>
      <p:sp>
        <p:nvSpPr>
          <p:cNvPr id="36" name="Text 33"/>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7" name="Text 34"/>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09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后台把一次对话，变成可追踪的运营证据</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服务人次、热门问答、情感趋势、满意度和响应时间在同一运营视图呈现</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ADMIN</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566928" y="1371600"/>
            <a:ext cx="7909560" cy="4553712"/>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566928" y="1371600"/>
            <a:ext cx="7909560" cy="274320"/>
          </a:xfrm>
          <a:prstGeom prst="rect">
            <a:avLst/>
          </a:prstGeom>
          <a:solidFill>
            <a:srgbClr val="ECE4D2"/>
          </a:solidFill>
          <a:ln w="12700">
            <a:solidFill>
              <a:srgbClr val="ECE4D2"/>
            </a:solidFill>
            <a:prstDash val="solid"/>
          </a:ln>
        </p:spPr>
      </p:sp>
      <p:sp>
        <p:nvSpPr>
          <p:cNvPr id="9" name="Shape 7"/>
          <p:cNvSpPr/>
          <p:nvPr/>
        </p:nvSpPr>
        <p:spPr>
          <a:xfrm>
            <a:off x="713232" y="1463040"/>
            <a:ext cx="73152" cy="73152"/>
          </a:xfrm>
          <a:prstGeom prst="ellipse">
            <a:avLst/>
          </a:prstGeom>
          <a:solidFill>
            <a:srgbClr val="E8734A"/>
          </a:solidFill>
          <a:ln w="12700">
            <a:solidFill>
              <a:srgbClr val="E8734A"/>
            </a:solidFill>
            <a:prstDash val="solid"/>
          </a:ln>
        </p:spPr>
      </p:sp>
      <p:sp>
        <p:nvSpPr>
          <p:cNvPr id="10" name="Shape 8"/>
          <p:cNvSpPr/>
          <p:nvPr/>
        </p:nvSpPr>
        <p:spPr>
          <a:xfrm>
            <a:off x="877824" y="1463040"/>
            <a:ext cx="73152" cy="73152"/>
          </a:xfrm>
          <a:prstGeom prst="ellipse">
            <a:avLst/>
          </a:prstGeom>
          <a:solidFill>
            <a:srgbClr val="B78635"/>
          </a:solidFill>
          <a:ln w="12700">
            <a:solidFill>
              <a:srgbClr val="B78635"/>
            </a:solidFill>
            <a:prstDash val="solid"/>
          </a:ln>
        </p:spPr>
      </p:sp>
      <p:sp>
        <p:nvSpPr>
          <p:cNvPr id="11" name="Shape 9"/>
          <p:cNvSpPr/>
          <p:nvPr/>
        </p:nvSpPr>
        <p:spPr>
          <a:xfrm>
            <a:off x="1042416" y="1463040"/>
            <a:ext cx="73152" cy="73152"/>
          </a:xfrm>
          <a:prstGeom prst="ellipse">
            <a:avLst/>
          </a:prstGeom>
          <a:solidFill>
            <a:srgbClr val="6AB870"/>
          </a:solidFill>
          <a:ln w="12700">
            <a:solidFill>
              <a:srgbClr val="6AB870"/>
            </a:solidFill>
            <a:prstDash val="solid"/>
          </a:ln>
        </p:spPr>
      </p:sp>
      <p:sp>
        <p:nvSpPr>
          <p:cNvPr id="12" name="Text 10"/>
          <p:cNvSpPr txBox="1"/>
          <p:nvPr/>
        </p:nvSpPr>
        <p:spPr>
          <a:xfrm>
            <a:off x="1207008" y="1435608"/>
            <a:ext cx="7132320"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管理后台 · 数据概览</a:t>
            </a:r>
            <a:endParaRPr lang="en-US" sz="750" dirty="0"/>
          </a:p>
        </p:txBody>
      </p:sp>
      <p:pic>
        <p:nvPicPr>
          <p:cNvPr id="13" name="Image 0" descr="/home/gmn/codes/cup/deliverables/manual-assets/06-admin-overview.png"/>
          <p:cNvPicPr>
            <a:picLocks noChangeAspect="1"/>
          </p:cNvPicPr>
          <p:nvPr/>
        </p:nvPicPr>
        <p:blipFill>
          <a:blip r:embed="rId1"/>
          <a:stretch>
            <a:fillRect/>
          </a:stretch>
        </p:blipFill>
        <p:spPr>
          <a:xfrm>
            <a:off x="1105710" y="1655207"/>
            <a:ext cx="6832092" cy="4270057"/>
          </a:xfrm>
          <a:prstGeom prst="rect">
            <a:avLst/>
          </a:prstGeom>
        </p:spPr>
      </p:pic>
      <p:sp>
        <p:nvSpPr>
          <p:cNvPr id="14" name="Shape 11"/>
          <p:cNvSpPr/>
          <p:nvPr/>
        </p:nvSpPr>
        <p:spPr>
          <a:xfrm>
            <a:off x="8732520" y="1527239"/>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15" name="Text 12"/>
          <p:cNvSpPr txBox="1"/>
          <p:nvPr/>
        </p:nvSpPr>
        <p:spPr>
          <a:xfrm>
            <a:off x="8897112" y="1655255"/>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42</a:t>
            </a:r>
            <a:endParaRPr lang="en-US" sz="2700" dirty="0"/>
          </a:p>
        </p:txBody>
      </p:sp>
      <p:sp>
        <p:nvSpPr>
          <p:cNvPr id="16" name="Text 13"/>
          <p:cNvSpPr txBox="1"/>
          <p:nvPr/>
        </p:nvSpPr>
        <p:spPr>
          <a:xfrm>
            <a:off x="8897086" y="2167305"/>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今日服务游客</a:t>
            </a:r>
            <a:endParaRPr lang="en-US" sz="1150" dirty="0"/>
          </a:p>
        </p:txBody>
      </p:sp>
      <p:sp>
        <p:nvSpPr>
          <p:cNvPr id="18" name="Shape 15"/>
          <p:cNvSpPr/>
          <p:nvPr/>
        </p:nvSpPr>
        <p:spPr>
          <a:xfrm>
            <a:off x="8732520" y="2642807"/>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19" name="Text 16"/>
          <p:cNvSpPr txBox="1"/>
          <p:nvPr/>
        </p:nvSpPr>
        <p:spPr>
          <a:xfrm>
            <a:off x="8897112" y="2770823"/>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5B9E8C"/>
                </a:solidFill>
                <a:latin typeface="微软雅黑" panose="020B0503020204020204" pitchFamily="34" charset="-122"/>
                <a:ea typeface="微软雅黑" panose="020B0503020204020204" pitchFamily="34" charset="-122"/>
                <a:cs typeface="微软雅黑" panose="020B0503020204020204" pitchFamily="34" charset="-120"/>
              </a:rPr>
              <a:t>317</a:t>
            </a:r>
            <a:endParaRPr lang="en-US" sz="2700" dirty="0"/>
          </a:p>
        </p:txBody>
      </p:sp>
      <p:sp>
        <p:nvSpPr>
          <p:cNvPr id="20" name="Text 17"/>
          <p:cNvSpPr txBox="1"/>
          <p:nvPr/>
        </p:nvSpPr>
        <p:spPr>
          <a:xfrm>
            <a:off x="8897086" y="3282929"/>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累计问答</a:t>
            </a:r>
            <a:endParaRPr lang="en-US" sz="1150" dirty="0"/>
          </a:p>
        </p:txBody>
      </p:sp>
      <p:sp>
        <p:nvSpPr>
          <p:cNvPr id="22" name="Shape 19"/>
          <p:cNvSpPr/>
          <p:nvPr/>
        </p:nvSpPr>
        <p:spPr>
          <a:xfrm>
            <a:off x="8732520" y="3758375"/>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3" name="Text 20"/>
          <p:cNvSpPr txBox="1"/>
          <p:nvPr/>
        </p:nvSpPr>
        <p:spPr>
          <a:xfrm>
            <a:off x="8897112" y="3886391"/>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3A8C7A"/>
                </a:solidFill>
                <a:latin typeface="微软雅黑" panose="020B0503020204020204" pitchFamily="34" charset="-122"/>
                <a:ea typeface="微软雅黑" panose="020B0503020204020204" pitchFamily="34" charset="-122"/>
                <a:cs typeface="微软雅黑" panose="020B0503020204020204" pitchFamily="34" charset="-120"/>
              </a:rPr>
              <a:t>3.8 / 5</a:t>
            </a:r>
            <a:endParaRPr lang="en-US" sz="2700" dirty="0"/>
          </a:p>
        </p:txBody>
      </p:sp>
      <p:sp>
        <p:nvSpPr>
          <p:cNvPr id="24" name="Text 21"/>
          <p:cNvSpPr txBox="1"/>
          <p:nvPr/>
        </p:nvSpPr>
        <p:spPr>
          <a:xfrm>
            <a:off x="8897086" y="4398461"/>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平均满意度</a:t>
            </a:r>
            <a:endParaRPr lang="en-US" sz="1150" dirty="0"/>
          </a:p>
        </p:txBody>
      </p:sp>
      <p:sp>
        <p:nvSpPr>
          <p:cNvPr id="26" name="Shape 23"/>
          <p:cNvSpPr/>
          <p:nvPr/>
        </p:nvSpPr>
        <p:spPr>
          <a:xfrm>
            <a:off x="8732520" y="4873943"/>
            <a:ext cx="2779776" cy="914400"/>
          </a:xfrm>
          <a:prstGeom prst="roundRect">
            <a:avLst/>
          </a:prstGeom>
          <a:solidFill>
            <a:srgbClr val="FFFDF8"/>
          </a:solidFill>
          <a:ln w="10160">
            <a:solidFill>
              <a:srgbClr val="E0D4B8"/>
            </a:solidFill>
            <a:prstDash val="solid"/>
          </a:ln>
          <a:effectLst>
            <a:outerShdw blurRad="17780" dist="50800" dir="2700000" algn="bl" rotWithShape="0">
              <a:srgbClr val="173D34">
                <a:alpha val="12000"/>
              </a:srgbClr>
            </a:outerShdw>
          </a:effectLst>
        </p:spPr>
      </p:sp>
      <p:sp>
        <p:nvSpPr>
          <p:cNvPr id="27" name="Text 24"/>
          <p:cNvSpPr txBox="1"/>
          <p:nvPr/>
        </p:nvSpPr>
        <p:spPr>
          <a:xfrm>
            <a:off x="8897112" y="5001959"/>
            <a:ext cx="2450592" cy="566928"/>
          </a:xfrm>
          <a:prstGeom prst="rect">
            <a:avLst/>
          </a:prstGeom>
          <a:noFill/>
        </p:spPr>
        <p:txBody>
          <a:bodyPr wrap="square" lIns="0" tIns="0" rIns="0" bIns="0" rtlCol="0" anchor="ctr">
            <a:normAutofit/>
          </a:bodyPr>
          <a:lstStyle/>
          <a:p>
            <a:pPr marL="0" indent="0" algn="ctr">
              <a:buNone/>
            </a:pPr>
            <a:r>
              <a:rPr lang="en-US" sz="270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2.97 s</a:t>
            </a:r>
            <a:endParaRPr lang="en-US" sz="2700" dirty="0"/>
          </a:p>
        </p:txBody>
      </p:sp>
      <p:sp>
        <p:nvSpPr>
          <p:cNvPr id="28" name="Text 25"/>
          <p:cNvSpPr txBox="1"/>
          <p:nvPr/>
        </p:nvSpPr>
        <p:spPr>
          <a:xfrm>
            <a:off x="8897086" y="5513994"/>
            <a:ext cx="2487168" cy="274320"/>
          </a:xfrm>
          <a:prstGeom prst="rect">
            <a:avLst/>
          </a:prstGeom>
          <a:noFill/>
        </p:spPr>
        <p:txBody>
          <a:bodyPr wrap="square" lIns="0" tIns="0" rIns="0" bIns="0" rtlCol="0" anchor="ctr">
            <a:normAutofit/>
          </a:bodyPr>
          <a:lstStyle/>
          <a:p>
            <a:pPr marL="0" indent="0" algn="ctr">
              <a:buNone/>
            </a:pPr>
            <a:r>
              <a:rPr lang="en-US" sz="115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平均响应</a:t>
            </a:r>
            <a:endParaRPr lang="en-US" sz="1150" dirty="0"/>
          </a:p>
        </p:txBody>
      </p:sp>
      <p:sp>
        <p:nvSpPr>
          <p:cNvPr id="32" name="Text 29"/>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33" name="Text 30"/>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7"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8"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9"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10"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11"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12"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知识库</a:t>
            </a:r>
            <a:r>
              <a:rPr lang="zh-CN"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管理</a:t>
            </a:r>
            <a:endParaRPr lang="en-US" sz="750" dirty="0"/>
          </a:p>
        </p:txBody>
      </p:sp>
      <p:pic>
        <p:nvPicPr>
          <p:cNvPr id="13" name="Image 0" descr="/home/gmn/codes/cup/deliverables/manual-assets/07-admin-knowledge.png"/>
          <p:cNvPicPr>
            <a:picLocks noChangeAspect="1"/>
          </p:cNvPicPr>
          <p:nvPr/>
        </p:nvPicPr>
        <p:blipFill>
          <a:blip r:embed="rId1"/>
          <a:stretch>
            <a:fillRect/>
          </a:stretch>
        </p:blipFill>
        <p:spPr>
          <a:xfrm>
            <a:off x="2660737" y="1645920"/>
            <a:ext cx="6812662" cy="4257913"/>
          </a:xfrm>
          <a:prstGeom prst="rect">
            <a:avLst/>
          </a:prstGeom>
        </p:spPr>
      </p:pic>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a:t>
            </a:r>
            <a:r>
              <a:rPr lang="en-US" altLang="zh-CN" sz="900" b="1" dirty="0">
                <a:solidFill>
                  <a:srgbClr val="E8734A"/>
                </a:solidFill>
                <a:latin typeface="微软雅黑" panose="020B0503020204020204" pitchFamily="34" charset="-122"/>
                <a:ea typeface="微软雅黑" panose="020B0503020204020204" pitchFamily="34" charset="-122"/>
                <a:cs typeface="Arial" panose="020B0604020202020204" pitchFamily="34" charset="0"/>
              </a:rPr>
              <a:t>2</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数字人名称、声音、形象</a:t>
            </a:r>
            <a:r>
              <a:rPr lang="zh-CN"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管理</a:t>
            </a:r>
            <a:endPar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20" name="Image 1" descr="/home/gmn/codes/cup/deliverables/manual-assets/09-admin-avatar.png"/>
          <p:cNvPicPr>
            <a:picLocks noChangeAspect="1"/>
          </p:cNvPicPr>
          <p:nvPr/>
        </p:nvPicPr>
        <p:blipFill>
          <a:blip r:embed="rId1"/>
          <a:stretch>
            <a:fillRect/>
          </a:stretch>
        </p:blipFill>
        <p:spPr>
          <a:xfrm>
            <a:off x="2608254" y="1644610"/>
            <a:ext cx="6814757" cy="42592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a:t>
            </a:r>
            <a:r>
              <a:rPr lang="en-US" altLang="zh-CN" sz="900" b="1" dirty="0">
                <a:solidFill>
                  <a:srgbClr val="E8734A"/>
                </a:solidFill>
                <a:latin typeface="微软雅黑" panose="020B0503020204020204" pitchFamily="34" charset="-122"/>
                <a:ea typeface="微软雅黑" panose="020B0503020204020204" pitchFamily="34" charset="-122"/>
                <a:cs typeface="Arial" panose="020B0604020202020204" pitchFamily="34" charset="0"/>
              </a:rPr>
              <a:t>3</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情绪</a:t>
            </a:r>
            <a:r>
              <a:rPr lang="en-US" altLang="en-US" sz="750" dirty="0">
                <a:solidFill>
                  <a:srgbClr val="8A9E90"/>
                </a:solidFill>
                <a:latin typeface="微软雅黑" panose="020B0503020204020204" pitchFamily="34" charset="-122"/>
                <a:ea typeface="微软雅黑" panose="020B0503020204020204" pitchFamily="34" charset="-122"/>
                <a:cs typeface="Arial" panose="020B0604020202020204" pitchFamily="34" charset="0"/>
                <a:sym typeface="+mn-ea"/>
              </a:rPr>
              <a:t>识别</a:t>
            </a:r>
            <a:r>
              <a:rPr lang="zh-CN" altLang="en-US" sz="750" dirty="0">
                <a:solidFill>
                  <a:srgbClr val="8A9E90"/>
                </a:solidFill>
                <a:latin typeface="微软雅黑" panose="020B0503020204020204" pitchFamily="34" charset="-122"/>
                <a:ea typeface="微软雅黑" panose="020B0503020204020204" pitchFamily="34" charset="-122"/>
                <a:cs typeface="Arial" panose="020B0604020202020204" pitchFamily="34" charset="0"/>
                <a:sym typeface="+mn-ea"/>
              </a:rPr>
              <a:t>七分类</a:t>
            </a:r>
            <a:endParaRPr lang="en-US" altLang="en-US">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27" name="Image 2" descr="/home/gmn/codes/cup/deliverables/manual-assets/12-admin-emotion-analysis.png"/>
          <p:cNvPicPr>
            <a:picLocks noChangeAspect="1"/>
          </p:cNvPicPr>
          <p:nvPr/>
        </p:nvPicPr>
        <p:blipFill>
          <a:blip r:embed="rId1"/>
          <a:stretch>
            <a:fillRect/>
          </a:stretch>
        </p:blipFill>
        <p:spPr>
          <a:xfrm>
            <a:off x="2609302" y="1645920"/>
            <a:ext cx="6812662" cy="425791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a:t>
            </a:r>
            <a:r>
              <a:rPr lang="en-US" altLang="zh-CN" sz="900" b="1" dirty="0">
                <a:solidFill>
                  <a:srgbClr val="E8734A"/>
                </a:solidFill>
                <a:latin typeface="微软雅黑" panose="020B0503020204020204" pitchFamily="34" charset="-122"/>
                <a:ea typeface="微软雅黑" panose="020B0503020204020204" pitchFamily="34" charset="-122"/>
                <a:cs typeface="Arial" panose="020B0604020202020204" pitchFamily="34" charset="0"/>
              </a:rPr>
              <a:t>4</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感受度报告</a:t>
            </a:r>
            <a:endParaRPr lang="en-US" altLang="en-US">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34" name="Image 3" descr="/home/gmn/codes/cup/deliverables/manual-assets/10-admin-reports.png"/>
          <p:cNvPicPr>
            <a:picLocks noChangeAspect="1"/>
          </p:cNvPicPr>
          <p:nvPr/>
        </p:nvPicPr>
        <p:blipFill>
          <a:blip r:embed="rId1"/>
          <a:stretch>
            <a:fillRect/>
          </a:stretch>
        </p:blipFill>
        <p:spPr>
          <a:xfrm>
            <a:off x="2609342" y="1645920"/>
            <a:ext cx="6812660" cy="42579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管理</a:t>
            </a:r>
            <a:r>
              <a:rPr lang="zh-CN" alt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员后台</a:t>
            </a:r>
            <a:r>
              <a:rPr lang="en-US" sz="2700" b="1" dirty="0">
                <a:solidFill>
                  <a:srgbClr val="1A2E20"/>
                </a:solidFill>
                <a:latin typeface="微软雅黑" panose="020B0503020204020204" pitchFamily="34" charset="-122"/>
                <a:ea typeface="微软雅黑" panose="020B0503020204020204" pitchFamily="34" charset="-122"/>
                <a:cs typeface="微软雅黑" panose="020B0503020204020204" pitchFamily="34" charset="-120"/>
              </a:rPr>
              <a:t>端</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情绪来自游客对话；管理员负责维护内容、查看报告并执行改进建议</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OPS</a:t>
            </a:r>
            <a:endParaRPr lang="en-US" sz="950" dirty="0"/>
          </a:p>
        </p:txBody>
      </p:sp>
      <p:sp>
        <p:nvSpPr>
          <p:cNvPr id="6" name="Shape 4"/>
          <p:cNvSpPr/>
          <p:nvPr/>
        </p:nvSpPr>
        <p:spPr>
          <a:xfrm>
            <a:off x="621792" y="1197864"/>
            <a:ext cx="10945368" cy="0"/>
          </a:xfrm>
          <a:prstGeom prst="line">
            <a:avLst/>
          </a:prstGeom>
          <a:noFill/>
          <a:ln w="10160">
            <a:solidFill>
              <a:srgbClr val="E0D4B8"/>
            </a:solidFill>
            <a:prstDash val="solid"/>
            <a:headEnd type="none"/>
          </a:ln>
        </p:spPr>
      </p:sp>
      <p:sp>
        <p:nvSpPr>
          <p:cNvPr id="42" name="Shape 35"/>
          <p:cNvSpPr/>
          <p:nvPr/>
        </p:nvSpPr>
        <p:spPr>
          <a:xfrm>
            <a:off x="658368" y="6080760"/>
            <a:ext cx="1234440" cy="310896"/>
          </a:xfrm>
          <a:prstGeom prst="roundRect">
            <a:avLst/>
          </a:prstGeom>
          <a:solidFill>
            <a:srgbClr val="E8734A"/>
          </a:solidFill>
          <a:ln w="12700">
            <a:solidFill>
              <a:srgbClr val="E8734A"/>
            </a:solidFill>
            <a:prstDash val="solid"/>
          </a:ln>
        </p:spPr>
      </p:sp>
      <p:sp>
        <p:nvSpPr>
          <p:cNvPr id="43" name="Text 36"/>
          <p:cNvSpPr txBox="1"/>
          <p:nvPr/>
        </p:nvSpPr>
        <p:spPr>
          <a:xfrm>
            <a:off x="713232" y="6108192"/>
            <a:ext cx="1124712"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真实知识更新</a:t>
            </a:r>
            <a:endParaRPr lang="en-US" sz="950" dirty="0"/>
          </a:p>
        </p:txBody>
      </p:sp>
      <p:sp>
        <p:nvSpPr>
          <p:cNvPr id="44" name="Shape 37"/>
          <p:cNvSpPr/>
          <p:nvPr/>
        </p:nvSpPr>
        <p:spPr>
          <a:xfrm>
            <a:off x="2029968" y="6080760"/>
            <a:ext cx="1161288" cy="310896"/>
          </a:xfrm>
          <a:prstGeom prst="roundRect">
            <a:avLst/>
          </a:prstGeom>
          <a:solidFill>
            <a:srgbClr val="5B9E8C"/>
          </a:solidFill>
          <a:ln w="12700">
            <a:solidFill>
              <a:srgbClr val="5B9E8C"/>
            </a:solidFill>
            <a:prstDash val="solid"/>
          </a:ln>
        </p:spPr>
      </p:sp>
      <p:sp>
        <p:nvSpPr>
          <p:cNvPr id="45" name="Text 38"/>
          <p:cNvSpPr txBox="1"/>
          <p:nvPr/>
        </p:nvSpPr>
        <p:spPr>
          <a:xfrm>
            <a:off x="2084832" y="6108192"/>
            <a:ext cx="105156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形象可配置</a:t>
            </a:r>
            <a:endParaRPr lang="en-US" sz="950" dirty="0"/>
          </a:p>
        </p:txBody>
      </p:sp>
      <p:sp>
        <p:nvSpPr>
          <p:cNvPr id="46" name="Shape 39"/>
          <p:cNvSpPr/>
          <p:nvPr/>
        </p:nvSpPr>
        <p:spPr>
          <a:xfrm>
            <a:off x="3328416" y="6080760"/>
            <a:ext cx="1069848" cy="310896"/>
          </a:xfrm>
          <a:prstGeom prst="roundRect">
            <a:avLst/>
          </a:prstGeom>
          <a:solidFill>
            <a:srgbClr val="3A8C7A"/>
          </a:solidFill>
          <a:ln w="12700">
            <a:solidFill>
              <a:srgbClr val="3A8C7A"/>
            </a:solidFill>
            <a:prstDash val="solid"/>
          </a:ln>
        </p:spPr>
      </p:sp>
      <p:sp>
        <p:nvSpPr>
          <p:cNvPr id="47" name="Text 40"/>
          <p:cNvSpPr txBox="1"/>
          <p:nvPr/>
        </p:nvSpPr>
        <p:spPr>
          <a:xfrm>
            <a:off x="3383280" y="6108192"/>
            <a:ext cx="960120"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对话情绪</a:t>
            </a:r>
            <a:endParaRPr lang="en-US" sz="950" dirty="0"/>
          </a:p>
        </p:txBody>
      </p:sp>
      <p:sp>
        <p:nvSpPr>
          <p:cNvPr id="48" name="Shape 41"/>
          <p:cNvSpPr/>
          <p:nvPr/>
        </p:nvSpPr>
        <p:spPr>
          <a:xfrm>
            <a:off x="4535424" y="6080760"/>
            <a:ext cx="1170432" cy="310896"/>
          </a:xfrm>
          <a:prstGeom prst="roundRect">
            <a:avLst/>
          </a:prstGeom>
          <a:solidFill>
            <a:srgbClr val="6AB870"/>
          </a:solidFill>
          <a:ln w="12700">
            <a:solidFill>
              <a:srgbClr val="6AB870"/>
            </a:solidFill>
            <a:prstDash val="solid"/>
          </a:ln>
        </p:spPr>
      </p:sp>
      <p:sp>
        <p:nvSpPr>
          <p:cNvPr id="49" name="Text 42"/>
          <p:cNvSpPr txBox="1"/>
          <p:nvPr/>
        </p:nvSpPr>
        <p:spPr>
          <a:xfrm>
            <a:off x="4590288" y="6108192"/>
            <a:ext cx="1060704" cy="246888"/>
          </a:xfrm>
          <a:prstGeom prst="rect">
            <a:avLst/>
          </a:prstGeom>
          <a:noFill/>
        </p:spPr>
        <p:txBody>
          <a:bodyPr wrap="square" lIns="0" tIns="0" rIns="0" bIns="0" rtlCol="0" anchor="ctr">
            <a:normAutofit/>
          </a:bodyPr>
          <a:lstStyle/>
          <a:p>
            <a:pPr marL="0" indent="0" algn="ctr">
              <a:buNone/>
            </a:pPr>
            <a:r>
              <a:rPr lang="en-US" sz="9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主动满意度</a:t>
            </a:r>
            <a:endParaRPr lang="en-US" sz="950" dirty="0"/>
          </a:p>
        </p:txBody>
      </p:sp>
      <p:sp>
        <p:nvSpPr>
          <p:cNvPr id="51" name="Text 44"/>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52" name="Text 45"/>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a:t>
            </a:r>
            <a:r>
              <a:rPr lang="en-US" altLang="zh-CN" sz="900" b="1" dirty="0">
                <a:solidFill>
                  <a:srgbClr val="E8734A"/>
                </a:solidFill>
                <a:latin typeface="微软雅黑" panose="020B0503020204020204" pitchFamily="34" charset="-122"/>
                <a:ea typeface="微软雅黑" panose="020B0503020204020204" pitchFamily="34" charset="-122"/>
                <a:cs typeface="Arial" panose="020B0604020202020204" pitchFamily="34" charset="0"/>
              </a:rPr>
              <a:t>5</a:t>
            </a:r>
            <a:endParaRPr lang="en-US" sz="900" dirty="0"/>
          </a:p>
        </p:txBody>
      </p:sp>
      <p:sp>
        <p:nvSpPr>
          <p:cNvPr id="53" name="Shape 5"/>
          <p:cNvSpPr/>
          <p:nvPr/>
        </p:nvSpPr>
        <p:spPr>
          <a:xfrm>
            <a:off x="1892856" y="1371600"/>
            <a:ext cx="8245554" cy="4532267"/>
          </a:xfrm>
          <a:prstGeom prst="roundRect">
            <a:avLst/>
          </a:prstGeom>
          <a:solidFill>
            <a:srgbClr val="FFFFFF"/>
          </a:solidFill>
          <a:ln w="10160">
            <a:solidFill>
              <a:srgbClr val="E0D4B8"/>
            </a:solidFill>
            <a:prstDash val="solid"/>
          </a:ln>
          <a:effectLst>
            <a:outerShdw blurRad="17780" dist="50800" dir="2700000" algn="bl" rotWithShape="0">
              <a:srgbClr val="173D34">
                <a:alpha val="12000"/>
              </a:srgbClr>
            </a:outerShdw>
          </a:effectLst>
        </p:spPr>
      </p:sp>
      <p:sp>
        <p:nvSpPr>
          <p:cNvPr id="54" name="Shape 6"/>
          <p:cNvSpPr/>
          <p:nvPr/>
        </p:nvSpPr>
        <p:spPr>
          <a:xfrm>
            <a:off x="1892829" y="1371600"/>
            <a:ext cx="8245581" cy="274320"/>
          </a:xfrm>
          <a:prstGeom prst="rect">
            <a:avLst/>
          </a:prstGeom>
          <a:solidFill>
            <a:srgbClr val="ECE4D2"/>
          </a:solidFill>
          <a:ln w="12700">
            <a:solidFill>
              <a:srgbClr val="ECE4D2"/>
            </a:solidFill>
            <a:prstDash val="solid"/>
          </a:ln>
        </p:spPr>
      </p:sp>
      <p:sp>
        <p:nvSpPr>
          <p:cNvPr id="55" name="Shape 7"/>
          <p:cNvSpPr/>
          <p:nvPr/>
        </p:nvSpPr>
        <p:spPr>
          <a:xfrm>
            <a:off x="2039133" y="1463040"/>
            <a:ext cx="73152" cy="73152"/>
          </a:xfrm>
          <a:prstGeom prst="ellipse">
            <a:avLst/>
          </a:prstGeom>
          <a:solidFill>
            <a:srgbClr val="E8734A"/>
          </a:solidFill>
          <a:ln w="12700">
            <a:solidFill>
              <a:srgbClr val="E8734A"/>
            </a:solidFill>
            <a:prstDash val="solid"/>
          </a:ln>
        </p:spPr>
      </p:sp>
      <p:sp>
        <p:nvSpPr>
          <p:cNvPr id="56" name="Shape 8"/>
          <p:cNvSpPr/>
          <p:nvPr/>
        </p:nvSpPr>
        <p:spPr>
          <a:xfrm>
            <a:off x="2203725" y="1463040"/>
            <a:ext cx="73152" cy="73152"/>
          </a:xfrm>
          <a:prstGeom prst="ellipse">
            <a:avLst/>
          </a:prstGeom>
          <a:solidFill>
            <a:srgbClr val="B78635"/>
          </a:solidFill>
          <a:ln w="12700">
            <a:solidFill>
              <a:srgbClr val="B78635"/>
            </a:solidFill>
            <a:prstDash val="solid"/>
          </a:ln>
        </p:spPr>
      </p:sp>
      <p:sp>
        <p:nvSpPr>
          <p:cNvPr id="57" name="Shape 9"/>
          <p:cNvSpPr/>
          <p:nvPr/>
        </p:nvSpPr>
        <p:spPr>
          <a:xfrm>
            <a:off x="2368317" y="1463040"/>
            <a:ext cx="73152" cy="73152"/>
          </a:xfrm>
          <a:prstGeom prst="ellipse">
            <a:avLst/>
          </a:prstGeom>
          <a:solidFill>
            <a:srgbClr val="6AB870"/>
          </a:solidFill>
          <a:ln w="12700">
            <a:solidFill>
              <a:srgbClr val="6AB870"/>
            </a:solidFill>
            <a:prstDash val="solid"/>
          </a:ln>
        </p:spPr>
      </p:sp>
      <p:sp>
        <p:nvSpPr>
          <p:cNvPr id="58" name="Text 10"/>
          <p:cNvSpPr txBox="1"/>
          <p:nvPr/>
        </p:nvSpPr>
        <p:spPr>
          <a:xfrm>
            <a:off x="2532909" y="1435608"/>
            <a:ext cx="7468341" cy="137160"/>
          </a:xfrm>
          <a:prstGeom prst="rect">
            <a:avLst/>
          </a:prstGeom>
          <a:noFill/>
        </p:spPr>
        <p:txBody>
          <a:bodyPr wrap="square" lIns="0" tIns="0" rIns="0" bIns="0" rtlCol="0" anchor="ctr">
            <a:normAutofit/>
          </a:bodyPr>
          <a:lstStyle/>
          <a:p>
            <a:pPr marL="0" indent="0" algn="r">
              <a:buNone/>
            </a:pPr>
            <a:r>
              <a:rPr lang="en-US" altLang="en-US" sz="750" dirty="0">
                <a:solidFill>
                  <a:srgbClr val="8A9E90"/>
                </a:solidFill>
                <a:latin typeface="微软雅黑" panose="020B0503020204020204" pitchFamily="34" charset="-122"/>
                <a:ea typeface="微软雅黑" panose="020B0503020204020204" pitchFamily="34" charset="-122"/>
                <a:cs typeface="微软雅黑" panose="020B0503020204020204" pitchFamily="34" charset="-120"/>
                <a:sym typeface="+mn-ea"/>
              </a:rPr>
              <a:t>历史</a:t>
            </a:r>
            <a:r>
              <a:rPr lang="en-US" altLang="en-US" sz="750" dirty="0">
                <a:solidFill>
                  <a:srgbClr val="8A9E90"/>
                </a:solidFill>
                <a:latin typeface="微软雅黑" panose="020B0503020204020204" pitchFamily="34" charset="-122"/>
                <a:ea typeface="微软雅黑" panose="020B0503020204020204" pitchFamily="34" charset="-122"/>
                <a:cs typeface="Arial" panose="020B0604020202020204" pitchFamily="34" charset="0"/>
                <a:sym typeface="+mn-ea"/>
              </a:rPr>
              <a:t>数据</a:t>
            </a:r>
            <a:endParaRPr lang="en-US" altLang="en-US">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41" name="Image 4" descr="/home/gmn/codes/cup/deliverables/manual-assets/11-admin-historical-data.png"/>
          <p:cNvPicPr>
            <a:picLocks noChangeAspect="1"/>
          </p:cNvPicPr>
          <p:nvPr/>
        </p:nvPicPr>
        <p:blipFill>
          <a:blip r:embed="rId1"/>
          <a:stretch>
            <a:fillRect/>
          </a:stretch>
        </p:blipFill>
        <p:spPr>
          <a:xfrm>
            <a:off x="2697290" y="1645920"/>
            <a:ext cx="6812660" cy="42579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系统指标</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EVIDENCE</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11" name="Shape 9"/>
          <p:cNvSpPr/>
          <p:nvPr/>
        </p:nvSpPr>
        <p:spPr>
          <a:xfrm>
            <a:off x="2907030" y="1463040"/>
            <a:ext cx="2514600" cy="1572768"/>
          </a:xfrm>
          <a:prstGeom prst="roundRect">
            <a:avLst/>
          </a:prstGeom>
          <a:solidFill>
            <a:srgbClr val="233B2A"/>
          </a:solidFill>
          <a:ln w="10160">
            <a:solidFill>
              <a:srgbClr val="2E4E38"/>
            </a:solidFill>
            <a:prstDash val="solid"/>
          </a:ln>
          <a:effectLst>
            <a:outerShdw blurRad="17780" dist="50800" dir="2700000" algn="bl" rotWithShape="0">
              <a:srgbClr val="173D34">
                <a:alpha val="12000"/>
              </a:srgbClr>
            </a:outerShdw>
          </a:effectLst>
        </p:spPr>
      </p:sp>
      <p:sp>
        <p:nvSpPr>
          <p:cNvPr id="12" name="Text 10"/>
          <p:cNvSpPr txBox="1"/>
          <p:nvPr/>
        </p:nvSpPr>
        <p:spPr>
          <a:xfrm>
            <a:off x="3071622" y="1591056"/>
            <a:ext cx="2185416" cy="566928"/>
          </a:xfrm>
          <a:prstGeom prst="rect">
            <a:avLst/>
          </a:prstGeom>
          <a:noFill/>
        </p:spPr>
        <p:txBody>
          <a:bodyPr wrap="square" lIns="0" tIns="0" rIns="0" bIns="0" rtlCol="0" anchor="ctr">
            <a:normAutofit/>
          </a:bodyPr>
          <a:lstStyle/>
          <a:p>
            <a:pPr marL="0" indent="0" algn="ctr">
              <a:buNone/>
            </a:pPr>
            <a:r>
              <a:rPr lang="en-US" sz="2700" b="1" dirty="0">
                <a:solidFill>
                  <a:srgbClr val="5B9E8C"/>
                </a:solidFill>
                <a:latin typeface="微软雅黑" panose="020B0503020204020204" pitchFamily="34" charset="-122"/>
                <a:ea typeface="微软雅黑" panose="020B0503020204020204" pitchFamily="34" charset="-122"/>
                <a:cs typeface="微软雅黑" panose="020B0503020204020204" pitchFamily="34" charset="-120"/>
              </a:rPr>
              <a:t>2160 ms</a:t>
            </a:r>
            <a:endParaRPr lang="en-US" sz="2700" dirty="0"/>
          </a:p>
        </p:txBody>
      </p:sp>
      <p:sp>
        <p:nvSpPr>
          <p:cNvPr id="13" name="Text 11"/>
          <p:cNvSpPr txBox="1"/>
          <p:nvPr/>
        </p:nvSpPr>
        <p:spPr>
          <a:xfrm>
            <a:off x="3053334" y="2176272"/>
            <a:ext cx="2221992" cy="274320"/>
          </a:xfrm>
          <a:prstGeom prst="rect">
            <a:avLst/>
          </a:prstGeom>
          <a:noFill/>
        </p:spPr>
        <p:txBody>
          <a:bodyPr wrap="square" lIns="0" tIns="0" rIns="0" bIns="0" rtlCol="0" anchor="ctr">
            <a:normAutofit/>
          </a:bodyPr>
          <a:lstStyle/>
          <a:p>
            <a:pPr marL="0" indent="0" algn="ctr">
              <a:buNone/>
            </a:pPr>
            <a:r>
              <a:rPr lang="en-US" sz="11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数字人首响中位数</a:t>
            </a:r>
            <a:endParaRPr lang="en-US" sz="1150" dirty="0"/>
          </a:p>
        </p:txBody>
      </p:sp>
      <p:sp>
        <p:nvSpPr>
          <p:cNvPr id="14" name="Text 12"/>
          <p:cNvSpPr txBox="1"/>
          <p:nvPr/>
        </p:nvSpPr>
        <p:spPr>
          <a:xfrm>
            <a:off x="3053334" y="2478024"/>
            <a:ext cx="2221992" cy="457200"/>
          </a:xfrm>
          <a:prstGeom prst="rect">
            <a:avLst/>
          </a:prstGeom>
          <a:noFill/>
        </p:spPr>
        <p:txBody>
          <a:bodyPr wrap="square" lIns="0" tIns="0" rIns="0" bIns="0" rtlCol="0" anchor="t">
            <a:normAutofit/>
          </a:bodyPr>
          <a:lstStyle/>
          <a:p>
            <a:pPr marL="0" indent="0" algn="ctr">
              <a:buNone/>
            </a:pPr>
            <a:r>
              <a:rPr lang="en-US" sz="8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2026-07-20 连续 4 轮；最大 2705ms</a:t>
            </a:r>
            <a:endParaRPr lang="en-US" sz="850" dirty="0"/>
          </a:p>
        </p:txBody>
      </p:sp>
      <p:sp>
        <p:nvSpPr>
          <p:cNvPr id="19" name="Shape 17"/>
          <p:cNvSpPr/>
          <p:nvPr/>
        </p:nvSpPr>
        <p:spPr>
          <a:xfrm>
            <a:off x="6487573" y="1463040"/>
            <a:ext cx="2697480" cy="1572768"/>
          </a:xfrm>
          <a:prstGeom prst="roundRect">
            <a:avLst/>
          </a:prstGeom>
          <a:solidFill>
            <a:srgbClr val="233B2A"/>
          </a:solidFill>
          <a:ln w="10160">
            <a:solidFill>
              <a:srgbClr val="2E4E38"/>
            </a:solidFill>
            <a:prstDash val="solid"/>
          </a:ln>
          <a:effectLst>
            <a:outerShdw blurRad="17780" dist="50800" dir="2700000" algn="bl" rotWithShape="0">
              <a:srgbClr val="173D34">
                <a:alpha val="12000"/>
              </a:srgbClr>
            </a:outerShdw>
          </a:effectLst>
        </p:spPr>
      </p:sp>
      <p:sp>
        <p:nvSpPr>
          <p:cNvPr id="20" name="Text 18"/>
          <p:cNvSpPr txBox="1"/>
          <p:nvPr/>
        </p:nvSpPr>
        <p:spPr>
          <a:xfrm>
            <a:off x="6652165" y="1591056"/>
            <a:ext cx="2368296" cy="566928"/>
          </a:xfrm>
          <a:prstGeom prst="rect">
            <a:avLst/>
          </a:prstGeom>
          <a:noFill/>
        </p:spPr>
        <p:txBody>
          <a:bodyPr wrap="square" lIns="0" tIns="0" rIns="0" bIns="0" rtlCol="0" anchor="ctr">
            <a:normAutofit/>
          </a:bodyPr>
          <a:lstStyle/>
          <a:p>
            <a:pPr marL="0" indent="0" algn="ctr">
              <a:buNone/>
            </a:pPr>
            <a:r>
              <a:rPr lang="en-US" sz="2700" b="1" dirty="0">
                <a:solidFill>
                  <a:srgbClr val="6AB870"/>
                </a:solidFill>
                <a:latin typeface="微软雅黑" panose="020B0503020204020204" pitchFamily="34" charset="-122"/>
                <a:ea typeface="微软雅黑" panose="020B0503020204020204" pitchFamily="34" charset="-122"/>
                <a:cs typeface="微软雅黑" panose="020B0503020204020204" pitchFamily="34" charset="-120"/>
              </a:rPr>
              <a:t>3 路</a:t>
            </a:r>
            <a:endParaRPr lang="en-US" sz="2700" dirty="0"/>
          </a:p>
        </p:txBody>
      </p:sp>
      <p:sp>
        <p:nvSpPr>
          <p:cNvPr id="21" name="Text 19"/>
          <p:cNvSpPr txBox="1"/>
          <p:nvPr/>
        </p:nvSpPr>
        <p:spPr>
          <a:xfrm>
            <a:off x="6633877" y="2176272"/>
            <a:ext cx="2404872" cy="274320"/>
          </a:xfrm>
          <a:prstGeom prst="rect">
            <a:avLst/>
          </a:prstGeom>
          <a:noFill/>
        </p:spPr>
        <p:txBody>
          <a:bodyPr wrap="square" lIns="0" tIns="0" rIns="0" bIns="0" rtlCol="0" anchor="ctr">
            <a:normAutofit/>
          </a:bodyPr>
          <a:lstStyle/>
          <a:p>
            <a:pPr marL="0" indent="0" algn="ctr">
              <a:buNone/>
            </a:pPr>
            <a:r>
              <a:rPr lang="en-US" sz="11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问答模型路线</a:t>
            </a:r>
            <a:endParaRPr lang="en-US" sz="1150" dirty="0"/>
          </a:p>
        </p:txBody>
      </p:sp>
      <p:sp>
        <p:nvSpPr>
          <p:cNvPr id="22" name="Text 20"/>
          <p:cNvSpPr txBox="1"/>
          <p:nvPr/>
        </p:nvSpPr>
        <p:spPr>
          <a:xfrm>
            <a:off x="6633877" y="2478024"/>
            <a:ext cx="2404872" cy="457200"/>
          </a:xfrm>
          <a:prstGeom prst="rect">
            <a:avLst/>
          </a:prstGeom>
          <a:noFill/>
        </p:spPr>
        <p:txBody>
          <a:bodyPr wrap="square" lIns="0" tIns="0" rIns="0" bIns="0" rtlCol="0" anchor="t">
            <a:normAutofit/>
          </a:bodyPr>
          <a:lstStyle/>
          <a:p>
            <a:pPr marL="0" indent="0" algn="ctr">
              <a:buNone/>
            </a:pPr>
            <a:r>
              <a:rPr lang="en-US" sz="8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云端 / 1.7B 轻量 / 7B 完整</a:t>
            </a:r>
            <a:endParaRPr lang="en-US" sz="850" dirty="0"/>
          </a:p>
        </p:txBody>
      </p:sp>
      <p:sp>
        <p:nvSpPr>
          <p:cNvPr id="23" name="Shape 21"/>
          <p:cNvSpPr/>
          <p:nvPr/>
        </p:nvSpPr>
        <p:spPr>
          <a:xfrm>
            <a:off x="658368" y="3401568"/>
            <a:ext cx="3401568" cy="1106424"/>
          </a:xfrm>
          <a:prstGeom prst="roundRect">
            <a:avLst/>
          </a:prstGeom>
          <a:solidFill>
            <a:srgbClr val="233B2A"/>
          </a:solidFill>
          <a:ln w="10160">
            <a:solidFill>
              <a:srgbClr val="2E4E38"/>
            </a:solidFill>
            <a:prstDash val="solid"/>
          </a:ln>
        </p:spPr>
      </p:sp>
      <p:sp>
        <p:nvSpPr>
          <p:cNvPr id="24" name="Shape 22"/>
          <p:cNvSpPr/>
          <p:nvPr/>
        </p:nvSpPr>
        <p:spPr>
          <a:xfrm>
            <a:off x="658368" y="3401568"/>
            <a:ext cx="64008" cy="1106424"/>
          </a:xfrm>
          <a:prstGeom prst="rect">
            <a:avLst/>
          </a:prstGeom>
          <a:solidFill>
            <a:srgbClr val="E8734A"/>
          </a:solidFill>
          <a:ln w="12700">
            <a:solidFill>
              <a:srgbClr val="E8734A"/>
            </a:solidFill>
            <a:prstDash val="solid"/>
          </a:ln>
        </p:spPr>
      </p:sp>
      <p:sp>
        <p:nvSpPr>
          <p:cNvPr id="25" name="Text 23"/>
          <p:cNvSpPr txBox="1"/>
          <p:nvPr/>
        </p:nvSpPr>
        <p:spPr>
          <a:xfrm>
            <a:off x="886968" y="3538728"/>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低延迟流水线</a:t>
            </a:r>
            <a:endParaRPr lang="en-US" sz="1300" dirty="0"/>
          </a:p>
        </p:txBody>
      </p:sp>
      <p:sp>
        <p:nvSpPr>
          <p:cNvPr id="26" name="Text 24"/>
          <p:cNvSpPr txBox="1"/>
          <p:nvPr/>
        </p:nvSpPr>
        <p:spPr>
          <a:xfrm>
            <a:off x="886968" y="3895344"/>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首个完整语义短句立即进入 TTS；连续 PCM 推送数字人，不等待全文。</a:t>
            </a:r>
            <a:endParaRPr lang="en-US" sz="950" dirty="0"/>
          </a:p>
        </p:txBody>
      </p:sp>
      <p:sp>
        <p:nvSpPr>
          <p:cNvPr id="27" name="Shape 25"/>
          <p:cNvSpPr/>
          <p:nvPr/>
        </p:nvSpPr>
        <p:spPr>
          <a:xfrm>
            <a:off x="4315968" y="3401568"/>
            <a:ext cx="3401568" cy="1106424"/>
          </a:xfrm>
          <a:prstGeom prst="roundRect">
            <a:avLst/>
          </a:prstGeom>
          <a:solidFill>
            <a:srgbClr val="233B2A"/>
          </a:solidFill>
          <a:ln w="10160">
            <a:solidFill>
              <a:srgbClr val="2E4E38"/>
            </a:solidFill>
            <a:prstDash val="solid"/>
          </a:ln>
        </p:spPr>
      </p:sp>
      <p:sp>
        <p:nvSpPr>
          <p:cNvPr id="28" name="Shape 26"/>
          <p:cNvSpPr/>
          <p:nvPr/>
        </p:nvSpPr>
        <p:spPr>
          <a:xfrm>
            <a:off x="4315968" y="3401568"/>
            <a:ext cx="64008" cy="1106424"/>
          </a:xfrm>
          <a:prstGeom prst="rect">
            <a:avLst/>
          </a:prstGeom>
          <a:solidFill>
            <a:srgbClr val="5B9E8C"/>
          </a:solidFill>
          <a:ln w="12700">
            <a:solidFill>
              <a:srgbClr val="5B9E8C"/>
            </a:solidFill>
            <a:prstDash val="solid"/>
          </a:ln>
        </p:spPr>
      </p:sp>
      <p:sp>
        <p:nvSpPr>
          <p:cNvPr id="29" name="Text 27"/>
          <p:cNvSpPr txBox="1"/>
          <p:nvPr/>
        </p:nvSpPr>
        <p:spPr>
          <a:xfrm>
            <a:off x="4544568" y="3538728"/>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GPU 生命周期</a:t>
            </a:r>
            <a:endParaRPr lang="en-US" sz="1300" dirty="0"/>
          </a:p>
        </p:txBody>
      </p:sp>
      <p:sp>
        <p:nvSpPr>
          <p:cNvPr id="30" name="Text 28"/>
          <p:cNvSpPr txBox="1"/>
          <p:nvPr/>
        </p:nvSpPr>
        <p:spPr>
          <a:xfrm>
            <a:off x="4544568" y="3895344"/>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请求时动态选择空闲卡；模型按需加载，空闲后释放显存。</a:t>
            </a:r>
            <a:endParaRPr lang="en-US" sz="950" dirty="0"/>
          </a:p>
        </p:txBody>
      </p:sp>
      <p:sp>
        <p:nvSpPr>
          <p:cNvPr id="31" name="Shape 29"/>
          <p:cNvSpPr/>
          <p:nvPr/>
        </p:nvSpPr>
        <p:spPr>
          <a:xfrm>
            <a:off x="7973568" y="3401568"/>
            <a:ext cx="3401568" cy="1106424"/>
          </a:xfrm>
          <a:prstGeom prst="roundRect">
            <a:avLst/>
          </a:prstGeom>
          <a:solidFill>
            <a:srgbClr val="233B2A"/>
          </a:solidFill>
          <a:ln w="10160">
            <a:solidFill>
              <a:srgbClr val="2E4E38"/>
            </a:solidFill>
            <a:prstDash val="solid"/>
          </a:ln>
        </p:spPr>
      </p:sp>
      <p:sp>
        <p:nvSpPr>
          <p:cNvPr id="32" name="Shape 30"/>
          <p:cNvSpPr/>
          <p:nvPr/>
        </p:nvSpPr>
        <p:spPr>
          <a:xfrm>
            <a:off x="7973568" y="3401568"/>
            <a:ext cx="64008" cy="1106424"/>
          </a:xfrm>
          <a:prstGeom prst="rect">
            <a:avLst/>
          </a:prstGeom>
          <a:solidFill>
            <a:srgbClr val="3A8C7A"/>
          </a:solidFill>
          <a:ln w="12700">
            <a:solidFill>
              <a:srgbClr val="3A8C7A"/>
            </a:solidFill>
            <a:prstDash val="solid"/>
          </a:ln>
        </p:spPr>
      </p:sp>
      <p:sp>
        <p:nvSpPr>
          <p:cNvPr id="33" name="Text 31"/>
          <p:cNvSpPr txBox="1"/>
          <p:nvPr/>
        </p:nvSpPr>
        <p:spPr>
          <a:xfrm>
            <a:off x="8202168" y="3538728"/>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OOM 可见错误</a:t>
            </a:r>
            <a:endParaRPr lang="en-US" sz="1300" dirty="0"/>
          </a:p>
        </p:txBody>
      </p:sp>
      <p:sp>
        <p:nvSpPr>
          <p:cNvPr id="34" name="Text 32"/>
          <p:cNvSpPr txBox="1"/>
          <p:nvPr/>
        </p:nvSpPr>
        <p:spPr>
          <a:xfrm>
            <a:off x="8202168" y="3895344"/>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无达标 GPU 或真实 CUDA OOM 均返回明确错误与切换建议。</a:t>
            </a:r>
            <a:endParaRPr lang="en-US" sz="950" dirty="0"/>
          </a:p>
        </p:txBody>
      </p:sp>
      <p:sp>
        <p:nvSpPr>
          <p:cNvPr id="35" name="Shape 33"/>
          <p:cNvSpPr/>
          <p:nvPr/>
        </p:nvSpPr>
        <p:spPr>
          <a:xfrm>
            <a:off x="658368" y="4782312"/>
            <a:ext cx="3401568" cy="1106424"/>
          </a:xfrm>
          <a:prstGeom prst="roundRect">
            <a:avLst/>
          </a:prstGeom>
          <a:solidFill>
            <a:srgbClr val="233B2A"/>
          </a:solidFill>
          <a:ln w="10160">
            <a:solidFill>
              <a:srgbClr val="2E4E38"/>
            </a:solidFill>
            <a:prstDash val="solid"/>
          </a:ln>
        </p:spPr>
      </p:sp>
      <p:sp>
        <p:nvSpPr>
          <p:cNvPr id="36" name="Shape 34"/>
          <p:cNvSpPr/>
          <p:nvPr/>
        </p:nvSpPr>
        <p:spPr>
          <a:xfrm>
            <a:off x="658368" y="4782312"/>
            <a:ext cx="64008" cy="1106424"/>
          </a:xfrm>
          <a:prstGeom prst="rect">
            <a:avLst/>
          </a:prstGeom>
          <a:solidFill>
            <a:srgbClr val="6AB870"/>
          </a:solidFill>
          <a:ln w="12700">
            <a:solidFill>
              <a:srgbClr val="6AB870"/>
            </a:solidFill>
            <a:prstDash val="solid"/>
          </a:ln>
        </p:spPr>
      </p:sp>
      <p:sp>
        <p:nvSpPr>
          <p:cNvPr id="37" name="Text 35"/>
          <p:cNvSpPr txBox="1"/>
          <p:nvPr/>
        </p:nvSpPr>
        <p:spPr>
          <a:xfrm>
            <a:off x="886968" y="4919472"/>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服务降级</a:t>
            </a:r>
            <a:endParaRPr lang="en-US" sz="1300" dirty="0"/>
          </a:p>
        </p:txBody>
      </p:sp>
      <p:sp>
        <p:nvSpPr>
          <p:cNvPr id="38" name="Text 36"/>
          <p:cNvSpPr txBox="1"/>
          <p:nvPr/>
        </p:nvSpPr>
        <p:spPr>
          <a:xfrm>
            <a:off x="886968" y="5276088"/>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拟真数字人失败回退 Live2D；情感模型失败保留来源与降级状态。</a:t>
            </a:r>
            <a:endParaRPr lang="en-US" sz="950" dirty="0"/>
          </a:p>
        </p:txBody>
      </p:sp>
      <p:sp>
        <p:nvSpPr>
          <p:cNvPr id="39" name="Shape 37"/>
          <p:cNvSpPr/>
          <p:nvPr/>
        </p:nvSpPr>
        <p:spPr>
          <a:xfrm>
            <a:off x="4315968" y="4782312"/>
            <a:ext cx="3401568" cy="1106424"/>
          </a:xfrm>
          <a:prstGeom prst="roundRect">
            <a:avLst/>
          </a:prstGeom>
          <a:solidFill>
            <a:srgbClr val="233B2A"/>
          </a:solidFill>
          <a:ln w="10160">
            <a:solidFill>
              <a:srgbClr val="2E4E38"/>
            </a:solidFill>
            <a:prstDash val="solid"/>
          </a:ln>
        </p:spPr>
      </p:sp>
      <p:sp>
        <p:nvSpPr>
          <p:cNvPr id="40" name="Shape 38"/>
          <p:cNvSpPr/>
          <p:nvPr/>
        </p:nvSpPr>
        <p:spPr>
          <a:xfrm>
            <a:off x="4315968" y="4782312"/>
            <a:ext cx="64008" cy="1106424"/>
          </a:xfrm>
          <a:prstGeom prst="rect">
            <a:avLst/>
          </a:prstGeom>
          <a:solidFill>
            <a:srgbClr val="B78635"/>
          </a:solidFill>
          <a:ln w="12700">
            <a:solidFill>
              <a:srgbClr val="B78635"/>
            </a:solidFill>
            <a:prstDash val="solid"/>
          </a:ln>
        </p:spPr>
      </p:sp>
      <p:sp>
        <p:nvSpPr>
          <p:cNvPr id="41" name="Text 39"/>
          <p:cNvSpPr txBox="1"/>
          <p:nvPr/>
        </p:nvSpPr>
        <p:spPr>
          <a:xfrm>
            <a:off x="4544568" y="4919472"/>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隐私与安全</a:t>
            </a:r>
            <a:endParaRPr lang="en-US" sz="1300" dirty="0"/>
          </a:p>
        </p:txBody>
      </p:sp>
      <p:sp>
        <p:nvSpPr>
          <p:cNvPr id="42" name="Text 40"/>
          <p:cNvSpPr txBox="1"/>
          <p:nvPr/>
        </p:nvSpPr>
        <p:spPr>
          <a:xfrm>
            <a:off x="4544568" y="5276088"/>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语音分析需授权；原始媒体默认删除；模型密钥不下发浏览器。</a:t>
            </a:r>
            <a:endParaRPr lang="en-US" sz="950" dirty="0"/>
          </a:p>
        </p:txBody>
      </p:sp>
      <p:sp>
        <p:nvSpPr>
          <p:cNvPr id="43" name="Shape 41"/>
          <p:cNvSpPr/>
          <p:nvPr/>
        </p:nvSpPr>
        <p:spPr>
          <a:xfrm>
            <a:off x="7973568" y="4782312"/>
            <a:ext cx="3401568" cy="1106424"/>
          </a:xfrm>
          <a:prstGeom prst="roundRect">
            <a:avLst/>
          </a:prstGeom>
          <a:solidFill>
            <a:srgbClr val="233B2A"/>
          </a:solidFill>
          <a:ln w="10160">
            <a:solidFill>
              <a:srgbClr val="2E4E38"/>
            </a:solidFill>
            <a:prstDash val="solid"/>
          </a:ln>
        </p:spPr>
      </p:sp>
      <p:sp>
        <p:nvSpPr>
          <p:cNvPr id="44" name="Shape 42"/>
          <p:cNvSpPr/>
          <p:nvPr/>
        </p:nvSpPr>
        <p:spPr>
          <a:xfrm>
            <a:off x="7973568" y="4782312"/>
            <a:ext cx="64008" cy="1106424"/>
          </a:xfrm>
          <a:prstGeom prst="rect">
            <a:avLst/>
          </a:prstGeom>
          <a:solidFill>
            <a:srgbClr val="E8734A"/>
          </a:solidFill>
          <a:ln w="12700">
            <a:solidFill>
              <a:srgbClr val="E8734A"/>
            </a:solidFill>
            <a:prstDash val="solid"/>
          </a:ln>
        </p:spPr>
      </p:sp>
      <p:sp>
        <p:nvSpPr>
          <p:cNvPr id="45" name="Text 43"/>
          <p:cNvSpPr txBox="1"/>
          <p:nvPr/>
        </p:nvSpPr>
        <p:spPr>
          <a:xfrm>
            <a:off x="8202168" y="4919472"/>
            <a:ext cx="2880360" cy="274320"/>
          </a:xfrm>
          <a:prstGeom prst="rect">
            <a:avLst/>
          </a:prstGeom>
          <a:noFill/>
        </p:spPr>
        <p:txBody>
          <a:bodyPr wrap="square" lIns="0" tIns="0" rIns="0" bIns="0" rtlCol="0" anchor="ctr">
            <a:normAutofit/>
          </a:bodyPr>
          <a:lstStyle/>
          <a:p>
            <a:pPr marL="0" indent="0" algn="l">
              <a:buNone/>
            </a:pPr>
            <a:r>
              <a:rPr lang="en-US" sz="13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工程可交付</a:t>
            </a:r>
            <a:endParaRPr lang="en-US" sz="1300" dirty="0"/>
          </a:p>
        </p:txBody>
      </p:sp>
      <p:sp>
        <p:nvSpPr>
          <p:cNvPr id="46" name="Text 44"/>
          <p:cNvSpPr txBox="1"/>
          <p:nvPr/>
        </p:nvSpPr>
        <p:spPr>
          <a:xfrm>
            <a:off x="8202168" y="5276088"/>
            <a:ext cx="2852928" cy="448056"/>
          </a:xfrm>
          <a:prstGeom prst="rect">
            <a:avLst/>
          </a:prstGeom>
          <a:noFill/>
        </p:spPr>
        <p:txBody>
          <a:bodyPr wrap="square" lIns="0" tIns="0" rIns="0" bIns="0" rtlCol="0" anchor="t">
            <a:normAutofit/>
          </a:bodyPr>
          <a:lstStyle/>
          <a:p>
            <a:pPr marL="0" indent="0" algn="l">
              <a:buNone/>
            </a:pPr>
            <a:r>
              <a:rPr lang="en-US" sz="950" dirty="0">
                <a:solidFill>
                  <a:srgbClr val="B8C9BE"/>
                </a:solidFill>
                <a:latin typeface="微软雅黑" panose="020B0503020204020204" pitchFamily="34" charset="-122"/>
                <a:ea typeface="微软雅黑" panose="020B0503020204020204" pitchFamily="34" charset="-122"/>
                <a:cs typeface="微软雅黑" panose="020B0503020204020204" pitchFamily="34" charset="-120"/>
              </a:rPr>
              <a:t>健康检查、自动恢复、部署手册、APK、测试脚本与日志齐备。</a:t>
            </a:r>
            <a:endParaRPr lang="en-US" sz="950" dirty="0"/>
          </a:p>
        </p:txBody>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sp>
        <p:nvSpPr>
          <p:cNvPr id="8" name="文本框 7"/>
          <p:cNvSpPr txBox="1"/>
          <p:nvPr/>
        </p:nvSpPr>
        <p:spPr>
          <a:xfrm>
            <a:off x="2262505" y="1315720"/>
            <a:ext cx="9304655" cy="4892675"/>
          </a:xfrm>
          <a:prstGeom prst="rect">
            <a:avLst/>
          </a:prstGeom>
          <a:noFill/>
        </p:spPr>
        <p:txBody>
          <a:bodyPr wrap="square" rtlCol="0">
            <a:spAutoFit/>
          </a:bodyPr>
          <a:p>
            <a:r>
              <a:rPr lang="en-US" altLang="zh-CN" sz="1200" b="1">
                <a:solidFill>
                  <a:schemeClr val="bg1"/>
                </a:solidFill>
              </a:rPr>
              <a:t>1. </a:t>
            </a:r>
            <a:r>
              <a:rPr lang="zh-CN" altLang="en-US" sz="1200" b="1">
                <a:solidFill>
                  <a:schemeClr val="bg1"/>
                </a:solidFill>
              </a:rPr>
              <a:t>教育经历</a:t>
            </a:r>
            <a:endParaRPr lang="zh-CN" altLang="en-US" sz="1200">
              <a:solidFill>
                <a:schemeClr val="bg1"/>
              </a:solidFill>
            </a:endParaRPr>
          </a:p>
          <a:p>
            <a:pPr marL="285750" indent="-285750">
              <a:buFont typeface="Arial" panose="020B0604020202020204" pitchFamily="34" charset="0"/>
              <a:buChar char="•"/>
            </a:pPr>
            <a:r>
              <a:rPr lang="zh-CN" altLang="en-US" sz="1200">
                <a:solidFill>
                  <a:schemeClr val="bg1"/>
                </a:solidFill>
              </a:rPr>
              <a:t>华南师范大学</a:t>
            </a:r>
            <a:r>
              <a:rPr lang="en-US" altLang="zh-CN" sz="1200">
                <a:solidFill>
                  <a:schemeClr val="bg1"/>
                </a:solidFill>
              </a:rPr>
              <a:t> </a:t>
            </a:r>
            <a:r>
              <a:rPr lang="zh-CN" altLang="en-US" sz="1200">
                <a:solidFill>
                  <a:schemeClr val="bg1"/>
                </a:solidFill>
              </a:rPr>
              <a:t>人工智能学院，软件工程专业，本科生</a:t>
            </a:r>
            <a:r>
              <a:rPr lang="en-US" altLang="zh-CN" sz="1200">
                <a:solidFill>
                  <a:schemeClr val="bg1"/>
                </a:solidFill>
              </a:rPr>
              <a:t> 2023. 9 – 2027. 7</a:t>
            </a:r>
            <a:endParaRPr lang="en-US" altLang="zh-CN" sz="1200">
              <a:solidFill>
                <a:schemeClr val="bg1"/>
              </a:solidFill>
            </a:endParaRPr>
          </a:p>
          <a:p>
            <a:pPr marL="742950" lvl="1" indent="-285750">
              <a:buFont typeface="Wingdings" panose="05000000000000000000" charset="0"/>
              <a:buChar char="n"/>
            </a:pPr>
            <a:r>
              <a:rPr lang="en-US" altLang="zh-CN" sz="1200">
                <a:solidFill>
                  <a:schemeClr val="bg1"/>
                </a:solidFill>
              </a:rPr>
              <a:t>GPA: 88</a:t>
            </a:r>
            <a:endParaRPr lang="en-US" altLang="zh-CN" sz="1200">
              <a:solidFill>
                <a:schemeClr val="bg1"/>
              </a:solidFill>
            </a:endParaRPr>
          </a:p>
          <a:p>
            <a:pPr marL="742950" lvl="1" indent="-285750">
              <a:buFont typeface="Wingdings" panose="05000000000000000000" charset="0"/>
              <a:buChar char="n"/>
            </a:pPr>
            <a:r>
              <a:rPr lang="en-US" altLang="zh-CN" sz="1200">
                <a:solidFill>
                  <a:schemeClr val="bg1"/>
                </a:solidFill>
              </a:rPr>
              <a:t>CET 6: 562</a:t>
            </a:r>
            <a:endParaRPr lang="en-US" altLang="zh-CN" sz="1200">
              <a:solidFill>
                <a:schemeClr val="bg1"/>
              </a:solidFill>
            </a:endParaRPr>
          </a:p>
          <a:p>
            <a:pPr marL="285750" indent="-285750">
              <a:buFont typeface="Arial" panose="020B0604020202020204" pitchFamily="34" charset="0"/>
              <a:buChar char="•"/>
            </a:pPr>
            <a:endParaRPr lang="en-US" altLang="zh-CN" sz="1200">
              <a:solidFill>
                <a:schemeClr val="bg1"/>
              </a:solidFill>
            </a:endParaRPr>
          </a:p>
          <a:p>
            <a:r>
              <a:rPr lang="en-US" altLang="zh-CN" sz="1200" b="1">
                <a:solidFill>
                  <a:schemeClr val="bg1"/>
                </a:solidFill>
                <a:sym typeface="+mn-ea"/>
              </a:rPr>
              <a:t>2. </a:t>
            </a:r>
            <a:r>
              <a:rPr lang="zh-CN" altLang="en-US" sz="1200" b="1">
                <a:solidFill>
                  <a:schemeClr val="bg1"/>
                </a:solidFill>
                <a:sym typeface="+mn-ea"/>
              </a:rPr>
              <a:t>科研经历</a:t>
            </a:r>
            <a:endParaRPr lang="zh-CN" altLang="en-US" sz="1200" b="1">
              <a:solidFill>
                <a:schemeClr val="bg1"/>
              </a:solidFill>
            </a:endParaRPr>
          </a:p>
          <a:p>
            <a:pPr marL="285750" indent="-285750">
              <a:buFont typeface="Arial" panose="020B0604020202020204" pitchFamily="34" charset="0"/>
              <a:buChar char="•"/>
            </a:pPr>
            <a:r>
              <a:rPr lang="en-US" altLang="zh-CN" sz="1200">
                <a:solidFill>
                  <a:schemeClr val="bg1"/>
                </a:solidFill>
              </a:rPr>
              <a:t>GRCF: Group-wise Ranking and Calibration Framework for Multimodal Sentiment Analysis</a:t>
            </a:r>
            <a:endParaRPr lang="en-US" altLang="zh-CN"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关键词：多模态情感分析、序数学习</a:t>
            </a:r>
            <a:endParaRPr lang="zh-CN" altLang="en-US"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ACMMM，</a:t>
            </a:r>
            <a:r>
              <a:rPr lang="zh-CN" altLang="en-US" sz="1200">
                <a:solidFill>
                  <a:schemeClr val="bg1"/>
                </a:solidFill>
              </a:rPr>
              <a:t>CCF-A 会议，第一作者，已录用</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Uncovering Latent Depression Severity for Binary Depression Detection via Advantage-weighting Ranking</a:t>
            </a:r>
            <a:endParaRPr lang="en-US" altLang="zh-CN" sz="1200">
              <a:solidFill>
                <a:schemeClr val="bg1"/>
              </a:solidFill>
            </a:endParaRPr>
          </a:p>
          <a:p>
            <a:pPr marL="628650" lvl="1" indent="-171450">
              <a:buFont typeface="Wingdings" panose="05000000000000000000" charset="0"/>
              <a:buChar char="n"/>
            </a:pPr>
            <a:r>
              <a:rPr lang="zh-CN" altLang="en-US" sz="1200">
                <a:solidFill>
                  <a:schemeClr val="bg1"/>
                </a:solidFill>
              </a:rPr>
              <a:t>关键词：多模态学习、情感计算、抑郁症检测、序数学习</a:t>
            </a:r>
            <a:endParaRPr lang="zh-CN" altLang="en-US" sz="1200">
              <a:solidFill>
                <a:schemeClr val="bg1"/>
              </a:solidFill>
            </a:endParaRPr>
          </a:p>
          <a:p>
            <a:pPr marL="628650" lvl="1" indent="-171450">
              <a:buFont typeface="Wingdings" panose="05000000000000000000" charset="0"/>
              <a:buChar char="n"/>
            </a:pPr>
            <a:r>
              <a:rPr lang="en-US" altLang="zh-CN" sz="1200">
                <a:solidFill>
                  <a:schemeClr val="bg1"/>
                </a:solidFill>
              </a:rPr>
              <a:t>Interspeech</a:t>
            </a:r>
            <a:r>
              <a:rPr lang="zh-CN" altLang="en-US" sz="1200">
                <a:solidFill>
                  <a:schemeClr val="bg1"/>
                </a:solidFill>
              </a:rPr>
              <a:t>，</a:t>
            </a:r>
            <a:r>
              <a:rPr lang="en-US" altLang="zh-CN" sz="1200">
                <a:solidFill>
                  <a:schemeClr val="bg1"/>
                </a:solidFill>
              </a:rPr>
              <a:t>CCF-B </a:t>
            </a:r>
            <a:r>
              <a:rPr lang="zh-CN" altLang="en-US" sz="1200">
                <a:solidFill>
                  <a:schemeClr val="bg1"/>
                </a:solidFill>
              </a:rPr>
              <a:t>会议，第一作者，已录用</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Uncertainty-Aware Collaborative System of Large and Small Models for Multimodal Sentiment Analysis</a:t>
            </a:r>
            <a:endParaRPr lang="en-US" altLang="zh-CN"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关键词：多模态情感分析、大小模型协同、不确定性感知</a:t>
            </a:r>
            <a:endParaRPr lang="zh-CN" altLang="en-US"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TAFFC, CCF-B 期刊，第二作者，在投</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PRISM: Primary-Centric Multimodal Fusion with Information Bottlenecks and Confidence-Aware Gating</a:t>
            </a:r>
            <a:endParaRPr lang="en-US" altLang="zh-CN"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关键词：多模态学习、模态融合、信息瓶颈、动态主模态选择</a:t>
            </a:r>
            <a:endParaRPr lang="zh-CN" altLang="en-US" sz="1200">
              <a:solidFill>
                <a:schemeClr val="bg1"/>
              </a:solidFill>
            </a:endParaRPr>
          </a:p>
          <a:p>
            <a:pPr marL="628650" lvl="1" indent="-171450" algn="l">
              <a:buClrTx/>
              <a:buSzTx/>
              <a:buFont typeface="Wingdings" panose="05000000000000000000" charset="0"/>
              <a:buChar char="n"/>
            </a:pPr>
            <a:r>
              <a:rPr lang="zh-CN" altLang="en-US" sz="1200">
                <a:solidFill>
                  <a:schemeClr val="bg1"/>
                </a:solidFill>
              </a:rPr>
              <a:t>EMNLP，</a:t>
            </a:r>
            <a:r>
              <a:rPr lang="zh-CN" altLang="en-US" sz="1200">
                <a:solidFill>
                  <a:schemeClr val="bg1"/>
                </a:solidFill>
              </a:rPr>
              <a:t>CCF-B 会议，第二作者，在投</a:t>
            </a:r>
            <a:endParaRPr lang="zh-CN" altLang="en-US" sz="1200">
              <a:solidFill>
                <a:schemeClr val="bg1"/>
              </a:solidFill>
            </a:endParaRPr>
          </a:p>
          <a:p>
            <a:pPr marL="628650" lvl="1" indent="-171450" algn="l">
              <a:buClrTx/>
              <a:buSzTx/>
              <a:buFont typeface="Wingdings" panose="05000000000000000000" charset="0"/>
              <a:buChar char="n"/>
            </a:pPr>
            <a:endParaRPr lang="zh-CN" altLang="en-US" sz="1200">
              <a:solidFill>
                <a:schemeClr val="bg1"/>
              </a:solidFill>
            </a:endParaRPr>
          </a:p>
          <a:p>
            <a:pPr marL="0" lvl="1" algn="l">
              <a:buClrTx/>
              <a:buSzTx/>
              <a:buFontTx/>
            </a:pPr>
            <a:r>
              <a:rPr lang="en-US" altLang="zh-CN" sz="1200" b="1">
                <a:solidFill>
                  <a:schemeClr val="bg1"/>
                </a:solidFill>
                <a:sym typeface="+mn-ea"/>
              </a:rPr>
              <a:t>3. </a:t>
            </a:r>
            <a:r>
              <a:rPr lang="zh-CN" altLang="en-US" sz="1200" b="1">
                <a:solidFill>
                  <a:schemeClr val="bg1"/>
                </a:solidFill>
                <a:sym typeface="+mn-ea"/>
              </a:rPr>
              <a:t>竞赛</a:t>
            </a:r>
            <a:r>
              <a:rPr lang="en-US" altLang="zh-CN" sz="1200" b="1">
                <a:solidFill>
                  <a:schemeClr val="bg1"/>
                </a:solidFill>
                <a:sym typeface="+mn-ea"/>
              </a:rPr>
              <a:t>经历</a:t>
            </a:r>
            <a:endParaRPr lang="en-US" altLang="zh-CN" sz="1200" b="1">
              <a:solidFill>
                <a:schemeClr val="bg1"/>
              </a:solidFill>
              <a:sym typeface="+mn-ea"/>
            </a:endParaRPr>
          </a:p>
          <a:p>
            <a:pPr marL="285750" lvl="1" indent="-285750" algn="l">
              <a:buClrTx/>
              <a:buSzTx/>
              <a:buFont typeface="Arial" panose="020B0604020202020204" pitchFamily="34" charset="0"/>
              <a:buChar char="•"/>
            </a:pPr>
            <a:r>
              <a:rPr lang="zh-CN" altLang="en-US" sz="1200">
                <a:solidFill>
                  <a:schemeClr val="bg1"/>
                </a:solidFill>
              </a:rPr>
              <a:t>2025年全国大学生数学建模比赛省级一等奖</a:t>
            </a:r>
            <a:endParaRPr lang="zh-CN" altLang="en-US" sz="1200">
              <a:solidFill>
                <a:schemeClr val="bg1"/>
              </a:solidFill>
            </a:endParaRPr>
          </a:p>
          <a:p>
            <a:pPr marL="285750" lvl="1" indent="-285750" algn="l">
              <a:buClrTx/>
              <a:buSzTx/>
              <a:buFont typeface="Arial" panose="020B0604020202020204" pitchFamily="34" charset="0"/>
              <a:buChar char="•"/>
            </a:pPr>
            <a:r>
              <a:rPr lang="zh-CN" altLang="en-US" sz="1200">
                <a:solidFill>
                  <a:schemeClr val="bg1"/>
                </a:solidFill>
              </a:rPr>
              <a:t>2026年中国计算机设计大赛省级二等奖</a:t>
            </a:r>
            <a:endParaRPr lang="zh-CN" altLang="en-US" sz="1200">
              <a:solidFill>
                <a:schemeClr val="bg1"/>
              </a:solidFill>
            </a:endParaRPr>
          </a:p>
          <a:p>
            <a:pPr marL="285750" lvl="1" indent="-285750" algn="l">
              <a:buClrTx/>
              <a:buSzTx/>
              <a:buFont typeface="Arial" panose="020B0604020202020204" pitchFamily="34" charset="0"/>
              <a:buChar char="•"/>
            </a:pPr>
            <a:r>
              <a:rPr lang="zh-CN" altLang="en-US" sz="1200">
                <a:solidFill>
                  <a:schemeClr val="bg1"/>
                </a:solidFill>
              </a:rPr>
              <a:t>2026年中国高校计算机网络技术挑战赛省级二等奖</a:t>
            </a:r>
            <a:endParaRPr lang="zh-CN" altLang="en-US" sz="1200">
              <a:solidFill>
                <a:schemeClr val="bg1"/>
              </a:solidFill>
            </a:endParaRPr>
          </a:p>
          <a:p>
            <a:pPr marL="285750" lvl="1" indent="-285750" algn="l">
              <a:buClrTx/>
              <a:buSzTx/>
              <a:buFont typeface="Arial" panose="020B0604020202020204" pitchFamily="34" charset="0"/>
              <a:buChar char="•"/>
            </a:pPr>
            <a:r>
              <a:rPr lang="zh-CN" altLang="en-US" sz="1200">
                <a:solidFill>
                  <a:schemeClr val="bg1"/>
                </a:solidFill>
              </a:rPr>
              <a:t>2026年蓝桥杯全国大学生软件和信息技术大赛数字科技创新赛省级二等奖</a:t>
            </a:r>
            <a:endParaRPr lang="zh-CN" altLang="en-US" sz="1200">
              <a:solidFill>
                <a:schemeClr val="bg1"/>
              </a:solidFill>
            </a:endParaRPr>
          </a:p>
          <a:p>
            <a:pPr marL="628650" lvl="1" indent="-171450" algn="l">
              <a:buClrTx/>
              <a:buSzTx/>
              <a:buFont typeface="Wingdings" panose="05000000000000000000" charset="0"/>
              <a:buChar char="n"/>
            </a:pPr>
            <a:endParaRPr lang="zh-CN" altLang="en-US" sz="1200">
              <a:solidFill>
                <a:schemeClr val="bg1"/>
              </a:solidFill>
            </a:endParaRPr>
          </a:p>
          <a:p>
            <a:pPr marL="0" lvl="1" algn="l">
              <a:buClrTx/>
              <a:buSzTx/>
              <a:buFontTx/>
            </a:pP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高曼宁</a:t>
            </a:r>
            <a:endParaRPr lang="zh-CN" altLang="en-US">
              <a:solidFill>
                <a:schemeClr val="bg1"/>
              </a:solidFill>
            </a:endParaRPr>
          </a:p>
        </p:txBody>
      </p:sp>
      <p:pic>
        <p:nvPicPr>
          <p:cNvPr id="10" name="图片 9"/>
          <p:cNvPicPr>
            <a:picLocks noChangeAspect="1"/>
          </p:cNvPicPr>
          <p:nvPr/>
        </p:nvPicPr>
        <p:blipFill>
          <a:blip r:embed="rId1"/>
          <a:stretch>
            <a:fillRect/>
          </a:stretch>
        </p:blipFill>
        <p:spPr>
          <a:xfrm>
            <a:off x="563245" y="1333500"/>
            <a:ext cx="1358265" cy="16751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sp>
        <p:nvSpPr>
          <p:cNvPr id="8" name="文本框 7"/>
          <p:cNvSpPr txBox="1"/>
          <p:nvPr/>
        </p:nvSpPr>
        <p:spPr>
          <a:xfrm>
            <a:off x="2262505" y="1315720"/>
            <a:ext cx="9304655" cy="4523105"/>
          </a:xfrm>
          <a:prstGeom prst="rect">
            <a:avLst/>
          </a:prstGeom>
          <a:noFill/>
        </p:spPr>
        <p:txBody>
          <a:bodyPr wrap="square" rtlCol="0">
            <a:spAutoFit/>
          </a:bodyPr>
          <a:p>
            <a:r>
              <a:rPr lang="en-US" altLang="zh-CN" sz="1200" b="1">
                <a:solidFill>
                  <a:schemeClr val="bg1"/>
                </a:solidFill>
              </a:rPr>
              <a:t>4. </a:t>
            </a:r>
            <a:r>
              <a:rPr lang="zh-CN" altLang="en-US" sz="1200" b="1">
                <a:solidFill>
                  <a:schemeClr val="bg1"/>
                </a:solidFill>
              </a:rPr>
              <a:t>项目经历</a:t>
            </a:r>
            <a:endParaRPr lang="zh-CN" altLang="en-US" sz="1200">
              <a:solidFill>
                <a:schemeClr val="bg1"/>
              </a:solidFill>
            </a:endParaRPr>
          </a:p>
          <a:p>
            <a:pPr marL="171450" lvl="1" indent="-171450" algn="l">
              <a:buClrTx/>
              <a:buSzTx/>
              <a:buFont typeface="Arial" panose="020B0604020202020204" pitchFamily="34" charset="0"/>
              <a:buChar char="•"/>
            </a:pPr>
            <a:r>
              <a:rPr lang="zh-CN" altLang="en-US" sz="1200">
                <a:solidFill>
                  <a:schemeClr val="bg1"/>
                </a:solidFill>
              </a:rPr>
              <a:t>基于</a:t>
            </a:r>
            <a:r>
              <a:rPr lang="en-US" altLang="zh-CN" sz="1200">
                <a:solidFill>
                  <a:schemeClr val="bg1"/>
                </a:solidFill>
              </a:rPr>
              <a:t> YOLO </a:t>
            </a:r>
            <a:r>
              <a:rPr lang="zh-CN" altLang="en-US" sz="1200">
                <a:solidFill>
                  <a:schemeClr val="bg1"/>
                </a:solidFill>
              </a:rPr>
              <a:t>模型的离线轻量级餐饮环境不合规行为检测与管理</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国家级大学生创新创业训练计划</a:t>
            </a:r>
            <a:r>
              <a:rPr lang="en-US" altLang="zh-CN" sz="1200">
                <a:solidFill>
                  <a:schemeClr val="bg1"/>
                </a:solidFill>
              </a:rPr>
              <a:t> (</a:t>
            </a:r>
            <a:r>
              <a:rPr lang="zh-CN" altLang="en-US" sz="1200">
                <a:solidFill>
                  <a:schemeClr val="bg1"/>
                </a:solidFill>
              </a:rPr>
              <a:t>结题良好</a:t>
            </a:r>
            <a:r>
              <a:rPr lang="en-US" altLang="zh-CN" sz="1200">
                <a:solidFill>
                  <a:schemeClr val="bg1"/>
                </a:solidFill>
              </a:rPr>
              <a:t>) | </a:t>
            </a:r>
            <a:r>
              <a:rPr lang="zh-CN" altLang="en-US" sz="1200">
                <a:solidFill>
                  <a:schemeClr val="bg1"/>
                </a:solidFill>
              </a:rPr>
              <a:t>第二成员</a:t>
            </a:r>
            <a:r>
              <a:rPr lang="en-US" altLang="zh-CN" sz="1200">
                <a:solidFill>
                  <a:schemeClr val="bg1"/>
                </a:solidFill>
              </a:rPr>
              <a:t> | </a:t>
            </a:r>
            <a:r>
              <a:rPr lang="zh-CN" altLang="en-US" sz="1200">
                <a:solidFill>
                  <a:schemeClr val="bg1"/>
                </a:solidFill>
              </a:rPr>
              <a:t>蔡礼华教授指导</a:t>
            </a:r>
            <a:r>
              <a:rPr lang="en-US" altLang="zh-CN" sz="1200">
                <a:solidFill>
                  <a:schemeClr val="bg1"/>
                </a:solidFill>
              </a:rPr>
              <a:t> 2025.4 – 2026.4</a:t>
            </a:r>
            <a:endParaRPr lang="en-US" altLang="zh-CN"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提出改进的</a:t>
            </a:r>
            <a:r>
              <a:rPr lang="en-US" altLang="zh-CN" sz="1200">
                <a:solidFill>
                  <a:schemeClr val="bg1"/>
                </a:solidFill>
              </a:rPr>
              <a:t>YOLO11n</a:t>
            </a:r>
            <a:r>
              <a:rPr lang="zh-CN" altLang="en-US" sz="1200">
                <a:solidFill>
                  <a:schemeClr val="bg1"/>
                </a:solidFill>
              </a:rPr>
              <a:t>架构（</a:t>
            </a:r>
            <a:r>
              <a:rPr lang="en-US" altLang="zh-CN" sz="1200">
                <a:solidFill>
                  <a:schemeClr val="bg1"/>
                </a:solidFill>
              </a:rPr>
              <a:t>P2</a:t>
            </a:r>
            <a:r>
              <a:rPr lang="zh-CN" altLang="en-US" sz="1200">
                <a:solidFill>
                  <a:schemeClr val="bg1"/>
                </a:solidFill>
              </a:rPr>
              <a:t>高分辨率检测头、</a:t>
            </a:r>
            <a:r>
              <a:rPr lang="en-US" altLang="zh-CN" sz="1200">
                <a:solidFill>
                  <a:schemeClr val="bg1"/>
                </a:solidFill>
              </a:rPr>
              <a:t>C2fAdvanced</a:t>
            </a:r>
            <a:r>
              <a:rPr lang="zh-CN" altLang="en-US" sz="1200">
                <a:solidFill>
                  <a:schemeClr val="bg1"/>
                </a:solidFill>
              </a:rPr>
              <a:t>特征提取模块、</a:t>
            </a:r>
            <a:r>
              <a:rPr lang="en-US" altLang="zh-CN" sz="1200">
                <a:solidFill>
                  <a:schemeClr val="bg1"/>
                </a:solidFill>
              </a:rPr>
              <a:t>v10</a:t>
            </a:r>
            <a:r>
              <a:rPr lang="zh-CN" altLang="en-US" sz="1200">
                <a:solidFill>
                  <a:schemeClr val="bg1"/>
                </a:solidFill>
              </a:rPr>
              <a:t>检测头），以解决复杂餐饮场景中小目标易漏检的局限性。</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有效提升了小目标检测的性能，</a:t>
            </a:r>
            <a:r>
              <a:rPr lang="en-US" altLang="zh-CN" sz="1200">
                <a:solidFill>
                  <a:schemeClr val="bg1"/>
                </a:solidFill>
              </a:rPr>
              <a:t>mAP50</a:t>
            </a:r>
            <a:r>
              <a:rPr lang="zh-CN" altLang="en-US" sz="1200">
                <a:solidFill>
                  <a:schemeClr val="bg1"/>
                </a:solidFill>
              </a:rPr>
              <a:t>从</a:t>
            </a:r>
            <a:r>
              <a:rPr lang="en-US" altLang="zh-CN" sz="1200">
                <a:solidFill>
                  <a:schemeClr val="bg1"/>
                </a:solidFill>
              </a:rPr>
              <a:t>62.2%</a:t>
            </a:r>
            <a:r>
              <a:rPr lang="zh-CN" altLang="en-US" sz="1200">
                <a:solidFill>
                  <a:schemeClr val="bg1"/>
                </a:solidFill>
              </a:rPr>
              <a:t>提升到</a:t>
            </a:r>
            <a:r>
              <a:rPr lang="en-US" altLang="zh-CN" sz="1200">
                <a:solidFill>
                  <a:schemeClr val="bg1"/>
                </a:solidFill>
              </a:rPr>
              <a:t>65.5%</a:t>
            </a:r>
            <a:r>
              <a:rPr lang="zh-CN" altLang="en-US" sz="1200">
                <a:solidFill>
                  <a:schemeClr val="bg1"/>
                </a:solidFill>
              </a:rPr>
              <a:t>，参数从</a:t>
            </a:r>
            <a:r>
              <a:rPr lang="en-US" altLang="zh-CN" sz="1200">
                <a:solidFill>
                  <a:schemeClr val="bg1"/>
                </a:solidFill>
              </a:rPr>
              <a:t>2.59M</a:t>
            </a:r>
            <a:r>
              <a:rPr lang="zh-CN" altLang="en-US" sz="1200">
                <a:solidFill>
                  <a:schemeClr val="bg1"/>
                </a:solidFill>
              </a:rPr>
              <a:t>减少到</a:t>
            </a:r>
            <a:r>
              <a:rPr lang="en-US" altLang="zh-CN" sz="1200">
                <a:solidFill>
                  <a:schemeClr val="bg1"/>
                </a:solidFill>
              </a:rPr>
              <a:t>2.30M</a:t>
            </a:r>
            <a:r>
              <a:rPr lang="zh-CN" altLang="en-US" sz="1200">
                <a:solidFill>
                  <a:schemeClr val="bg1"/>
                </a:solidFill>
              </a:rPr>
              <a:t>，延迟从</a:t>
            </a:r>
            <a:r>
              <a:rPr lang="en-US" altLang="zh-CN" sz="1200">
                <a:solidFill>
                  <a:schemeClr val="bg1"/>
                </a:solidFill>
              </a:rPr>
              <a:t>1.3ms</a:t>
            </a:r>
            <a:r>
              <a:rPr lang="zh-CN" altLang="en-US" sz="1200">
                <a:solidFill>
                  <a:schemeClr val="bg1"/>
                </a:solidFill>
              </a:rPr>
              <a:t>降低到</a:t>
            </a:r>
            <a:r>
              <a:rPr lang="en-US" altLang="zh-CN" sz="1200">
                <a:solidFill>
                  <a:schemeClr val="bg1"/>
                </a:solidFill>
              </a:rPr>
              <a:t>1.2ms</a:t>
            </a:r>
            <a:r>
              <a:rPr lang="zh-CN" altLang="en-US" sz="1200">
                <a:solidFill>
                  <a:schemeClr val="bg1"/>
                </a:solidFill>
              </a:rPr>
              <a:t>。</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获得软件著作权，开发</a:t>
            </a:r>
            <a:r>
              <a:rPr lang="en-US" altLang="zh-CN" sz="1200">
                <a:solidFill>
                  <a:schemeClr val="bg1"/>
                </a:solidFill>
              </a:rPr>
              <a:t>Web</a:t>
            </a:r>
            <a:r>
              <a:rPr lang="zh-CN" altLang="en-US" sz="1200">
                <a:solidFill>
                  <a:schemeClr val="bg1"/>
                </a:solidFill>
              </a:rPr>
              <a:t>应用程序来显示实时监控和可视化数据和检测结果，并接入大模型对检测结果进行分析。</a:t>
            </a:r>
            <a:endParaRPr lang="zh-CN" altLang="en-US" sz="1200">
              <a:solidFill>
                <a:schemeClr val="bg1"/>
              </a:solidFill>
            </a:endParaRPr>
          </a:p>
          <a:p>
            <a:pPr marL="171450" lvl="1" indent="-171450" algn="l">
              <a:buClrTx/>
              <a:buSzTx/>
              <a:buFont typeface="Arial" panose="020B0604020202020204" pitchFamily="34" charset="0"/>
              <a:buChar char="•"/>
            </a:pPr>
            <a:r>
              <a:rPr lang="zh-CN" altLang="en-US" sz="1200">
                <a:solidFill>
                  <a:schemeClr val="bg1"/>
                </a:solidFill>
              </a:rPr>
              <a:t>面向</a:t>
            </a:r>
            <a:r>
              <a:rPr lang="en-US" altLang="zh-CN" sz="1200">
                <a:solidFill>
                  <a:schemeClr val="bg1"/>
                </a:solidFill>
              </a:rPr>
              <a:t>AI</a:t>
            </a:r>
            <a:r>
              <a:rPr lang="zh-CN" altLang="en-US" sz="1200">
                <a:solidFill>
                  <a:schemeClr val="bg1"/>
                </a:solidFill>
              </a:rPr>
              <a:t>下棋的具身智能机械臂</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金种子重点项目</a:t>
            </a:r>
            <a:r>
              <a:rPr lang="en-US" altLang="zh-CN" sz="1200">
                <a:solidFill>
                  <a:schemeClr val="bg1"/>
                </a:solidFill>
              </a:rPr>
              <a:t> (</a:t>
            </a:r>
            <a:r>
              <a:rPr lang="zh-CN" altLang="en-US" sz="1200">
                <a:solidFill>
                  <a:schemeClr val="bg1"/>
                </a:solidFill>
              </a:rPr>
              <a:t>结题优秀</a:t>
            </a:r>
            <a:r>
              <a:rPr lang="en-US" altLang="zh-CN" sz="1200">
                <a:solidFill>
                  <a:schemeClr val="bg1"/>
                </a:solidFill>
              </a:rPr>
              <a:t>) | </a:t>
            </a:r>
            <a:r>
              <a:rPr lang="zh-CN" altLang="en-US" sz="1200">
                <a:solidFill>
                  <a:schemeClr val="bg1"/>
                </a:solidFill>
              </a:rPr>
              <a:t>负责人</a:t>
            </a:r>
            <a:r>
              <a:rPr lang="en-US" altLang="zh-CN" sz="1200">
                <a:solidFill>
                  <a:schemeClr val="bg1"/>
                </a:solidFill>
              </a:rPr>
              <a:t> | </a:t>
            </a:r>
            <a:r>
              <a:rPr lang="zh-CN" altLang="en-US" sz="1200">
                <a:solidFill>
                  <a:schemeClr val="bg1"/>
                </a:solidFill>
              </a:rPr>
              <a:t>麦思杰教授指导</a:t>
            </a:r>
            <a:r>
              <a:rPr lang="en-US" altLang="zh-CN" sz="1200">
                <a:solidFill>
                  <a:schemeClr val="bg1"/>
                </a:solidFill>
              </a:rPr>
              <a:t> 2025.4 – 2026.4</a:t>
            </a:r>
            <a:endParaRPr lang="en-US" altLang="zh-CN"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基于规则（如棋子靠近网格点等）改进霍夫变换算法，识别棋子坐标。</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基于大模型</a:t>
            </a:r>
            <a:r>
              <a:rPr lang="en-US" altLang="zh-CN" sz="1200">
                <a:solidFill>
                  <a:schemeClr val="bg1"/>
                </a:solidFill>
              </a:rPr>
              <a:t>API</a:t>
            </a:r>
            <a:r>
              <a:rPr lang="zh-CN" altLang="en-US" sz="1200">
                <a:solidFill>
                  <a:schemeClr val="bg1"/>
                </a:solidFill>
              </a:rPr>
              <a:t>构建下棋决策思路数据集；基于</a:t>
            </a:r>
            <a:r>
              <a:rPr lang="en-US" altLang="zh-CN" sz="1200">
                <a:solidFill>
                  <a:schemeClr val="bg1"/>
                </a:solidFill>
              </a:rPr>
              <a:t>KataGo</a:t>
            </a:r>
            <a:r>
              <a:rPr lang="zh-CN" altLang="en-US" sz="1200">
                <a:solidFill>
                  <a:schemeClr val="bg1"/>
                </a:solidFill>
              </a:rPr>
              <a:t>引擎，使用</a:t>
            </a:r>
            <a:r>
              <a:rPr lang="en-US" altLang="zh-CN" sz="1200">
                <a:solidFill>
                  <a:schemeClr val="bg1"/>
                </a:solidFill>
              </a:rPr>
              <a:t>SFT</a:t>
            </a:r>
            <a:r>
              <a:rPr lang="zh-CN" altLang="en-US" sz="1200">
                <a:solidFill>
                  <a:schemeClr val="bg1"/>
                </a:solidFill>
              </a:rPr>
              <a:t>和知识蒸馏来训练大语言模型。</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调用</a:t>
            </a:r>
            <a:r>
              <a:rPr lang="en-US" altLang="zh-CN" sz="1200">
                <a:solidFill>
                  <a:schemeClr val="bg1"/>
                </a:solidFill>
              </a:rPr>
              <a:t>Whisper</a:t>
            </a:r>
            <a:r>
              <a:rPr lang="zh-CN" altLang="en-US" sz="1200">
                <a:solidFill>
                  <a:schemeClr val="bg1"/>
                </a:solidFill>
              </a:rPr>
              <a:t>大模型识别用户语音命令，计算编辑距离进行模糊匹配。</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获得软件著作权，基于</a:t>
            </a:r>
            <a:r>
              <a:rPr lang="en-US" altLang="zh-CN" sz="1200">
                <a:solidFill>
                  <a:schemeClr val="bg1"/>
                </a:solidFill>
              </a:rPr>
              <a:t>myCobot 280 pi-6</a:t>
            </a:r>
            <a:r>
              <a:rPr lang="zh-CN" altLang="en-US" sz="1200">
                <a:solidFill>
                  <a:schemeClr val="bg1"/>
                </a:solidFill>
              </a:rPr>
              <a:t>机械臂开发</a:t>
            </a:r>
            <a:r>
              <a:rPr lang="en-US" altLang="zh-CN" sz="1200">
                <a:solidFill>
                  <a:schemeClr val="bg1"/>
                </a:solidFill>
              </a:rPr>
              <a:t>Linux</a:t>
            </a:r>
            <a:r>
              <a:rPr lang="zh-CN" altLang="en-US" sz="1200">
                <a:solidFill>
                  <a:schemeClr val="bg1"/>
                </a:solidFill>
              </a:rPr>
              <a:t>应用程序。</a:t>
            </a:r>
            <a:endParaRPr lang="zh-CN" altLang="en-US" sz="1200">
              <a:solidFill>
                <a:schemeClr val="bg1"/>
              </a:solidFill>
            </a:endParaRPr>
          </a:p>
          <a:p>
            <a:pPr marL="171450" lvl="1" indent="-171450" algn="l">
              <a:buClrTx/>
              <a:buSzTx/>
              <a:buFont typeface="Arial" panose="020B0604020202020204" pitchFamily="34" charset="0"/>
              <a:buChar char="•"/>
            </a:pPr>
            <a:r>
              <a:rPr lang="zh-CN" altLang="en-US" sz="1200">
                <a:solidFill>
                  <a:schemeClr val="bg1"/>
                </a:solidFill>
              </a:rPr>
              <a:t>心晴伙伴</a:t>
            </a:r>
            <a:r>
              <a:rPr lang="en-US" altLang="zh-CN" sz="1200">
                <a:solidFill>
                  <a:schemeClr val="bg1"/>
                </a:solidFill>
              </a:rPr>
              <a:t>——</a:t>
            </a:r>
            <a:r>
              <a:rPr lang="zh-CN" altLang="en-US" sz="1200">
                <a:solidFill>
                  <a:schemeClr val="bg1"/>
                </a:solidFill>
              </a:rPr>
              <a:t>基于多模态检测与</a:t>
            </a:r>
            <a:r>
              <a:rPr lang="en-US" altLang="zh-CN" sz="1200">
                <a:solidFill>
                  <a:schemeClr val="bg1"/>
                </a:solidFill>
              </a:rPr>
              <a:t>REBT</a:t>
            </a:r>
            <a:r>
              <a:rPr lang="zh-CN" altLang="en-US" sz="1200">
                <a:solidFill>
                  <a:schemeClr val="bg1"/>
                </a:solidFill>
              </a:rPr>
              <a:t>疗法干预的</a:t>
            </a:r>
            <a:r>
              <a:rPr lang="en-US" altLang="zh-CN" sz="1200">
                <a:solidFill>
                  <a:schemeClr val="bg1"/>
                </a:solidFill>
              </a:rPr>
              <a:t>AI</a:t>
            </a:r>
            <a:r>
              <a:rPr lang="zh-CN" altLang="en-US" sz="1200">
                <a:solidFill>
                  <a:schemeClr val="bg1"/>
                </a:solidFill>
              </a:rPr>
              <a:t>心理疗愈系统</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金种子重点项目</a:t>
            </a:r>
            <a:r>
              <a:rPr lang="en-US" altLang="zh-CN" sz="1200">
                <a:solidFill>
                  <a:schemeClr val="bg1"/>
                </a:solidFill>
              </a:rPr>
              <a:t> | </a:t>
            </a:r>
            <a:r>
              <a:rPr lang="zh-CN" altLang="en-US" sz="1200">
                <a:solidFill>
                  <a:schemeClr val="bg1"/>
                </a:solidFill>
              </a:rPr>
              <a:t>第二成员</a:t>
            </a:r>
            <a:r>
              <a:rPr lang="en-US" altLang="zh-CN" sz="1200">
                <a:solidFill>
                  <a:schemeClr val="bg1"/>
                </a:solidFill>
              </a:rPr>
              <a:t> | </a:t>
            </a:r>
            <a:r>
              <a:rPr lang="zh-CN" altLang="en-US" sz="1200">
                <a:solidFill>
                  <a:schemeClr val="bg1"/>
                </a:solidFill>
              </a:rPr>
              <a:t>麦思杰教授指导</a:t>
            </a:r>
            <a:r>
              <a:rPr lang="en-US" altLang="zh-CN" sz="1200">
                <a:solidFill>
                  <a:schemeClr val="bg1"/>
                </a:solidFill>
              </a:rPr>
              <a:t> 2026.4 – </a:t>
            </a:r>
            <a:r>
              <a:rPr lang="zh-CN" altLang="en-US" sz="1200">
                <a:solidFill>
                  <a:schemeClr val="bg1"/>
                </a:solidFill>
              </a:rPr>
              <a:t>至今</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基于约束损失函数针对多任务训练</a:t>
            </a:r>
            <a:r>
              <a:rPr lang="en-US" altLang="zh-CN" sz="1200">
                <a:solidFill>
                  <a:schemeClr val="bg1"/>
                </a:solidFill>
              </a:rPr>
              <a:t>LoRA</a:t>
            </a:r>
            <a:r>
              <a:rPr lang="zh-CN" altLang="en-US" sz="1200">
                <a:solidFill>
                  <a:schemeClr val="bg1"/>
                </a:solidFill>
              </a:rPr>
              <a:t>适配器，实现情绪识别的多分类任务和焦虑</a:t>
            </a:r>
            <a:r>
              <a:rPr lang="en-US" altLang="zh-CN" sz="1200">
                <a:solidFill>
                  <a:schemeClr val="bg1"/>
                </a:solidFill>
              </a:rPr>
              <a:t>/</a:t>
            </a:r>
            <a:r>
              <a:rPr lang="zh-CN" altLang="en-US" sz="1200">
                <a:solidFill>
                  <a:schemeClr val="bg1"/>
                </a:solidFill>
              </a:rPr>
              <a:t>压力</a:t>
            </a:r>
            <a:r>
              <a:rPr lang="en-US" altLang="zh-CN" sz="1200">
                <a:solidFill>
                  <a:schemeClr val="bg1"/>
                </a:solidFill>
              </a:rPr>
              <a:t>/</a:t>
            </a:r>
            <a:r>
              <a:rPr lang="zh-CN" altLang="en-US" sz="1200">
                <a:solidFill>
                  <a:schemeClr val="bg1"/>
                </a:solidFill>
              </a:rPr>
              <a:t>抑郁检测的二分类任务。</a:t>
            </a:r>
            <a:endParaRPr lang="zh-CN" altLang="en-US" sz="1200">
              <a:solidFill>
                <a:schemeClr val="bg1"/>
              </a:solidFill>
            </a:endParaRPr>
          </a:p>
          <a:p>
            <a:pPr marL="628650" lvl="2" indent="-171450" algn="l">
              <a:buClrTx/>
              <a:buSzTx/>
              <a:buFont typeface="Wingdings" panose="05000000000000000000" charset="0"/>
              <a:buChar char="n"/>
            </a:pPr>
            <a:r>
              <a:rPr lang="zh-CN" altLang="en-US" sz="1200">
                <a:solidFill>
                  <a:schemeClr val="bg1"/>
                </a:solidFill>
              </a:rPr>
              <a:t>基于</a:t>
            </a:r>
            <a:r>
              <a:rPr lang="en-US" altLang="zh-CN" sz="1200">
                <a:solidFill>
                  <a:schemeClr val="bg1"/>
                </a:solidFill>
              </a:rPr>
              <a:t>REBT</a:t>
            </a:r>
            <a:r>
              <a:rPr lang="zh-CN" altLang="en-US" sz="1200">
                <a:solidFill>
                  <a:schemeClr val="bg1"/>
                </a:solidFill>
              </a:rPr>
              <a:t>干预原则，结合</a:t>
            </a:r>
            <a:r>
              <a:rPr lang="en-US" altLang="zh-CN" sz="1200">
                <a:solidFill>
                  <a:schemeClr val="bg1"/>
                </a:solidFill>
              </a:rPr>
              <a:t>GDPO</a:t>
            </a:r>
            <a:r>
              <a:rPr lang="zh-CN" altLang="en-US" sz="1200">
                <a:solidFill>
                  <a:schemeClr val="bg1"/>
                </a:solidFill>
              </a:rPr>
              <a:t>，设计多维奖励函数体系来训练干预模型。</a:t>
            </a:r>
            <a:endParaRPr lang="zh-CN" altLang="en-US" sz="1200">
              <a:solidFill>
                <a:schemeClr val="bg1"/>
              </a:solidFill>
            </a:endParaRPr>
          </a:p>
          <a:p>
            <a:pPr marL="628650" lvl="2" indent="-171450" algn="l">
              <a:buClrTx/>
              <a:buSzTx/>
              <a:buFont typeface="Wingdings" panose="05000000000000000000" charset="0"/>
              <a:buChar char="n"/>
            </a:pPr>
            <a:endParaRPr lang="zh-CN" altLang="en-US" sz="1200">
              <a:solidFill>
                <a:schemeClr val="bg1"/>
              </a:solidFill>
            </a:endParaRPr>
          </a:p>
          <a:p>
            <a:pPr marL="0" lvl="2" algn="l">
              <a:buClrTx/>
              <a:buSzTx/>
              <a:buFontTx/>
            </a:pPr>
            <a:r>
              <a:rPr lang="en-US" altLang="zh-CN" sz="1200" b="1">
                <a:solidFill>
                  <a:schemeClr val="bg1"/>
                </a:solidFill>
                <a:sym typeface="+mn-ea"/>
              </a:rPr>
              <a:t>5. </a:t>
            </a:r>
            <a:r>
              <a:rPr lang="zh-CN" altLang="en-US" sz="1200" b="1">
                <a:solidFill>
                  <a:schemeClr val="bg1"/>
                </a:solidFill>
                <a:sym typeface="+mn-ea"/>
              </a:rPr>
              <a:t>实习</a:t>
            </a:r>
            <a:r>
              <a:rPr lang="en-US" altLang="zh-CN" sz="1200" b="1">
                <a:solidFill>
                  <a:schemeClr val="bg1"/>
                </a:solidFill>
                <a:sym typeface="+mn-ea"/>
              </a:rPr>
              <a:t>经历</a:t>
            </a:r>
            <a:endParaRPr lang="en-US" altLang="zh-CN" sz="1200" b="1">
              <a:solidFill>
                <a:schemeClr val="bg1"/>
              </a:solidFill>
              <a:sym typeface="+mn-ea"/>
            </a:endParaRPr>
          </a:p>
          <a:p>
            <a:pPr marL="171450" lvl="2" indent="-171450" algn="l">
              <a:buClrTx/>
              <a:buSzTx/>
              <a:buFont typeface="Arial" panose="020B0604020202020204" pitchFamily="34" charset="0"/>
              <a:buChar char="•"/>
            </a:pPr>
            <a:r>
              <a:rPr lang="zh-CN" altLang="en-US" sz="1200">
                <a:solidFill>
                  <a:schemeClr val="bg1"/>
                </a:solidFill>
              </a:rPr>
              <a:t>思爱普</a:t>
            </a:r>
            <a:r>
              <a:rPr lang="en-US" altLang="zh-CN" sz="1200">
                <a:solidFill>
                  <a:schemeClr val="bg1"/>
                </a:solidFill>
              </a:rPr>
              <a:t> (SAP)</a:t>
            </a:r>
            <a:r>
              <a:rPr lang="zh-CN" altLang="en-US" sz="1200">
                <a:solidFill>
                  <a:schemeClr val="bg1"/>
                </a:solidFill>
              </a:rPr>
              <a:t>中国研究院</a:t>
            </a:r>
            <a:r>
              <a:rPr lang="en-US" altLang="zh-CN" sz="1200">
                <a:solidFill>
                  <a:schemeClr val="bg1"/>
                </a:solidFill>
              </a:rPr>
              <a:t>, </a:t>
            </a:r>
            <a:r>
              <a:rPr lang="zh-CN" altLang="en-US" sz="1200">
                <a:solidFill>
                  <a:schemeClr val="bg1"/>
                </a:solidFill>
              </a:rPr>
              <a:t>上海</a:t>
            </a:r>
            <a:r>
              <a:rPr lang="en-US" altLang="zh-CN" sz="1200">
                <a:solidFill>
                  <a:schemeClr val="bg1"/>
                </a:solidFill>
              </a:rPr>
              <a:t> iXp </a:t>
            </a:r>
            <a:r>
              <a:rPr lang="zh-CN" altLang="en-US" sz="1200">
                <a:solidFill>
                  <a:schemeClr val="bg1"/>
                </a:solidFill>
              </a:rPr>
              <a:t>实习生</a:t>
            </a:r>
            <a:endParaRPr lang="zh-CN" altLang="en-US" sz="1200">
              <a:solidFill>
                <a:schemeClr val="bg1"/>
              </a:solidFill>
            </a:endParaRPr>
          </a:p>
          <a:p>
            <a:pPr marL="628650" lvl="3" indent="-171450" algn="l">
              <a:buClrTx/>
              <a:buSzTx/>
              <a:buFont typeface="Wingdings" panose="05000000000000000000" charset="0"/>
              <a:buChar char="n"/>
            </a:pPr>
            <a:r>
              <a:rPr lang="zh-CN" altLang="en-US" sz="1200">
                <a:solidFill>
                  <a:schemeClr val="bg1"/>
                </a:solidFill>
              </a:rPr>
              <a:t>开发</a:t>
            </a:r>
            <a:r>
              <a:rPr lang="en-US" altLang="zh-CN" sz="1200">
                <a:solidFill>
                  <a:schemeClr val="bg1"/>
                </a:solidFill>
              </a:rPr>
              <a:t>Peer Review</a:t>
            </a:r>
            <a:r>
              <a:rPr lang="zh-CN" altLang="en-US" sz="1200">
                <a:solidFill>
                  <a:schemeClr val="bg1"/>
                </a:solidFill>
              </a:rPr>
              <a:t>智能体以检查</a:t>
            </a:r>
            <a:r>
              <a:rPr lang="en-US" altLang="zh-CN" sz="1200">
                <a:solidFill>
                  <a:schemeClr val="bg1"/>
                </a:solidFill>
              </a:rPr>
              <a:t>Story</a:t>
            </a:r>
            <a:r>
              <a:rPr lang="zh-CN" altLang="en-US" sz="1200">
                <a:solidFill>
                  <a:schemeClr val="bg1"/>
                </a:solidFill>
              </a:rPr>
              <a:t>（敏捷开发中的概念）依赖关系，执行规则检查和代码检查。</a:t>
            </a:r>
            <a:endParaRPr lang="zh-CN" altLang="en-US" sz="1200">
              <a:solidFill>
                <a:schemeClr val="bg1"/>
              </a:solidFill>
            </a:endParaRPr>
          </a:p>
          <a:p>
            <a:pPr marL="171450" lvl="2" indent="-171450" algn="l">
              <a:buClrTx/>
              <a:buSzTx/>
              <a:buFont typeface="Arial" panose="020B0604020202020204" pitchFamily="34" charset="0"/>
              <a:buChar char="•"/>
            </a:pPr>
            <a:r>
              <a:rPr lang="zh-CN" altLang="en-US" sz="1200">
                <a:solidFill>
                  <a:schemeClr val="bg1"/>
                </a:solidFill>
              </a:rPr>
              <a:t>德赛西威琶洲实验室</a:t>
            </a:r>
            <a:r>
              <a:rPr lang="en-US" altLang="zh-CN" sz="1200">
                <a:solidFill>
                  <a:schemeClr val="bg1"/>
                </a:solidFill>
              </a:rPr>
              <a:t> (</a:t>
            </a:r>
            <a:r>
              <a:rPr lang="zh-CN" altLang="en-US" sz="1200">
                <a:solidFill>
                  <a:schemeClr val="bg1"/>
                </a:solidFill>
              </a:rPr>
              <a:t>人工智能与数字经济实验室</a:t>
            </a:r>
            <a:r>
              <a:rPr lang="en-US" altLang="zh-CN" sz="1200">
                <a:solidFill>
                  <a:schemeClr val="bg1"/>
                </a:solidFill>
              </a:rPr>
              <a:t>), </a:t>
            </a:r>
            <a:r>
              <a:rPr lang="zh-CN" altLang="en-US" sz="1200">
                <a:solidFill>
                  <a:schemeClr val="bg1"/>
                </a:solidFill>
              </a:rPr>
              <a:t>广州</a:t>
            </a:r>
            <a:r>
              <a:rPr lang="en-US" altLang="zh-CN" sz="1200">
                <a:solidFill>
                  <a:schemeClr val="bg1"/>
                </a:solidFill>
              </a:rPr>
              <a:t> </a:t>
            </a:r>
            <a:r>
              <a:rPr lang="zh-CN" altLang="en-US" sz="1200">
                <a:solidFill>
                  <a:schemeClr val="bg1"/>
                </a:solidFill>
              </a:rPr>
              <a:t>实习生</a:t>
            </a:r>
            <a:endParaRPr lang="zh-CN" altLang="en-US" sz="1200">
              <a:solidFill>
                <a:schemeClr val="bg1"/>
              </a:solidFill>
            </a:endParaRPr>
          </a:p>
          <a:p>
            <a:pPr marL="628650" lvl="3" indent="-171450" algn="l">
              <a:buClrTx/>
              <a:buSzTx/>
              <a:buFont typeface="Wingdings" panose="05000000000000000000" charset="0"/>
              <a:buChar char="n"/>
            </a:pPr>
            <a:r>
              <a:rPr lang="zh-CN" altLang="en-US" sz="1200">
                <a:solidFill>
                  <a:schemeClr val="bg1"/>
                </a:solidFill>
              </a:rPr>
              <a:t>开发自动驾驶场景下的目标检测大模型（检测目标包括打伞的行人、快速移动的行人、三轮车、自行车、大货车等）</a:t>
            </a:r>
            <a:endParaRPr lang="zh-CN" altLang="en-US" sz="1200">
              <a:solidFill>
                <a:schemeClr val="bg1"/>
              </a:solidFill>
            </a:endParaRPr>
          </a:p>
          <a:p>
            <a:pPr marL="628650" lvl="3" indent="-171450" algn="l">
              <a:buClrTx/>
              <a:buSzTx/>
              <a:buFont typeface="Wingdings" panose="05000000000000000000" charset="0"/>
              <a:buChar char="n"/>
            </a:pPr>
            <a:r>
              <a:rPr lang="zh-CN" altLang="en-US" sz="1200">
                <a:solidFill>
                  <a:schemeClr val="bg1"/>
                </a:solidFill>
              </a:rPr>
              <a:t>训练头戴显示器动态畸变矫正大模型，降低眼点平均误差像素。</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高曼宁</a:t>
            </a:r>
            <a:endParaRPr lang="zh-CN" altLang="en-US">
              <a:solidFill>
                <a:schemeClr val="bg1"/>
              </a:solidFill>
            </a:endParaRPr>
          </a:p>
        </p:txBody>
      </p:sp>
      <p:pic>
        <p:nvPicPr>
          <p:cNvPr id="10" name="图片 9"/>
          <p:cNvPicPr>
            <a:picLocks noChangeAspect="1"/>
          </p:cNvPicPr>
          <p:nvPr/>
        </p:nvPicPr>
        <p:blipFill>
          <a:blip r:embed="rId1"/>
          <a:stretch>
            <a:fillRect/>
          </a:stretch>
        </p:blipFill>
        <p:spPr>
          <a:xfrm>
            <a:off x="563245" y="1333500"/>
            <a:ext cx="1358265" cy="16751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pic>
        <p:nvPicPr>
          <p:cNvPr id="4" name="图片 3"/>
          <p:cNvPicPr>
            <a:picLocks noChangeAspect="1"/>
          </p:cNvPicPr>
          <p:nvPr/>
        </p:nvPicPr>
        <p:blipFill>
          <a:blip r:embed="rId1"/>
          <a:stretch>
            <a:fillRect/>
          </a:stretch>
        </p:blipFill>
        <p:spPr>
          <a:xfrm>
            <a:off x="621665" y="1333500"/>
            <a:ext cx="1318260" cy="1722120"/>
          </a:xfrm>
          <a:prstGeom prst="rect">
            <a:avLst/>
          </a:prstGeom>
        </p:spPr>
      </p:pic>
      <p:sp>
        <p:nvSpPr>
          <p:cNvPr id="8" name="文本框 7"/>
          <p:cNvSpPr txBox="1"/>
          <p:nvPr/>
        </p:nvSpPr>
        <p:spPr>
          <a:xfrm>
            <a:off x="2262505" y="1315720"/>
            <a:ext cx="9304655" cy="4707890"/>
          </a:xfrm>
          <a:prstGeom prst="rect">
            <a:avLst/>
          </a:prstGeom>
          <a:noFill/>
        </p:spPr>
        <p:txBody>
          <a:bodyPr wrap="square" rtlCol="0">
            <a:spAutoFit/>
          </a:bodyPr>
          <a:p>
            <a:r>
              <a:rPr lang="en-US" altLang="zh-CN" sz="1200" b="1">
                <a:solidFill>
                  <a:schemeClr val="bg1"/>
                </a:solidFill>
              </a:rPr>
              <a:t>1. </a:t>
            </a:r>
            <a:r>
              <a:rPr lang="zh-CN" altLang="en-US" sz="1200" b="1">
                <a:solidFill>
                  <a:schemeClr val="bg1"/>
                </a:solidFill>
              </a:rPr>
              <a:t>教育经历</a:t>
            </a:r>
            <a:endParaRPr lang="zh-CN" altLang="en-US" sz="1200" b="1">
              <a:solidFill>
                <a:schemeClr val="bg1"/>
              </a:solidFill>
            </a:endParaRPr>
          </a:p>
          <a:p>
            <a:pPr marL="285750" indent="-285750">
              <a:buFont typeface="Arial" panose="020B0604020202020204" pitchFamily="34" charset="0"/>
              <a:buChar char="•"/>
            </a:pPr>
            <a:r>
              <a:rPr lang="zh-CN" altLang="en-US" sz="1200">
                <a:solidFill>
                  <a:schemeClr val="bg1"/>
                </a:solidFill>
              </a:rPr>
              <a:t>华南师范大学</a:t>
            </a:r>
            <a:r>
              <a:rPr lang="en-US" altLang="zh-CN" sz="1200">
                <a:solidFill>
                  <a:schemeClr val="bg1"/>
                </a:solidFill>
              </a:rPr>
              <a:t> </a:t>
            </a:r>
            <a:r>
              <a:rPr lang="zh-CN" altLang="en-US" sz="1200">
                <a:solidFill>
                  <a:schemeClr val="bg1"/>
                </a:solidFill>
              </a:rPr>
              <a:t>广东，广州</a:t>
            </a:r>
            <a:r>
              <a:rPr lang="en-US" altLang="zh-CN" sz="1200">
                <a:solidFill>
                  <a:schemeClr val="bg1"/>
                </a:solidFill>
              </a:rPr>
              <a:t> </a:t>
            </a:r>
            <a:r>
              <a:rPr lang="zh-CN" altLang="en-US" sz="1200">
                <a:solidFill>
                  <a:schemeClr val="bg1"/>
                </a:solidFill>
              </a:rPr>
              <a:t>计算机科学与技术（大三）</a:t>
            </a:r>
            <a:r>
              <a:rPr lang="en-US" altLang="zh-CN" sz="1200">
                <a:solidFill>
                  <a:schemeClr val="bg1"/>
                </a:solidFill>
              </a:rPr>
              <a:t> 2023.09-</a:t>
            </a:r>
            <a:r>
              <a:rPr lang="zh-CN" altLang="en-US" sz="1200">
                <a:solidFill>
                  <a:schemeClr val="bg1"/>
                </a:solidFill>
              </a:rPr>
              <a:t>至今</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均分：</a:t>
            </a:r>
            <a:r>
              <a:rPr lang="en-US" altLang="zh-CN" sz="1200">
                <a:solidFill>
                  <a:schemeClr val="bg1"/>
                </a:solidFill>
              </a:rPr>
              <a:t>89.6/100</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专业排名：</a:t>
            </a:r>
            <a:r>
              <a:rPr lang="en-US" altLang="zh-CN" sz="1200">
                <a:solidFill>
                  <a:schemeClr val="bg1"/>
                </a:solidFill>
              </a:rPr>
              <a:t>3/153</a:t>
            </a:r>
            <a:r>
              <a:rPr lang="zh-CN" altLang="en-US" sz="1200">
                <a:solidFill>
                  <a:schemeClr val="bg1"/>
                </a:solidFill>
              </a:rPr>
              <a:t>（</a:t>
            </a:r>
            <a:r>
              <a:rPr lang="en-US" altLang="zh-CN" sz="1200">
                <a:solidFill>
                  <a:schemeClr val="bg1"/>
                </a:solidFill>
              </a:rPr>
              <a:t>2%</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大一综测专业排名第</a:t>
            </a:r>
            <a:r>
              <a:rPr lang="en-US" altLang="zh-CN" sz="1200">
                <a:solidFill>
                  <a:schemeClr val="bg1"/>
                </a:solidFill>
              </a:rPr>
              <a:t> 2</a:t>
            </a:r>
            <a:r>
              <a:rPr lang="zh-CN" altLang="en-US" sz="1200">
                <a:solidFill>
                  <a:schemeClr val="bg1"/>
                </a:solidFill>
              </a:rPr>
              <a:t>，大二综测专业排名第</a:t>
            </a:r>
            <a:r>
              <a:rPr lang="en-US" altLang="zh-CN" sz="1200">
                <a:solidFill>
                  <a:schemeClr val="bg1"/>
                </a:solidFill>
              </a:rPr>
              <a:t> 1</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英语能力：四级</a:t>
            </a:r>
            <a:r>
              <a:rPr lang="en-US" altLang="zh-CN" sz="1200">
                <a:solidFill>
                  <a:schemeClr val="bg1"/>
                </a:solidFill>
              </a:rPr>
              <a:t> 647</a:t>
            </a:r>
            <a:r>
              <a:rPr lang="zh-CN" altLang="en-US" sz="1200">
                <a:solidFill>
                  <a:schemeClr val="bg1"/>
                </a:solidFill>
              </a:rPr>
              <a:t>，六级</a:t>
            </a:r>
            <a:r>
              <a:rPr lang="en-US" altLang="zh-CN" sz="1200">
                <a:solidFill>
                  <a:schemeClr val="bg1"/>
                </a:solidFill>
              </a:rPr>
              <a:t> 571</a:t>
            </a:r>
            <a:r>
              <a:rPr lang="zh-CN" altLang="en-US" sz="1200">
                <a:solidFill>
                  <a:schemeClr val="bg1"/>
                </a:solidFill>
              </a:rPr>
              <a:t>，雅思</a:t>
            </a:r>
            <a:r>
              <a:rPr lang="en-US" altLang="zh-CN" sz="1200">
                <a:solidFill>
                  <a:schemeClr val="bg1"/>
                </a:solidFill>
              </a:rPr>
              <a:t> 7.0</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荣誉：华师计算机学院全日制本科生优秀学生奖学金一等奖（</a:t>
            </a:r>
            <a:r>
              <a:rPr lang="en-US" altLang="zh-CN" sz="1200">
                <a:solidFill>
                  <a:schemeClr val="bg1"/>
                </a:solidFill>
              </a:rPr>
              <a:t>2023-2024 </a:t>
            </a:r>
            <a:r>
              <a:rPr lang="zh-CN" altLang="en-US" sz="1200">
                <a:solidFill>
                  <a:schemeClr val="bg1"/>
                </a:solidFill>
              </a:rPr>
              <a:t>学年、</a:t>
            </a:r>
            <a:r>
              <a:rPr lang="en-US" altLang="zh-CN" sz="1200">
                <a:solidFill>
                  <a:schemeClr val="bg1"/>
                </a:solidFill>
              </a:rPr>
              <a:t>2024-2025 </a:t>
            </a:r>
            <a:r>
              <a:rPr lang="zh-CN" altLang="en-US" sz="1200">
                <a:solidFill>
                  <a:schemeClr val="bg1"/>
                </a:solidFill>
              </a:rPr>
              <a:t>学年），华南师范大学本科学生创新奖二等奖（</a:t>
            </a:r>
            <a:r>
              <a:rPr lang="en-US" altLang="zh-CN" sz="1200">
                <a:solidFill>
                  <a:schemeClr val="bg1"/>
                </a:solidFill>
              </a:rPr>
              <a:t>2024 </a:t>
            </a:r>
            <a:r>
              <a:rPr lang="zh-CN" altLang="en-US" sz="1200">
                <a:solidFill>
                  <a:schemeClr val="bg1"/>
                </a:solidFill>
              </a:rPr>
              <a:t>年）。</a:t>
            </a:r>
            <a:endParaRPr lang="zh-CN" altLang="en-US" sz="1200">
              <a:solidFill>
                <a:schemeClr val="bg1"/>
              </a:solidFill>
            </a:endParaRPr>
          </a:p>
          <a:p>
            <a:pPr marL="285750" indent="-285750">
              <a:buFont typeface="Arial" panose="020B0604020202020204" pitchFamily="34" charset="0"/>
              <a:buChar char="•"/>
            </a:pPr>
            <a:r>
              <a:rPr lang="zh-CN" altLang="en-US" sz="1200">
                <a:solidFill>
                  <a:schemeClr val="bg1"/>
                </a:solidFill>
              </a:rPr>
              <a:t>不列颠哥伦比亚大学</a:t>
            </a:r>
            <a:r>
              <a:rPr lang="en-US" altLang="zh-CN" sz="1200">
                <a:solidFill>
                  <a:schemeClr val="bg1"/>
                </a:solidFill>
              </a:rPr>
              <a:t> </a:t>
            </a:r>
            <a:r>
              <a:rPr lang="zh-CN" altLang="en-US" sz="1200">
                <a:solidFill>
                  <a:schemeClr val="bg1"/>
                </a:solidFill>
              </a:rPr>
              <a:t>加拿大，温哥华</a:t>
            </a:r>
            <a:r>
              <a:rPr lang="en-US" altLang="zh-CN" sz="1200">
                <a:solidFill>
                  <a:schemeClr val="bg1"/>
                </a:solidFill>
              </a:rPr>
              <a:t>   </a:t>
            </a:r>
            <a:r>
              <a:rPr lang="zh-CN" altLang="en-US" sz="1200">
                <a:solidFill>
                  <a:schemeClr val="bg1"/>
                </a:solidFill>
              </a:rPr>
              <a:t>国际生访学</a:t>
            </a:r>
            <a:r>
              <a:rPr lang="en-US" altLang="zh-CN" sz="1200">
                <a:solidFill>
                  <a:schemeClr val="bg1"/>
                </a:solidFill>
              </a:rPr>
              <a:t> 2024.07-2024.08 </a:t>
            </a:r>
            <a:endParaRPr lang="en-US" altLang="zh-CN" sz="1200">
              <a:solidFill>
                <a:schemeClr val="bg1"/>
              </a:solidFill>
            </a:endParaRPr>
          </a:p>
          <a:p>
            <a:pPr marL="742950" lvl="1" indent="-285750">
              <a:buFont typeface="Wingdings" panose="05000000000000000000" charset="0"/>
              <a:buChar char="n"/>
            </a:pPr>
            <a:r>
              <a:rPr lang="zh-CN" altLang="en-US" sz="1200">
                <a:solidFill>
                  <a:schemeClr val="bg1"/>
                </a:solidFill>
              </a:rPr>
              <a:t>修读课程</a:t>
            </a:r>
            <a:r>
              <a:rPr lang="en-US" altLang="zh-CN" sz="1200">
                <a:solidFill>
                  <a:schemeClr val="bg1"/>
                </a:solidFill>
              </a:rPr>
              <a:t> 1</a:t>
            </a:r>
            <a:r>
              <a:rPr lang="zh-CN" altLang="en-US" sz="1200">
                <a:solidFill>
                  <a:schemeClr val="bg1"/>
                </a:solidFill>
              </a:rPr>
              <a:t>：《</a:t>
            </a:r>
            <a:r>
              <a:rPr lang="en-US" altLang="zh-CN" sz="1200">
                <a:solidFill>
                  <a:schemeClr val="bg1"/>
                </a:solidFill>
              </a:rPr>
              <a:t>Music: An introduction to Electrical &amp; Computer Engineering</a:t>
            </a:r>
            <a:r>
              <a:rPr lang="zh-CN" altLang="en-US" sz="1200">
                <a:solidFill>
                  <a:schemeClr val="bg1"/>
                </a:solidFill>
              </a:rPr>
              <a:t>》；</a:t>
            </a:r>
            <a:endParaRPr lang="zh-CN" altLang="en-US" sz="1200">
              <a:solidFill>
                <a:schemeClr val="bg1"/>
              </a:solidFill>
            </a:endParaRPr>
          </a:p>
          <a:p>
            <a:pPr marL="742950" lvl="1" indent="-285750">
              <a:buFont typeface="Wingdings" panose="05000000000000000000" charset="0"/>
              <a:buChar char="n"/>
            </a:pPr>
            <a:r>
              <a:rPr lang="zh-CN" altLang="en-US" sz="1200">
                <a:solidFill>
                  <a:schemeClr val="bg1"/>
                </a:solidFill>
              </a:rPr>
              <a:t>修读课程</a:t>
            </a:r>
            <a:r>
              <a:rPr lang="en-US" altLang="zh-CN" sz="1200">
                <a:solidFill>
                  <a:schemeClr val="bg1"/>
                </a:solidFill>
              </a:rPr>
              <a:t> 2</a:t>
            </a:r>
            <a:r>
              <a:rPr lang="zh-CN" altLang="en-US" sz="1200">
                <a:solidFill>
                  <a:schemeClr val="bg1"/>
                </a:solidFill>
              </a:rPr>
              <a:t>：《</a:t>
            </a:r>
            <a:r>
              <a:rPr lang="en-US" altLang="zh-CN" sz="1200">
                <a:solidFill>
                  <a:schemeClr val="bg1"/>
                </a:solidFill>
              </a:rPr>
              <a:t>Music Laboratory: Hands on Learning</a:t>
            </a:r>
            <a:r>
              <a:rPr lang="zh-CN" altLang="en-US" sz="1200">
                <a:solidFill>
                  <a:schemeClr val="bg1"/>
                </a:solidFill>
              </a:rPr>
              <a:t>》。</a:t>
            </a:r>
            <a:endParaRPr lang="zh-CN" altLang="en-US" sz="1200">
              <a:solidFill>
                <a:schemeClr val="bg1"/>
              </a:solidFill>
            </a:endParaRPr>
          </a:p>
          <a:p>
            <a:endParaRPr lang="zh-CN" altLang="en-US" sz="1200">
              <a:solidFill>
                <a:schemeClr val="bg1"/>
              </a:solidFill>
            </a:endParaRPr>
          </a:p>
          <a:p>
            <a:r>
              <a:rPr lang="en-US" altLang="zh-CN" sz="1200" b="1">
                <a:solidFill>
                  <a:schemeClr val="bg1"/>
                </a:solidFill>
                <a:sym typeface="+mn-ea"/>
              </a:rPr>
              <a:t>2. </a:t>
            </a:r>
            <a:r>
              <a:rPr lang="zh-CN" altLang="en-US" sz="1200" b="1">
                <a:solidFill>
                  <a:schemeClr val="bg1"/>
                </a:solidFill>
                <a:sym typeface="+mn-ea"/>
              </a:rPr>
              <a:t>科研经历</a:t>
            </a:r>
            <a:endParaRPr lang="zh-CN" altLang="en-US" sz="1200" b="1">
              <a:solidFill>
                <a:schemeClr val="bg1"/>
              </a:solidFill>
            </a:endParaRPr>
          </a:p>
          <a:p>
            <a:pPr marL="285750" indent="-285750">
              <a:buFont typeface="Arial" panose="020B0604020202020204" pitchFamily="34" charset="0"/>
              <a:buChar char="•"/>
            </a:pPr>
            <a:r>
              <a:rPr lang="zh-CN" altLang="en-US" sz="1200">
                <a:solidFill>
                  <a:schemeClr val="bg1"/>
                </a:solidFill>
              </a:rPr>
              <a:t>研究</a:t>
            </a:r>
            <a:r>
              <a:rPr lang="en-US" altLang="zh-CN" sz="1200">
                <a:solidFill>
                  <a:schemeClr val="bg1"/>
                </a:solidFill>
              </a:rPr>
              <a:t> EB </a:t>
            </a:r>
            <a:r>
              <a:rPr lang="zh-CN" altLang="en-US" sz="1200">
                <a:solidFill>
                  <a:schemeClr val="bg1"/>
                </a:solidFill>
              </a:rPr>
              <a:t>病毒的靶向药物</a:t>
            </a:r>
            <a:r>
              <a:rPr lang="en-US" altLang="zh-CN" sz="1200">
                <a:solidFill>
                  <a:schemeClr val="bg1"/>
                </a:solidFill>
              </a:rPr>
              <a:t> 2025.07</a:t>
            </a:r>
            <a:endParaRPr lang="en-US" altLang="zh-CN" sz="1200">
              <a:solidFill>
                <a:schemeClr val="bg1"/>
              </a:solidFill>
            </a:endParaRPr>
          </a:p>
          <a:p>
            <a:pPr indent="0">
              <a:buFont typeface="Arial" panose="020B0604020202020204" pitchFamily="34" charset="0"/>
              <a:buNone/>
            </a:pPr>
            <a:r>
              <a:rPr lang="zh-CN" altLang="en-US" sz="1200">
                <a:solidFill>
                  <a:schemeClr val="bg1"/>
                </a:solidFill>
              </a:rPr>
              <a:t>指导老师：华南师范大学</a:t>
            </a:r>
            <a:r>
              <a:rPr lang="en-US" altLang="zh-CN" sz="1200">
                <a:solidFill>
                  <a:schemeClr val="bg1"/>
                </a:solidFill>
              </a:rPr>
              <a:t>——</a:t>
            </a:r>
            <a:r>
              <a:rPr lang="zh-CN" altLang="en-US" sz="1200">
                <a:solidFill>
                  <a:schemeClr val="bg1"/>
                </a:solidFill>
              </a:rPr>
              <a:t>麦思杰教授（与中山大学肿瘤防治中心曾木圣院士团队合作）；</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用</a:t>
            </a:r>
            <a:r>
              <a:rPr lang="en-US" altLang="zh-CN" sz="1200">
                <a:solidFill>
                  <a:schemeClr val="bg1"/>
                </a:solidFill>
              </a:rPr>
              <a:t> Diffusion </a:t>
            </a:r>
            <a:r>
              <a:rPr lang="zh-CN" altLang="en-US" sz="1200">
                <a:solidFill>
                  <a:schemeClr val="bg1"/>
                </a:solidFill>
              </a:rPr>
              <a:t>模型开发针对</a:t>
            </a:r>
            <a:r>
              <a:rPr lang="en-US" altLang="zh-CN" sz="1200">
                <a:solidFill>
                  <a:schemeClr val="bg1"/>
                </a:solidFill>
              </a:rPr>
              <a:t> EBNA1 </a:t>
            </a:r>
            <a:r>
              <a:rPr lang="zh-CN" altLang="en-US" sz="1200">
                <a:solidFill>
                  <a:schemeClr val="bg1"/>
                </a:solidFill>
              </a:rPr>
              <a:t>蛋白</a:t>
            </a:r>
            <a:r>
              <a:rPr lang="en-US" altLang="zh-CN" sz="1200">
                <a:solidFill>
                  <a:schemeClr val="bg1"/>
                </a:solidFill>
              </a:rPr>
              <a:t> DBD </a:t>
            </a:r>
            <a:r>
              <a:rPr lang="zh-CN" altLang="en-US" sz="1200">
                <a:solidFill>
                  <a:schemeClr val="bg1"/>
                </a:solidFill>
              </a:rPr>
              <a:t>区或其他区域的靶向药物。</a:t>
            </a:r>
            <a:endParaRPr lang="zh-CN" altLang="en-US" sz="1200">
              <a:solidFill>
                <a:schemeClr val="bg1"/>
              </a:solidFill>
            </a:endParaRPr>
          </a:p>
          <a:p>
            <a:pPr marL="285750" indent="-285750">
              <a:buFont typeface="Arial" panose="020B0604020202020204" pitchFamily="34" charset="0"/>
              <a:buChar char="•"/>
            </a:pPr>
            <a:r>
              <a:rPr lang="zh-CN" altLang="en-US" sz="1200">
                <a:solidFill>
                  <a:schemeClr val="bg1"/>
                </a:solidFill>
              </a:rPr>
              <a:t>多模态计算</a:t>
            </a:r>
            <a:r>
              <a:rPr lang="en-US" altLang="zh-CN" sz="1200">
                <a:solidFill>
                  <a:schemeClr val="bg1"/>
                </a:solidFill>
              </a:rPr>
              <a:t> 2025.07</a:t>
            </a:r>
            <a:endParaRPr lang="en-US" altLang="zh-CN" sz="1200">
              <a:solidFill>
                <a:schemeClr val="bg1"/>
              </a:solidFill>
            </a:endParaRPr>
          </a:p>
          <a:p>
            <a:pPr indent="0">
              <a:buFont typeface="Arial" panose="020B0604020202020204" pitchFamily="34" charset="0"/>
              <a:buNone/>
            </a:pPr>
            <a:r>
              <a:rPr lang="zh-CN" altLang="en-US" sz="1200">
                <a:solidFill>
                  <a:schemeClr val="bg1"/>
                </a:solidFill>
              </a:rPr>
              <a:t>指导老师：华南师范大学</a:t>
            </a:r>
            <a:r>
              <a:rPr lang="en-US" altLang="zh-CN" sz="1200">
                <a:solidFill>
                  <a:schemeClr val="bg1"/>
                </a:solidFill>
              </a:rPr>
              <a:t>——</a:t>
            </a:r>
            <a:r>
              <a:rPr lang="zh-CN" altLang="en-US" sz="1200">
                <a:solidFill>
                  <a:schemeClr val="bg1"/>
                </a:solidFill>
              </a:rPr>
              <a:t>麦思杰教授；</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用预训练语言模型和多模态大模型进行多模态情感分析；</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sym typeface="+mn-ea"/>
              </a:rPr>
              <a:t>1 </a:t>
            </a:r>
            <a:r>
              <a:rPr lang="zh-CN" altLang="en-US" sz="1200">
                <a:solidFill>
                  <a:schemeClr val="bg1"/>
                </a:solidFill>
                <a:sym typeface="+mn-ea"/>
              </a:rPr>
              <a:t>篇</a:t>
            </a:r>
            <a:r>
              <a:rPr lang="en-US" altLang="zh-CN" sz="1200">
                <a:solidFill>
                  <a:schemeClr val="bg1"/>
                </a:solidFill>
                <a:sym typeface="+mn-ea"/>
              </a:rPr>
              <a:t> Interspeech </a:t>
            </a:r>
            <a:r>
              <a:rPr lang="zh-CN" altLang="en-US" sz="1200">
                <a:solidFill>
                  <a:schemeClr val="bg1"/>
                </a:solidFill>
                <a:sym typeface="+mn-ea"/>
              </a:rPr>
              <a:t>接收，</a:t>
            </a:r>
            <a:r>
              <a:rPr lang="en-US" altLang="zh-CN" sz="1200">
                <a:solidFill>
                  <a:schemeClr val="bg1"/>
                </a:solidFill>
                <a:sym typeface="+mn-ea"/>
              </a:rPr>
              <a:t>1</a:t>
            </a:r>
            <a:r>
              <a:rPr lang="zh-CN" altLang="en-US" sz="1200">
                <a:solidFill>
                  <a:schemeClr val="bg1"/>
                </a:solidFill>
                <a:sym typeface="+mn-ea"/>
              </a:rPr>
              <a:t>篇</a:t>
            </a:r>
            <a:r>
              <a:rPr lang="en-US" altLang="zh-CN" sz="1200">
                <a:solidFill>
                  <a:schemeClr val="bg1"/>
                </a:solidFill>
                <a:sym typeface="+mn-ea"/>
              </a:rPr>
              <a:t> ACM Multimedia </a:t>
            </a:r>
            <a:r>
              <a:rPr lang="zh-CN" sz="1200">
                <a:solidFill>
                  <a:schemeClr val="bg1"/>
                </a:solidFill>
                <a:sym typeface="+mn-ea"/>
              </a:rPr>
              <a:t>接收，</a:t>
            </a:r>
            <a:r>
              <a:rPr lang="en-US" altLang="zh-CN" sz="1200">
                <a:solidFill>
                  <a:schemeClr val="bg1"/>
                </a:solidFill>
              </a:rPr>
              <a:t>2 </a:t>
            </a:r>
            <a:r>
              <a:rPr lang="zh-CN" altLang="en-US" sz="1200">
                <a:solidFill>
                  <a:schemeClr val="bg1"/>
                </a:solidFill>
              </a:rPr>
              <a:t>篇</a:t>
            </a:r>
            <a:r>
              <a:rPr lang="en-US" altLang="zh-CN" sz="1200">
                <a:solidFill>
                  <a:schemeClr val="bg1"/>
                </a:solidFill>
              </a:rPr>
              <a:t> ACM Multimedia</a:t>
            </a:r>
            <a:r>
              <a:rPr lang="zh-CN" altLang="en-US" sz="1200">
                <a:solidFill>
                  <a:schemeClr val="bg1"/>
                </a:solidFill>
              </a:rPr>
              <a:t>，</a:t>
            </a:r>
            <a:r>
              <a:rPr lang="en-US" altLang="zh-CN" sz="1200">
                <a:solidFill>
                  <a:schemeClr val="bg1"/>
                </a:solidFill>
              </a:rPr>
              <a:t>2 </a:t>
            </a:r>
            <a:r>
              <a:rPr lang="zh-CN" altLang="en-US" sz="1200">
                <a:solidFill>
                  <a:schemeClr val="bg1"/>
                </a:solidFill>
              </a:rPr>
              <a:t>篇一作</a:t>
            </a:r>
            <a:r>
              <a:rPr lang="en-US" altLang="zh-CN" sz="1200">
                <a:solidFill>
                  <a:schemeClr val="bg1"/>
                </a:solidFill>
              </a:rPr>
              <a:t> EMNLP </a:t>
            </a:r>
            <a:r>
              <a:rPr lang="zh-CN" altLang="en-US" sz="1200">
                <a:solidFill>
                  <a:schemeClr val="bg1"/>
                </a:solidFill>
              </a:rPr>
              <a:t>在投。</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GRCF: Group-wise Ranking and Calibration Framework for Multimodal Sentiment Analysis </a:t>
            </a:r>
            <a:r>
              <a:rPr lang="zh-CN" altLang="en-US" sz="1200">
                <a:solidFill>
                  <a:schemeClr val="bg1"/>
                </a:solidFill>
              </a:rPr>
              <a:t>提出组内排序与校准框架，通过自适应困难样本加权和动态间隔机制，更好模拟人类情感识别，投稿至</a:t>
            </a:r>
            <a:r>
              <a:rPr lang="en-US" altLang="zh-CN" sz="1200">
                <a:solidFill>
                  <a:schemeClr val="bg1"/>
                </a:solidFill>
              </a:rPr>
              <a:t> ACM Multimedia 2026</a:t>
            </a:r>
            <a:r>
              <a:rPr lang="zh-CN" altLang="en-US" sz="1200">
                <a:solidFill>
                  <a:schemeClr val="bg1"/>
                </a:solidFill>
              </a:rPr>
              <a:t>；</a:t>
            </a:r>
            <a:endParaRPr lang="zh-CN" altLang="en-US" sz="1200">
              <a:solidFill>
                <a:schemeClr val="bg1"/>
              </a:solidFill>
            </a:endParaRPr>
          </a:p>
          <a:p>
            <a:pPr marL="285750" indent="-285750">
              <a:buFont typeface="Arial" panose="020B0604020202020204" pitchFamily="34" charset="0"/>
              <a:buChar char="•"/>
            </a:pPr>
            <a:r>
              <a:rPr lang="en-US" altLang="zh-CN" sz="1200">
                <a:solidFill>
                  <a:schemeClr val="bg1"/>
                </a:solidFill>
              </a:rPr>
              <a:t>PRISM: Primary-Centric Multimodal Fusion with Information Bottlenecks and Confidence-Aware Gating </a:t>
            </a:r>
            <a:r>
              <a:rPr lang="zh-CN" altLang="en-US" sz="1200">
                <a:solidFill>
                  <a:schemeClr val="bg1"/>
                </a:solidFill>
              </a:rPr>
              <a:t>提出主模态驱动的多模态融合框架，结合变分信息瓶颈、动态主模态路由和置信度感知门控，实现近似可微的模态选择与显式噪声抑制，投稿至</a:t>
            </a:r>
            <a:r>
              <a:rPr lang="en-US" altLang="zh-CN" sz="1200">
                <a:solidFill>
                  <a:schemeClr val="bg1"/>
                </a:solidFill>
              </a:rPr>
              <a:t> EMNLP 2026</a:t>
            </a:r>
            <a:r>
              <a:rPr lang="zh-CN" altLang="en-US" sz="1200">
                <a:solidFill>
                  <a:schemeClr val="bg1"/>
                </a:solidFill>
              </a:rPr>
              <a:t>。</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张乐桁</a:t>
            </a:r>
            <a:endParaRPr lang="zh-CN" altLang="en-US">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pic>
        <p:nvPicPr>
          <p:cNvPr id="4" name="图片 3"/>
          <p:cNvPicPr>
            <a:picLocks noChangeAspect="1"/>
          </p:cNvPicPr>
          <p:nvPr/>
        </p:nvPicPr>
        <p:blipFill>
          <a:blip r:embed="rId1"/>
          <a:stretch>
            <a:fillRect/>
          </a:stretch>
        </p:blipFill>
        <p:spPr>
          <a:xfrm>
            <a:off x="621665" y="1333500"/>
            <a:ext cx="1318260" cy="1722120"/>
          </a:xfrm>
          <a:prstGeom prst="rect">
            <a:avLst/>
          </a:prstGeom>
        </p:spPr>
      </p:pic>
      <p:sp>
        <p:nvSpPr>
          <p:cNvPr id="8" name="文本框 7"/>
          <p:cNvSpPr txBox="1"/>
          <p:nvPr/>
        </p:nvSpPr>
        <p:spPr>
          <a:xfrm>
            <a:off x="2262505" y="1315720"/>
            <a:ext cx="9304655" cy="1753235"/>
          </a:xfrm>
          <a:prstGeom prst="rect">
            <a:avLst/>
          </a:prstGeom>
          <a:noFill/>
        </p:spPr>
        <p:txBody>
          <a:bodyPr wrap="square" rtlCol="0">
            <a:spAutoFit/>
          </a:bodyPr>
          <a:p>
            <a:pPr indent="0">
              <a:buFont typeface="Arial" panose="020B0604020202020204" pitchFamily="34" charset="0"/>
              <a:buNone/>
            </a:pPr>
            <a:r>
              <a:rPr lang="en-US" altLang="zh-CN" sz="1200" b="1">
                <a:solidFill>
                  <a:schemeClr val="bg1"/>
                </a:solidFill>
              </a:rPr>
              <a:t>3. </a:t>
            </a:r>
            <a:r>
              <a:rPr lang="zh-CN" altLang="en-US" sz="1200" b="1">
                <a:solidFill>
                  <a:schemeClr val="bg1"/>
                </a:solidFill>
              </a:rPr>
              <a:t>竞赛经历</a:t>
            </a:r>
            <a:r>
              <a:rPr lang="en-US" altLang="zh-CN" sz="1200" b="1">
                <a:solidFill>
                  <a:schemeClr val="bg1"/>
                </a:solidFill>
              </a:rPr>
              <a:t> </a:t>
            </a:r>
            <a:endParaRPr lang="en-US" altLang="zh-CN" sz="1200" b="1">
              <a:solidFill>
                <a:schemeClr val="bg1"/>
              </a:solidFill>
            </a:endParaRPr>
          </a:p>
          <a:p>
            <a:pPr indent="0">
              <a:buFont typeface="Arial" panose="020B0604020202020204" pitchFamily="34" charset="0"/>
              <a:buNone/>
            </a:pPr>
            <a:r>
              <a:rPr lang="zh-CN" altLang="en-US" sz="1200">
                <a:solidFill>
                  <a:schemeClr val="bg1"/>
                </a:solidFill>
              </a:rPr>
              <a:t>全国大学生计算机系统能力大赛操作系统设计赛华南区域赛</a:t>
            </a:r>
            <a:r>
              <a:rPr lang="en-US" altLang="zh-CN" sz="1200">
                <a:solidFill>
                  <a:schemeClr val="bg1"/>
                </a:solidFill>
              </a:rPr>
              <a:t> 2026.01</a:t>
            </a:r>
            <a:endParaRPr lang="en-US" altLang="zh-CN" sz="1200">
              <a:solidFill>
                <a:schemeClr val="bg1"/>
              </a:solidFill>
            </a:endParaRPr>
          </a:p>
          <a:p>
            <a:pPr indent="0">
              <a:buFont typeface="Arial" panose="020B0604020202020204" pitchFamily="34" charset="0"/>
              <a:buNone/>
            </a:pPr>
            <a:r>
              <a:rPr lang="en-US" altLang="en-US" sz="1200">
                <a:solidFill>
                  <a:schemeClr val="bg1"/>
                </a:solidFill>
              </a:rPr>
              <a:t></a:t>
            </a:r>
            <a:r>
              <a:rPr lang="en-US" altLang="zh-CN" sz="1200">
                <a:solidFill>
                  <a:schemeClr val="bg1"/>
                </a:solidFill>
              </a:rPr>
              <a:t> </a:t>
            </a:r>
            <a:r>
              <a:rPr lang="zh-CN" altLang="en-US" sz="1200">
                <a:solidFill>
                  <a:schemeClr val="bg1"/>
                </a:solidFill>
              </a:rPr>
              <a:t>完成一个检测</a:t>
            </a:r>
            <a:r>
              <a:rPr lang="en-US" altLang="zh-CN" sz="1200">
                <a:solidFill>
                  <a:schemeClr val="bg1"/>
                </a:solidFill>
              </a:rPr>
              <a:t> Linux </a:t>
            </a:r>
            <a:r>
              <a:rPr lang="zh-CN" altLang="en-US" sz="1200">
                <a:solidFill>
                  <a:schemeClr val="bg1"/>
                </a:solidFill>
              </a:rPr>
              <a:t>内核代码安全漏洞的工具，负责其中全部开发工作，获一等奖。</a:t>
            </a:r>
            <a:endParaRPr lang="zh-CN" altLang="en-US" sz="1200">
              <a:solidFill>
                <a:schemeClr val="bg1"/>
              </a:solidFill>
            </a:endParaRPr>
          </a:p>
          <a:p>
            <a:pPr indent="0">
              <a:buFont typeface="Arial" panose="020B0604020202020204" pitchFamily="34" charset="0"/>
              <a:buNone/>
            </a:pPr>
            <a:endParaRPr lang="zh-CN" altLang="en-US" sz="1200">
              <a:solidFill>
                <a:schemeClr val="bg1"/>
              </a:solidFill>
            </a:endParaRPr>
          </a:p>
          <a:p>
            <a:pPr indent="0">
              <a:buFont typeface="Arial" panose="020B0604020202020204" pitchFamily="34" charset="0"/>
              <a:buNone/>
            </a:pPr>
            <a:r>
              <a:rPr lang="en-US" altLang="zh-CN" sz="1200" b="1">
                <a:solidFill>
                  <a:schemeClr val="bg1"/>
                </a:solidFill>
              </a:rPr>
              <a:t>4. </a:t>
            </a:r>
            <a:r>
              <a:rPr lang="zh-CN" altLang="en-US" sz="1200" b="1">
                <a:solidFill>
                  <a:schemeClr val="bg1"/>
                </a:solidFill>
              </a:rPr>
              <a:t>项目经历</a:t>
            </a:r>
            <a:r>
              <a:rPr lang="en-US" altLang="zh-CN" sz="1200" b="1">
                <a:solidFill>
                  <a:schemeClr val="bg1"/>
                </a:solidFill>
              </a:rPr>
              <a:t> </a:t>
            </a:r>
            <a:endParaRPr lang="en-US" altLang="zh-CN" sz="1200" b="1">
              <a:solidFill>
                <a:schemeClr val="bg1"/>
              </a:solidFill>
            </a:endParaRPr>
          </a:p>
          <a:p>
            <a:pPr marL="171450" indent="-171450">
              <a:buFont typeface="Arial" panose="020B0604020202020204" pitchFamily="34" charset="0"/>
              <a:buChar char="•"/>
            </a:pPr>
            <a:r>
              <a:rPr lang="zh-CN" altLang="en-US" sz="1200">
                <a:solidFill>
                  <a:schemeClr val="bg1"/>
                </a:solidFill>
              </a:rPr>
              <a:t>面向</a:t>
            </a:r>
            <a:r>
              <a:rPr lang="en-US" altLang="zh-CN" sz="1200">
                <a:solidFill>
                  <a:schemeClr val="bg1"/>
                </a:solidFill>
              </a:rPr>
              <a:t> AI </a:t>
            </a:r>
            <a:r>
              <a:rPr lang="zh-CN" altLang="en-US" sz="1200">
                <a:solidFill>
                  <a:schemeClr val="bg1"/>
                </a:solidFill>
              </a:rPr>
              <a:t>下棋的具身智能机械臂</a:t>
            </a:r>
            <a:r>
              <a:rPr lang="en-US" altLang="zh-CN" sz="1200">
                <a:solidFill>
                  <a:schemeClr val="bg1"/>
                </a:solidFill>
              </a:rPr>
              <a:t> 2024.12 </a:t>
            </a:r>
            <a:endParaRPr lang="en-US" altLang="zh-CN" sz="1200">
              <a:solidFill>
                <a:schemeClr val="bg1"/>
              </a:solidFill>
            </a:endParaRPr>
          </a:p>
          <a:p>
            <a:pPr indent="0">
              <a:buFont typeface="Arial" panose="020B0604020202020204" pitchFamily="34" charset="0"/>
              <a:buNone/>
            </a:pPr>
            <a:r>
              <a:rPr lang="zh-CN" altLang="en-US" sz="1200">
                <a:solidFill>
                  <a:schemeClr val="bg1"/>
                </a:solidFill>
              </a:rPr>
              <a:t>指导老师：华南师范大学</a:t>
            </a:r>
            <a:r>
              <a:rPr lang="en-US" altLang="zh-CN" sz="1200">
                <a:solidFill>
                  <a:schemeClr val="bg1"/>
                </a:solidFill>
              </a:rPr>
              <a:t>——</a:t>
            </a:r>
            <a:r>
              <a:rPr lang="zh-CN" altLang="en-US" sz="1200">
                <a:solidFill>
                  <a:schemeClr val="bg1"/>
                </a:solidFill>
              </a:rPr>
              <a:t>麦思杰教授；</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负责调试机械臂，微调大模型，研究机械臂的控制，用机械臂下棋（五子棋、围棋）；</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开发了一个大模型驱动的下棋机械臂，相关软件已获计算机软件著作权登记。</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张乐桁</a:t>
            </a:r>
            <a:endParaRPr lang="zh-CN" altLang="en-US">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zh-CN" alt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团队介绍</a:t>
            </a:r>
            <a:endParaRPr lang="en-US" sz="270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TEAM</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47" name="Text 45"/>
          <p:cNvSpPr txBox="1"/>
          <p:nvPr/>
        </p:nvSpPr>
        <p:spPr>
          <a:xfrm>
            <a:off x="621792" y="6473952"/>
            <a:ext cx="6217920" cy="182880"/>
          </a:xfrm>
          <a:prstGeom prst="rect">
            <a:avLst/>
          </a:prstGeom>
          <a:noFill/>
        </p:spPr>
        <p:txBody>
          <a:bodyPr wrap="square" lIns="0" tIns="0" rIns="0" bIns="0" rtlCol="0" anchor="ctr">
            <a:normAutofit/>
          </a:bodyPr>
          <a:lstStyle/>
          <a:p>
            <a:pPr marL="0" indent="0" algn="l">
              <a:buNone/>
            </a:pPr>
            <a:r>
              <a:rPr lang="en-US" sz="850" dirty="0">
                <a:solidFill>
                  <a:srgbClr val="81988A"/>
                </a:solidFill>
                <a:latin typeface="微软雅黑" panose="020B0503020204020204" pitchFamily="34" charset="-122"/>
                <a:ea typeface="微软雅黑" panose="020B0503020204020204" pitchFamily="34" charset="-122"/>
                <a:cs typeface="微软雅黑" panose="020B0503020204020204" pitchFamily="34" charset="-120"/>
              </a:rPr>
              <a:t>第十五届中国软件杯 · A5 景区导览服务 AI 数字人</a:t>
            </a:r>
            <a:endParaRPr lang="en-US" sz="850" dirty="0"/>
          </a:p>
        </p:txBody>
      </p:sp>
      <p:sp>
        <p:nvSpPr>
          <p:cNvPr id="48" name="Text 46"/>
          <p:cNvSpPr txBox="1"/>
          <p:nvPr/>
        </p:nvSpPr>
        <p:spPr>
          <a:xfrm>
            <a:off x="11173968" y="6455664"/>
            <a:ext cx="384048"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12</a:t>
            </a:r>
            <a:endParaRPr lang="en-US" sz="900" dirty="0"/>
          </a:p>
        </p:txBody>
      </p:sp>
      <p:sp>
        <p:nvSpPr>
          <p:cNvPr id="8" name="文本框 7"/>
          <p:cNvSpPr txBox="1"/>
          <p:nvPr/>
        </p:nvSpPr>
        <p:spPr>
          <a:xfrm>
            <a:off x="2262505" y="1315720"/>
            <a:ext cx="9304655" cy="4154170"/>
          </a:xfrm>
          <a:prstGeom prst="rect">
            <a:avLst/>
          </a:prstGeom>
          <a:noFill/>
        </p:spPr>
        <p:txBody>
          <a:bodyPr wrap="square" rtlCol="0">
            <a:spAutoFit/>
          </a:bodyPr>
          <a:p>
            <a:pPr indent="0">
              <a:buFont typeface="Arial" panose="020B0604020202020204" pitchFamily="34" charset="0"/>
              <a:buNone/>
            </a:pPr>
            <a:r>
              <a:rPr lang="en-US" altLang="zh-CN" sz="1200" b="1">
                <a:solidFill>
                  <a:schemeClr val="bg1"/>
                </a:solidFill>
              </a:rPr>
              <a:t>1. </a:t>
            </a:r>
            <a:r>
              <a:rPr lang="zh-CN" altLang="en-US" sz="1200" b="1">
                <a:solidFill>
                  <a:schemeClr val="bg1"/>
                </a:solidFill>
              </a:rPr>
              <a:t>教育经历</a:t>
            </a:r>
            <a:r>
              <a:rPr lang="en-US" altLang="zh-CN" sz="1200" b="1">
                <a:solidFill>
                  <a:schemeClr val="bg1"/>
                </a:solidFill>
              </a:rPr>
              <a:t> </a:t>
            </a:r>
            <a:endParaRPr lang="en-US" altLang="zh-CN" sz="1200" b="1">
              <a:solidFill>
                <a:schemeClr val="bg1"/>
              </a:solidFill>
            </a:endParaRPr>
          </a:p>
          <a:p>
            <a:pPr marL="171450" indent="-171450">
              <a:buFont typeface="Arial" panose="020B0604020202020204" pitchFamily="34" charset="0"/>
              <a:buChar char="•"/>
            </a:pPr>
            <a:r>
              <a:rPr lang="zh-CN" altLang="en-US" sz="1200">
                <a:solidFill>
                  <a:schemeClr val="bg1"/>
                </a:solidFill>
              </a:rPr>
              <a:t>华南师范大学（</a:t>
            </a:r>
            <a:r>
              <a:rPr lang="en-US" altLang="zh-CN" sz="1200">
                <a:solidFill>
                  <a:schemeClr val="bg1"/>
                </a:solidFill>
              </a:rPr>
              <a:t>211 / </a:t>
            </a:r>
            <a:r>
              <a:rPr lang="zh-CN" altLang="en-US" sz="1200">
                <a:solidFill>
                  <a:schemeClr val="bg1"/>
                </a:solidFill>
              </a:rPr>
              <a:t>双一流）</a:t>
            </a:r>
            <a:r>
              <a:rPr lang="en-US" altLang="zh-CN" sz="1200">
                <a:solidFill>
                  <a:schemeClr val="bg1"/>
                </a:solidFill>
              </a:rPr>
              <a:t> 2024.09 – </a:t>
            </a:r>
            <a:r>
              <a:rPr lang="zh-CN" altLang="en-US" sz="1200">
                <a:solidFill>
                  <a:schemeClr val="bg1"/>
                </a:solidFill>
              </a:rPr>
              <a:t>至今</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计算机学院</a:t>
            </a:r>
            <a:r>
              <a:rPr lang="en-US" altLang="zh-CN" sz="1200">
                <a:solidFill>
                  <a:schemeClr val="bg1"/>
                </a:solidFill>
              </a:rPr>
              <a:t> </a:t>
            </a:r>
            <a:r>
              <a:rPr lang="zh-CN" altLang="en-US" sz="1200">
                <a:solidFill>
                  <a:schemeClr val="bg1"/>
                </a:solidFill>
              </a:rPr>
              <a:t>计算机科学与技术</a:t>
            </a:r>
            <a:r>
              <a:rPr lang="en-US" altLang="zh-CN" sz="1200">
                <a:solidFill>
                  <a:schemeClr val="bg1"/>
                </a:solidFill>
              </a:rPr>
              <a:t> GPA</a:t>
            </a:r>
            <a:r>
              <a:rPr lang="zh-CN" altLang="en-US" sz="1200">
                <a:solidFill>
                  <a:schemeClr val="bg1"/>
                </a:solidFill>
              </a:rPr>
              <a:t>：前</a:t>
            </a:r>
            <a:r>
              <a:rPr lang="en-US" altLang="zh-CN" sz="1200">
                <a:solidFill>
                  <a:schemeClr val="bg1"/>
                </a:solidFill>
              </a:rPr>
              <a:t> 1%</a:t>
            </a:r>
            <a:endParaRPr lang="en-US" altLang="zh-CN" sz="1200">
              <a:solidFill>
                <a:schemeClr val="bg1"/>
              </a:solidFill>
            </a:endParaRPr>
          </a:p>
          <a:p>
            <a:pPr indent="0">
              <a:buFont typeface="Arial" panose="020B0604020202020204" pitchFamily="34" charset="0"/>
              <a:buNone/>
            </a:pPr>
            <a:endParaRPr lang="en-US" altLang="zh-CN" sz="1200">
              <a:solidFill>
                <a:schemeClr val="bg1"/>
              </a:solidFill>
            </a:endParaRPr>
          </a:p>
          <a:p>
            <a:pPr indent="0">
              <a:buFont typeface="Arial" panose="020B0604020202020204" pitchFamily="34" charset="0"/>
              <a:buNone/>
            </a:pPr>
            <a:r>
              <a:rPr lang="en-US" altLang="zh-CN" sz="1200" b="1">
                <a:solidFill>
                  <a:schemeClr val="bg1"/>
                </a:solidFill>
                <a:sym typeface="+mn-ea"/>
              </a:rPr>
              <a:t>2. </a:t>
            </a:r>
            <a:r>
              <a:rPr lang="zh-CN" altLang="en-US" sz="1200" b="1">
                <a:solidFill>
                  <a:schemeClr val="bg1"/>
                </a:solidFill>
                <a:sym typeface="+mn-ea"/>
              </a:rPr>
              <a:t>科研经历</a:t>
            </a:r>
            <a:r>
              <a:rPr lang="en-US" altLang="zh-CN" sz="1200" b="1">
                <a:solidFill>
                  <a:schemeClr val="bg1"/>
                </a:solidFill>
                <a:sym typeface="+mn-ea"/>
              </a:rPr>
              <a:t> </a:t>
            </a:r>
            <a:endParaRPr lang="zh-CN" altLang="en-US" sz="1200">
              <a:solidFill>
                <a:schemeClr val="bg1"/>
              </a:solidFill>
            </a:endParaRPr>
          </a:p>
          <a:p>
            <a:pPr marL="171450" indent="-171450" algn="l">
              <a:buClrTx/>
              <a:buSzTx/>
              <a:buFont typeface="Arial" panose="020B0604020202020204" pitchFamily="34" charset="0"/>
              <a:buChar char="•"/>
            </a:pPr>
            <a:r>
              <a:rPr lang="zh-CN" altLang="en-US" sz="1200">
                <a:solidFill>
                  <a:schemeClr val="bg1"/>
                </a:solidFill>
              </a:rPr>
              <a:t>Multimodal Large Language Models for End-to-End Affective Computing: Benchmarking and Boosting with Generative Knowledge Prompting（第二作者，在投）</a:t>
            </a:r>
            <a:endParaRPr lang="zh-CN" altLang="en-US" sz="1200">
              <a:solidFill>
                <a:schemeClr val="bg1"/>
              </a:solidFill>
            </a:endParaRPr>
          </a:p>
          <a:p>
            <a:pPr marL="171450" indent="-171450" algn="l">
              <a:buClrTx/>
              <a:buSzTx/>
              <a:buFont typeface="Arial" panose="020B0604020202020204" pitchFamily="34" charset="0"/>
              <a:buChar char="•"/>
            </a:pPr>
            <a:r>
              <a:rPr lang="zh-CN" altLang="en-US" sz="1200">
                <a:solidFill>
                  <a:schemeClr val="bg1"/>
                </a:solidFill>
              </a:rPr>
              <a:t>C2F-Thinker: Coarse-to-Fine Reasoning with Hint-Guided Reinforcement Learning for Multimodal Sentiment Analysis</a:t>
            </a:r>
            <a:endParaRPr lang="zh-CN" altLang="en-US" sz="1200">
              <a:solidFill>
                <a:schemeClr val="bg1"/>
              </a:solidFill>
            </a:endParaRPr>
          </a:p>
          <a:p>
            <a:pPr indent="0">
              <a:buFont typeface="Arial" panose="020B0604020202020204" pitchFamily="34" charset="0"/>
              <a:buNone/>
            </a:pPr>
            <a:r>
              <a:rPr lang="zh-CN" altLang="en-US" sz="1200">
                <a:solidFill>
                  <a:schemeClr val="bg1"/>
                </a:solidFill>
              </a:rPr>
              <a:t>（第三作者，在投）</a:t>
            </a:r>
            <a:endParaRPr lang="zh-CN" altLang="en-US" sz="1200">
              <a:solidFill>
                <a:schemeClr val="bg1"/>
              </a:solidFill>
            </a:endParaRPr>
          </a:p>
          <a:p>
            <a:pPr indent="0">
              <a:buFont typeface="Arial" panose="020B0604020202020204" pitchFamily="34" charset="0"/>
              <a:buNone/>
            </a:pPr>
            <a:endParaRPr lang="zh-CN" altLang="en-US" sz="1200">
              <a:solidFill>
                <a:schemeClr val="bg1"/>
              </a:solidFill>
            </a:endParaRPr>
          </a:p>
          <a:p>
            <a:pPr indent="0">
              <a:buFont typeface="Arial" panose="020B0604020202020204" pitchFamily="34" charset="0"/>
              <a:buNone/>
            </a:pPr>
            <a:r>
              <a:rPr lang="en-US" altLang="zh-CN" sz="1200" b="1">
                <a:solidFill>
                  <a:schemeClr val="bg1"/>
                </a:solidFill>
              </a:rPr>
              <a:t>3. </a:t>
            </a:r>
            <a:r>
              <a:rPr lang="zh-CN" altLang="en-US" sz="1200" b="1">
                <a:solidFill>
                  <a:schemeClr val="bg1"/>
                </a:solidFill>
              </a:rPr>
              <a:t>项目经历</a:t>
            </a:r>
            <a:r>
              <a:rPr lang="en-US" altLang="zh-CN" sz="1200" b="1">
                <a:solidFill>
                  <a:schemeClr val="bg1"/>
                </a:solidFill>
              </a:rPr>
              <a:t> </a:t>
            </a:r>
            <a:endParaRPr lang="zh-CN" altLang="en-US" sz="1200">
              <a:solidFill>
                <a:schemeClr val="bg1"/>
              </a:solidFill>
            </a:endParaRPr>
          </a:p>
          <a:p>
            <a:pPr marL="171450" indent="-171450">
              <a:buFont typeface="Arial" panose="020B0604020202020204" pitchFamily="34" charset="0"/>
              <a:buChar char="•"/>
            </a:pPr>
            <a:r>
              <a:rPr lang="zh-CN" altLang="en-US" sz="1200">
                <a:solidFill>
                  <a:schemeClr val="bg1"/>
                </a:solidFill>
              </a:rPr>
              <a:t>基于时空敏感动态路由的实时驾驶决策系统</a:t>
            </a:r>
            <a:r>
              <a:rPr lang="en-US" altLang="zh-CN" sz="1200">
                <a:solidFill>
                  <a:schemeClr val="bg1"/>
                </a:solidFill>
              </a:rPr>
              <a:t> </a:t>
            </a:r>
            <a:r>
              <a:rPr lang="zh-CN" altLang="en-US" sz="1200">
                <a:solidFill>
                  <a:schemeClr val="bg1"/>
                </a:solidFill>
              </a:rPr>
              <a:t>省级大创</a:t>
            </a:r>
            <a:r>
              <a:rPr lang="en-US" altLang="zh-CN" sz="1200">
                <a:solidFill>
                  <a:schemeClr val="bg1"/>
                </a:solidFill>
              </a:rPr>
              <a:t>   </a:t>
            </a:r>
            <a:r>
              <a:rPr lang="zh-CN" altLang="en-US" sz="1200">
                <a:solidFill>
                  <a:schemeClr val="bg1"/>
                </a:solidFill>
              </a:rPr>
              <a:t>项目成员（排位第二）</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开发了一套用于自动驾驶视觉问答（</a:t>
            </a:r>
            <a:r>
              <a:rPr lang="en-US" altLang="zh-CN" sz="1200">
                <a:solidFill>
                  <a:schemeClr val="bg1"/>
                </a:solidFill>
              </a:rPr>
              <a:t>VQA</a:t>
            </a:r>
            <a:r>
              <a:rPr lang="zh-CN" altLang="en-US" sz="1200">
                <a:solidFill>
                  <a:schemeClr val="bg1"/>
                </a:solidFill>
              </a:rPr>
              <a:t>）的自适应推理框架，通过智能评估视觉证据充分性来动态控制大小</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模型路由与视觉标记修剪，从而在保障安全的前提下实现计算资源的更优分配。</a:t>
            </a:r>
            <a:endParaRPr lang="zh-CN" altLang="en-US" sz="1200">
              <a:solidFill>
                <a:schemeClr val="bg1"/>
              </a:solidFill>
            </a:endParaRPr>
          </a:p>
          <a:p>
            <a:pPr marL="171450" indent="-171450">
              <a:buFont typeface="Arial" panose="020B0604020202020204" pitchFamily="34" charset="0"/>
              <a:buChar char="•"/>
            </a:pPr>
            <a:r>
              <a:rPr lang="zh-CN" altLang="en-US" sz="1200">
                <a:solidFill>
                  <a:schemeClr val="bg1"/>
                </a:solidFill>
              </a:rPr>
              <a:t>本地生活服务平台</a:t>
            </a:r>
            <a:r>
              <a:rPr lang="en-US" altLang="zh-CN" sz="1200">
                <a:solidFill>
                  <a:schemeClr val="bg1"/>
                </a:solidFill>
              </a:rPr>
              <a:t> </a:t>
            </a:r>
            <a:r>
              <a:rPr lang="zh-CN" altLang="en-US" sz="1200">
                <a:solidFill>
                  <a:schemeClr val="bg1"/>
                </a:solidFill>
              </a:rPr>
              <a:t>课程项目</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该项目基于</a:t>
            </a:r>
            <a:r>
              <a:rPr lang="en-US" altLang="zh-CN" sz="1200">
                <a:solidFill>
                  <a:schemeClr val="bg1"/>
                </a:solidFill>
              </a:rPr>
              <a:t> Spring Boot</a:t>
            </a:r>
            <a:r>
              <a:rPr lang="zh-CN" altLang="en-US" sz="1200">
                <a:solidFill>
                  <a:schemeClr val="bg1"/>
                </a:solidFill>
              </a:rPr>
              <a:t>、</a:t>
            </a:r>
            <a:r>
              <a:rPr lang="en-US" altLang="zh-CN" sz="1200">
                <a:solidFill>
                  <a:schemeClr val="bg1"/>
                </a:solidFill>
              </a:rPr>
              <a:t>Redis</a:t>
            </a:r>
            <a:r>
              <a:rPr lang="zh-CN" altLang="en-US" sz="1200">
                <a:solidFill>
                  <a:schemeClr val="bg1"/>
                </a:solidFill>
              </a:rPr>
              <a:t>、</a:t>
            </a:r>
            <a:r>
              <a:rPr lang="en-US" altLang="zh-CN" sz="1200">
                <a:solidFill>
                  <a:schemeClr val="bg1"/>
                </a:solidFill>
              </a:rPr>
              <a:t>Redisson</a:t>
            </a:r>
            <a:r>
              <a:rPr lang="zh-CN" altLang="en-US" sz="1200">
                <a:solidFill>
                  <a:schemeClr val="bg1"/>
                </a:solidFill>
              </a:rPr>
              <a:t>、</a:t>
            </a:r>
            <a:r>
              <a:rPr lang="en-US" altLang="zh-CN" sz="1200">
                <a:solidFill>
                  <a:schemeClr val="bg1"/>
                </a:solidFill>
              </a:rPr>
              <a:t>MyBatis-Plus</a:t>
            </a:r>
            <a:r>
              <a:rPr lang="zh-CN" altLang="en-US" sz="1200">
                <a:solidFill>
                  <a:schemeClr val="bg1"/>
                </a:solidFill>
              </a:rPr>
              <a:t>、</a:t>
            </a:r>
            <a:r>
              <a:rPr lang="en-US" altLang="zh-CN" sz="1200">
                <a:solidFill>
                  <a:schemeClr val="bg1"/>
                </a:solidFill>
              </a:rPr>
              <a:t>RabbitMQ </a:t>
            </a:r>
            <a:r>
              <a:rPr lang="zh-CN" altLang="en-US" sz="1200">
                <a:solidFill>
                  <a:schemeClr val="bg1"/>
                </a:solidFill>
              </a:rPr>
              <a:t>和</a:t>
            </a:r>
            <a:r>
              <a:rPr lang="en-US" altLang="zh-CN" sz="1200">
                <a:solidFill>
                  <a:schemeClr val="bg1"/>
                </a:solidFill>
              </a:rPr>
              <a:t> MySQL </a:t>
            </a:r>
            <a:r>
              <a:rPr lang="zh-CN" altLang="en-US" sz="1200">
                <a:solidFill>
                  <a:schemeClr val="bg1"/>
                </a:solidFill>
              </a:rPr>
              <a:t>构建，主要实现了用户登录、商户信息查询、优惠券秒杀、点赞评论以及关注动态流等功能。系统中利用</a:t>
            </a:r>
            <a:r>
              <a:rPr lang="en-US" altLang="zh-CN" sz="1200">
                <a:solidFill>
                  <a:schemeClr val="bg1"/>
                </a:solidFill>
              </a:rPr>
              <a:t> Redis </a:t>
            </a:r>
            <a:r>
              <a:rPr lang="zh-CN" altLang="en-US" sz="1200">
                <a:solidFill>
                  <a:schemeClr val="bg1"/>
                </a:solidFill>
              </a:rPr>
              <a:t>处理缓存与分布式锁，通过消息队列异步处理订单与削峰，整体覆盖了典型点评类业务的核心场景。</a:t>
            </a:r>
            <a:endParaRPr lang="zh-CN" altLang="en-US" sz="1200">
              <a:solidFill>
                <a:schemeClr val="bg1"/>
              </a:solidFill>
            </a:endParaRPr>
          </a:p>
          <a:p>
            <a:pPr marL="171450" indent="-171450">
              <a:buFont typeface="Arial" panose="020B0604020202020204" pitchFamily="34" charset="0"/>
              <a:buChar char="•"/>
            </a:pPr>
            <a:r>
              <a:rPr lang="zh-CN" altLang="en-US" sz="1200">
                <a:solidFill>
                  <a:schemeClr val="bg1"/>
                </a:solidFill>
              </a:rPr>
              <a:t>餐饮外卖管理系统</a:t>
            </a:r>
            <a:r>
              <a:rPr lang="en-US" altLang="zh-CN" sz="1200">
                <a:solidFill>
                  <a:schemeClr val="bg1"/>
                </a:solidFill>
              </a:rPr>
              <a:t> </a:t>
            </a:r>
            <a:r>
              <a:rPr lang="zh-CN" altLang="en-US" sz="1200">
                <a:solidFill>
                  <a:schemeClr val="bg1"/>
                </a:solidFill>
              </a:rPr>
              <a:t>课程项目</a:t>
            </a:r>
            <a:endParaRPr lang="zh-CN" altLang="en-US" sz="1200">
              <a:solidFill>
                <a:schemeClr val="bg1"/>
              </a:solidFill>
            </a:endParaRPr>
          </a:p>
          <a:p>
            <a:pPr marL="628650" lvl="1" indent="-171450">
              <a:buFont typeface="Wingdings" panose="05000000000000000000" charset="0"/>
              <a:buChar char="n"/>
            </a:pPr>
            <a:r>
              <a:rPr lang="zh-CN" altLang="en-US" sz="1200">
                <a:solidFill>
                  <a:schemeClr val="bg1"/>
                </a:solidFill>
              </a:rPr>
              <a:t>该项目采用</a:t>
            </a:r>
            <a:r>
              <a:rPr lang="en-US" altLang="zh-CN" sz="1200">
                <a:solidFill>
                  <a:schemeClr val="bg1"/>
                </a:solidFill>
              </a:rPr>
              <a:t> Spring Boot</a:t>
            </a:r>
            <a:r>
              <a:rPr lang="zh-CN" altLang="en-US" sz="1200">
                <a:solidFill>
                  <a:schemeClr val="bg1"/>
                </a:solidFill>
              </a:rPr>
              <a:t>、</a:t>
            </a:r>
            <a:r>
              <a:rPr lang="en-US" altLang="zh-CN" sz="1200">
                <a:solidFill>
                  <a:schemeClr val="bg1"/>
                </a:solidFill>
              </a:rPr>
              <a:t>Redis</a:t>
            </a:r>
            <a:r>
              <a:rPr lang="zh-CN" altLang="en-US" sz="1200">
                <a:solidFill>
                  <a:schemeClr val="bg1"/>
                </a:solidFill>
              </a:rPr>
              <a:t>、</a:t>
            </a:r>
            <a:r>
              <a:rPr lang="en-US" altLang="zh-CN" sz="1200">
                <a:solidFill>
                  <a:schemeClr val="bg1"/>
                </a:solidFill>
              </a:rPr>
              <a:t>MyBatis-Plus</a:t>
            </a:r>
            <a:r>
              <a:rPr lang="zh-CN" altLang="en-US" sz="1200">
                <a:solidFill>
                  <a:schemeClr val="bg1"/>
                </a:solidFill>
              </a:rPr>
              <a:t>、</a:t>
            </a:r>
            <a:r>
              <a:rPr lang="en-US" altLang="zh-CN" sz="1200">
                <a:solidFill>
                  <a:schemeClr val="bg1"/>
                </a:solidFill>
              </a:rPr>
              <a:t>WebSocket</a:t>
            </a:r>
            <a:r>
              <a:rPr lang="zh-CN" altLang="en-US" sz="1200">
                <a:solidFill>
                  <a:schemeClr val="bg1"/>
                </a:solidFill>
              </a:rPr>
              <a:t>、</a:t>
            </a:r>
            <a:r>
              <a:rPr lang="en-US" altLang="zh-CN" sz="1200">
                <a:solidFill>
                  <a:schemeClr val="bg1"/>
                </a:solidFill>
              </a:rPr>
              <a:t>JWT</a:t>
            </a:r>
            <a:r>
              <a:rPr lang="zh-CN" altLang="en-US" sz="1200">
                <a:solidFill>
                  <a:schemeClr val="bg1"/>
                </a:solidFill>
              </a:rPr>
              <a:t>、微信支付和</a:t>
            </a:r>
            <a:r>
              <a:rPr lang="en-US" altLang="zh-CN" sz="1200">
                <a:solidFill>
                  <a:schemeClr val="bg1"/>
                </a:solidFill>
              </a:rPr>
              <a:t> MySQL </a:t>
            </a:r>
            <a:r>
              <a:rPr lang="zh-CN" altLang="en-US" sz="1200">
                <a:solidFill>
                  <a:schemeClr val="bg1"/>
                </a:solidFill>
              </a:rPr>
              <a:t>等技术栈，分为管理端与用户端。管理端支持菜品分类管理、订单处理、运营数据统计与报表生成；用户端提供购物车、在线支付、历史订单查询等功能。同时集成了</a:t>
            </a:r>
            <a:r>
              <a:rPr lang="en-US" altLang="zh-CN" sz="1200">
                <a:solidFill>
                  <a:schemeClr val="bg1"/>
                </a:solidFill>
              </a:rPr>
              <a:t> WebSocket </a:t>
            </a:r>
            <a:r>
              <a:rPr lang="zh-CN" altLang="en-US" sz="1200">
                <a:solidFill>
                  <a:schemeClr val="bg1"/>
                </a:solidFill>
              </a:rPr>
              <a:t>实现接单与取餐的实时消息推送，并通过</a:t>
            </a:r>
            <a:r>
              <a:rPr lang="en-US" altLang="zh-CN" sz="1200">
                <a:solidFill>
                  <a:schemeClr val="bg1"/>
                </a:solidFill>
              </a:rPr>
              <a:t> JWT </a:t>
            </a:r>
            <a:r>
              <a:rPr lang="zh-CN" altLang="en-US" sz="1200">
                <a:solidFill>
                  <a:schemeClr val="bg1"/>
                </a:solidFill>
              </a:rPr>
              <a:t>完成统一鉴权。</a:t>
            </a:r>
            <a:endParaRPr lang="zh-CN" altLang="en-US" sz="1200">
              <a:solidFill>
                <a:schemeClr val="bg1"/>
              </a:solidFill>
            </a:endParaRPr>
          </a:p>
        </p:txBody>
      </p:sp>
      <p:sp>
        <p:nvSpPr>
          <p:cNvPr id="9" name="文本框 8"/>
          <p:cNvSpPr txBox="1"/>
          <p:nvPr/>
        </p:nvSpPr>
        <p:spPr>
          <a:xfrm>
            <a:off x="804545" y="3227705"/>
            <a:ext cx="4064000" cy="368300"/>
          </a:xfrm>
          <a:prstGeom prst="rect">
            <a:avLst/>
          </a:prstGeom>
          <a:noFill/>
        </p:spPr>
        <p:txBody>
          <a:bodyPr wrap="square" rtlCol="0">
            <a:spAutoFit/>
          </a:bodyPr>
          <a:p>
            <a:r>
              <a:rPr lang="zh-CN" altLang="en-US">
                <a:solidFill>
                  <a:schemeClr val="bg1"/>
                </a:solidFill>
              </a:rPr>
              <a:t>龙杰森</a:t>
            </a:r>
            <a:endParaRPr lang="zh-CN" altLang="en-US">
              <a:solidFill>
                <a:schemeClr val="bg1"/>
              </a:solidFill>
            </a:endParaRPr>
          </a:p>
        </p:txBody>
      </p:sp>
      <p:pic>
        <p:nvPicPr>
          <p:cNvPr id="7" name="图片 6"/>
          <p:cNvPicPr>
            <a:picLocks noChangeAspect="1"/>
          </p:cNvPicPr>
          <p:nvPr/>
        </p:nvPicPr>
        <p:blipFill>
          <a:blip r:embed="rId1"/>
          <a:stretch>
            <a:fillRect/>
          </a:stretch>
        </p:blipFill>
        <p:spPr>
          <a:xfrm>
            <a:off x="641350" y="1309370"/>
            <a:ext cx="1298575" cy="17462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2E20"/>
        </a:solidFill>
        <a:effectLst/>
      </p:bgPr>
    </p:bg>
    <p:spTree>
      <p:nvGrpSpPr>
        <p:cNvPr id="1" name=""/>
        <p:cNvGrpSpPr/>
        <p:nvPr/>
      </p:nvGrpSpPr>
      <p:grpSpPr>
        <a:xfrm>
          <a:off x="0" y="0"/>
          <a:ext cx="0" cy="0"/>
          <a:chOff x="0" y="0"/>
          <a:chExt cx="0" cy="0"/>
        </a:xfrm>
      </p:grpSpPr>
      <p:sp>
        <p:nvSpPr>
          <p:cNvPr id="2" name="Shape 0"/>
          <p:cNvSpPr/>
          <p:nvPr/>
        </p:nvSpPr>
        <p:spPr>
          <a:xfrm>
            <a:off x="566928" y="384048"/>
            <a:ext cx="73152" cy="502920"/>
          </a:xfrm>
          <a:prstGeom prst="rect">
            <a:avLst/>
          </a:prstGeom>
          <a:solidFill>
            <a:srgbClr val="E8734A"/>
          </a:solidFill>
          <a:ln w="10160">
            <a:solidFill>
              <a:srgbClr val="E8734A"/>
            </a:solidFill>
            <a:prstDash val="solid"/>
          </a:ln>
        </p:spPr>
      </p:sp>
      <p:sp>
        <p:nvSpPr>
          <p:cNvPr id="3" name="Text 1"/>
          <p:cNvSpPr txBox="1"/>
          <p:nvPr/>
        </p:nvSpPr>
        <p:spPr>
          <a:xfrm>
            <a:off x="804672" y="310896"/>
            <a:ext cx="10012680" cy="566928"/>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游客愿意用，景区用得起</a:t>
            </a:r>
            <a:endParaRPr lang="en-US" sz="2700" dirty="0"/>
          </a:p>
        </p:txBody>
      </p:sp>
      <p:sp>
        <p:nvSpPr>
          <p:cNvPr id="4" name="Text 2"/>
          <p:cNvSpPr txBox="1"/>
          <p:nvPr/>
        </p:nvSpPr>
        <p:spPr>
          <a:xfrm>
            <a:off x="822960" y="850392"/>
            <a:ext cx="10561320" cy="310896"/>
          </a:xfrm>
          <a:prstGeom prst="rect">
            <a:avLst/>
          </a:prstGeom>
          <a:noFill/>
        </p:spPr>
        <p:txBody>
          <a:bodyPr wrap="square" lIns="0" tIns="0" rIns="0" bIns="0" rtlCol="0" anchor="ctr">
            <a:normAutofit/>
          </a:bodyPr>
          <a:lstStyle/>
          <a:p>
            <a:pPr marL="0" indent="0" algn="l">
              <a:buNone/>
            </a:pPr>
            <a:r>
              <a:rPr lang="en-US" sz="1150" dirty="0">
                <a:solidFill>
                  <a:srgbClr val="AFC2B6"/>
                </a:solidFill>
                <a:latin typeface="微软雅黑" panose="020B0503020204020204" pitchFamily="34" charset="-122"/>
                <a:ea typeface="微软雅黑" panose="020B0503020204020204" pitchFamily="34" charset="-122"/>
                <a:cs typeface="微软雅黑" panose="020B0503020204020204" pitchFamily="34" charset="-120"/>
              </a:rPr>
              <a:t>从单景区演示走向可复制的文旅数字基础设施</a:t>
            </a:r>
            <a:endParaRPr lang="en-US" sz="1150" dirty="0"/>
          </a:p>
        </p:txBody>
      </p:sp>
      <p:sp>
        <p:nvSpPr>
          <p:cNvPr id="5" name="Text 3"/>
          <p:cNvSpPr txBox="1"/>
          <p:nvPr/>
        </p:nvSpPr>
        <p:spPr>
          <a:xfrm>
            <a:off x="10808208" y="393192"/>
            <a:ext cx="758952" cy="237744"/>
          </a:xfrm>
          <a:prstGeom prst="rect">
            <a:avLst/>
          </a:prstGeom>
          <a:noFill/>
        </p:spPr>
        <p:txBody>
          <a:bodyPr wrap="square" lIns="0" tIns="0" rIns="0" bIns="0" rtlCol="0" anchor="ctr">
            <a:normAutofit/>
          </a:bodyPr>
          <a:lstStyle/>
          <a:p>
            <a:pPr marL="0" indent="0" algn="r">
              <a:buNone/>
            </a:pPr>
            <a:r>
              <a:rPr lang="en-US" sz="950" b="1" kern="0" spc="13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VALUE</a:t>
            </a:r>
            <a:endParaRPr lang="en-US" sz="950" dirty="0"/>
          </a:p>
        </p:txBody>
      </p:sp>
      <p:sp>
        <p:nvSpPr>
          <p:cNvPr id="6" name="Shape 4"/>
          <p:cNvSpPr/>
          <p:nvPr/>
        </p:nvSpPr>
        <p:spPr>
          <a:xfrm>
            <a:off x="621792" y="1197864"/>
            <a:ext cx="10945368" cy="0"/>
          </a:xfrm>
          <a:prstGeom prst="line">
            <a:avLst/>
          </a:prstGeom>
          <a:noFill/>
          <a:ln w="10160">
            <a:solidFill>
              <a:srgbClr val="2E4E38"/>
            </a:solidFill>
            <a:prstDash val="solid"/>
            <a:headEnd type="none"/>
          </a:ln>
        </p:spPr>
      </p:sp>
      <p:sp>
        <p:nvSpPr>
          <p:cNvPr id="7" name="Shape 5"/>
          <p:cNvSpPr/>
          <p:nvPr/>
        </p:nvSpPr>
        <p:spPr>
          <a:xfrm>
            <a:off x="658368" y="1481328"/>
            <a:ext cx="3410712" cy="2212848"/>
          </a:xfrm>
          <a:prstGeom prst="roundRect">
            <a:avLst/>
          </a:prstGeom>
          <a:solidFill>
            <a:srgbClr val="233B2A"/>
          </a:solidFill>
          <a:ln w="10160">
            <a:solidFill>
              <a:srgbClr val="2E4E38"/>
            </a:solidFill>
            <a:prstDash val="solid"/>
          </a:ln>
        </p:spPr>
      </p:sp>
      <p:sp>
        <p:nvSpPr>
          <p:cNvPr id="8" name="Text 6"/>
          <p:cNvSpPr txBox="1"/>
          <p:nvPr/>
        </p:nvSpPr>
        <p:spPr>
          <a:xfrm>
            <a:off x="896112" y="1709928"/>
            <a:ext cx="1097280" cy="274320"/>
          </a:xfrm>
          <a:prstGeom prst="rect">
            <a:avLst/>
          </a:prstGeom>
          <a:noFill/>
        </p:spPr>
        <p:txBody>
          <a:bodyPr wrap="square" lIns="0" tIns="0" rIns="0" bIns="0" rtlCol="0" anchor="ctr">
            <a:normAutofit/>
          </a:bodyPr>
          <a:lstStyle/>
          <a:p>
            <a:pPr marL="0" indent="0" algn="l">
              <a:buNone/>
            </a:pPr>
            <a:r>
              <a:rPr lang="en-US" sz="1100" b="1" kern="0" spc="11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游客体验</a:t>
            </a:r>
            <a:endParaRPr lang="en-US" sz="1100" dirty="0"/>
          </a:p>
        </p:txBody>
      </p:sp>
      <p:sp>
        <p:nvSpPr>
          <p:cNvPr id="9" name="Text 7"/>
          <p:cNvSpPr txBox="1"/>
          <p:nvPr/>
        </p:nvSpPr>
        <p:spPr>
          <a:xfrm>
            <a:off x="896112" y="2157984"/>
            <a:ext cx="2834640" cy="530352"/>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随时可问</a:t>
            </a:r>
            <a:endParaRPr lang="en-US" sz="2700" dirty="0"/>
          </a:p>
        </p:txBody>
      </p:sp>
      <p:sp>
        <p:nvSpPr>
          <p:cNvPr id="10" name="Text 8"/>
          <p:cNvSpPr txBox="1"/>
          <p:nvPr/>
        </p:nvSpPr>
        <p:spPr>
          <a:xfrm>
            <a:off x="896112" y="2871216"/>
            <a:ext cx="2788920" cy="566928"/>
          </a:xfrm>
          <a:prstGeom prst="rect">
            <a:avLst/>
          </a:prstGeom>
          <a:noFill/>
        </p:spPr>
        <p:txBody>
          <a:bodyPr wrap="square" lIns="0" tIns="0" rIns="0" bIns="0" rtlCol="0" anchor="t">
            <a:normAutofit/>
          </a:bodyPr>
          <a:lstStyle/>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个性化讲解、路线、识景与定位</a:t>
            </a:r>
            <a:endParaRPr lang="en-US" sz="1050" dirty="0"/>
          </a:p>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情绪感知让交互更亲切</a:t>
            </a:r>
            <a:endParaRPr lang="en-US" sz="1050" dirty="0"/>
          </a:p>
        </p:txBody>
      </p:sp>
      <p:sp>
        <p:nvSpPr>
          <p:cNvPr id="11" name="Shape 9"/>
          <p:cNvSpPr/>
          <p:nvPr/>
        </p:nvSpPr>
        <p:spPr>
          <a:xfrm>
            <a:off x="4315968" y="1481328"/>
            <a:ext cx="3410712" cy="2212848"/>
          </a:xfrm>
          <a:prstGeom prst="roundRect">
            <a:avLst/>
          </a:prstGeom>
          <a:solidFill>
            <a:srgbClr val="233B2A"/>
          </a:solidFill>
          <a:ln w="10160">
            <a:solidFill>
              <a:srgbClr val="2E4E38"/>
            </a:solidFill>
            <a:prstDash val="solid"/>
          </a:ln>
        </p:spPr>
      </p:sp>
      <p:sp>
        <p:nvSpPr>
          <p:cNvPr id="12" name="Text 10"/>
          <p:cNvSpPr txBox="1"/>
          <p:nvPr/>
        </p:nvSpPr>
        <p:spPr>
          <a:xfrm>
            <a:off x="4553712" y="1709928"/>
            <a:ext cx="1097280" cy="274320"/>
          </a:xfrm>
          <a:prstGeom prst="rect">
            <a:avLst/>
          </a:prstGeom>
          <a:noFill/>
        </p:spPr>
        <p:txBody>
          <a:bodyPr wrap="square" lIns="0" tIns="0" rIns="0" bIns="0" rtlCol="0" anchor="ctr">
            <a:normAutofit/>
          </a:bodyPr>
          <a:lstStyle/>
          <a:p>
            <a:pPr marL="0" indent="0" algn="l">
              <a:buNone/>
            </a:pPr>
            <a:r>
              <a:rPr lang="en-US" sz="1100" b="1" kern="0" spc="110" dirty="0">
                <a:solidFill>
                  <a:srgbClr val="5B9E8C"/>
                </a:solidFill>
                <a:latin typeface="微软雅黑" panose="020B0503020204020204" pitchFamily="34" charset="-122"/>
                <a:ea typeface="微软雅黑" panose="020B0503020204020204" pitchFamily="34" charset="-122"/>
                <a:cs typeface="微软雅黑" panose="020B0503020204020204" pitchFamily="34" charset="-120"/>
              </a:rPr>
              <a:t>景区运营</a:t>
            </a:r>
            <a:endParaRPr lang="en-US" sz="1100" dirty="0"/>
          </a:p>
        </p:txBody>
      </p:sp>
      <p:sp>
        <p:nvSpPr>
          <p:cNvPr id="13" name="Text 11"/>
          <p:cNvSpPr txBox="1"/>
          <p:nvPr/>
        </p:nvSpPr>
        <p:spPr>
          <a:xfrm>
            <a:off x="4553712" y="2157984"/>
            <a:ext cx="2834640" cy="530352"/>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每次可学</a:t>
            </a:r>
            <a:endParaRPr lang="en-US" sz="2700" dirty="0"/>
          </a:p>
        </p:txBody>
      </p:sp>
      <p:sp>
        <p:nvSpPr>
          <p:cNvPr id="14" name="Text 12"/>
          <p:cNvSpPr txBox="1"/>
          <p:nvPr/>
        </p:nvSpPr>
        <p:spPr>
          <a:xfrm>
            <a:off x="4553712" y="2871216"/>
            <a:ext cx="2788920" cy="566928"/>
          </a:xfrm>
          <a:prstGeom prst="rect">
            <a:avLst/>
          </a:prstGeom>
          <a:noFill/>
        </p:spPr>
        <p:txBody>
          <a:bodyPr wrap="square" lIns="0" tIns="0" rIns="0" bIns="0" rtlCol="0" anchor="t">
            <a:normAutofit/>
          </a:bodyPr>
          <a:lstStyle/>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热门问题、评价与情绪形成报告</a:t>
            </a:r>
            <a:endParaRPr lang="en-US" sz="1050" dirty="0"/>
          </a:p>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知识与形象可持续维护</a:t>
            </a:r>
            <a:endParaRPr lang="en-US" sz="1050" dirty="0"/>
          </a:p>
        </p:txBody>
      </p:sp>
      <p:sp>
        <p:nvSpPr>
          <p:cNvPr id="15" name="Shape 13"/>
          <p:cNvSpPr/>
          <p:nvPr/>
        </p:nvSpPr>
        <p:spPr>
          <a:xfrm>
            <a:off x="7973568" y="1481328"/>
            <a:ext cx="3410712" cy="2212848"/>
          </a:xfrm>
          <a:prstGeom prst="roundRect">
            <a:avLst/>
          </a:prstGeom>
          <a:solidFill>
            <a:srgbClr val="233B2A"/>
          </a:solidFill>
          <a:ln w="10160">
            <a:solidFill>
              <a:srgbClr val="2E4E38"/>
            </a:solidFill>
            <a:prstDash val="solid"/>
          </a:ln>
        </p:spPr>
      </p:sp>
      <p:sp>
        <p:nvSpPr>
          <p:cNvPr id="16" name="Text 14"/>
          <p:cNvSpPr txBox="1"/>
          <p:nvPr/>
        </p:nvSpPr>
        <p:spPr>
          <a:xfrm>
            <a:off x="8211312" y="1709928"/>
            <a:ext cx="1097280" cy="274320"/>
          </a:xfrm>
          <a:prstGeom prst="rect">
            <a:avLst/>
          </a:prstGeom>
          <a:noFill/>
        </p:spPr>
        <p:txBody>
          <a:bodyPr wrap="square" lIns="0" tIns="0" rIns="0" bIns="0" rtlCol="0" anchor="ctr">
            <a:normAutofit/>
          </a:bodyPr>
          <a:lstStyle/>
          <a:p>
            <a:pPr marL="0" indent="0" algn="l">
              <a:buNone/>
            </a:pPr>
            <a:r>
              <a:rPr lang="en-US" sz="1100" b="1" kern="0" spc="110" dirty="0">
                <a:solidFill>
                  <a:srgbClr val="3A8C7A"/>
                </a:solidFill>
                <a:latin typeface="微软雅黑" panose="020B0503020204020204" pitchFamily="34" charset="-122"/>
                <a:ea typeface="微软雅黑" panose="020B0503020204020204" pitchFamily="34" charset="-122"/>
                <a:cs typeface="微软雅黑" panose="020B0503020204020204" pitchFamily="34" charset="-120"/>
              </a:rPr>
              <a:t>工程成本</a:t>
            </a:r>
            <a:endParaRPr lang="en-US" sz="1100" dirty="0"/>
          </a:p>
        </p:txBody>
      </p:sp>
      <p:sp>
        <p:nvSpPr>
          <p:cNvPr id="17" name="Text 15"/>
          <p:cNvSpPr txBox="1"/>
          <p:nvPr/>
        </p:nvSpPr>
        <p:spPr>
          <a:xfrm>
            <a:off x="8211312" y="2157984"/>
            <a:ext cx="2834640" cy="530352"/>
          </a:xfrm>
          <a:prstGeom prst="rect">
            <a:avLst/>
          </a:prstGeom>
          <a:noFill/>
        </p:spPr>
        <p:txBody>
          <a:bodyPr wrap="square" lIns="0" tIns="0" rIns="0" bIns="0" rtlCol="0" anchor="ctr">
            <a:normAutofit/>
          </a:bodyPr>
          <a:lstStyle/>
          <a:p>
            <a:pPr marL="0" indent="0" algn="l">
              <a:buNone/>
            </a:pPr>
            <a:r>
              <a:rPr lang="en-US" sz="270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按需使用</a:t>
            </a:r>
            <a:endParaRPr lang="en-US" sz="2700" dirty="0"/>
          </a:p>
        </p:txBody>
      </p:sp>
      <p:sp>
        <p:nvSpPr>
          <p:cNvPr id="18" name="Text 16"/>
          <p:cNvSpPr txBox="1"/>
          <p:nvPr/>
        </p:nvSpPr>
        <p:spPr>
          <a:xfrm>
            <a:off x="8211312" y="2871216"/>
            <a:ext cx="2788920" cy="566928"/>
          </a:xfrm>
          <a:prstGeom prst="rect">
            <a:avLst/>
          </a:prstGeom>
          <a:noFill/>
        </p:spPr>
        <p:txBody>
          <a:bodyPr wrap="square" lIns="0" tIns="0" rIns="0" bIns="0" rtlCol="0" anchor="t">
            <a:normAutofit/>
          </a:bodyPr>
          <a:lstStyle/>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云端与本地三级路由</a:t>
            </a:r>
            <a:endParaRPr lang="en-US" sz="1050" dirty="0"/>
          </a:p>
          <a:p>
            <a:pPr marL="0" indent="0" algn="l">
              <a:buNone/>
            </a:pPr>
            <a:r>
              <a:rPr lang="en-US" sz="1050" dirty="0">
                <a:solidFill>
                  <a:srgbClr val="BACABF"/>
                </a:solidFill>
                <a:latin typeface="微软雅黑" panose="020B0503020204020204" pitchFamily="34" charset="-122"/>
                <a:ea typeface="微软雅黑" panose="020B0503020204020204" pitchFamily="34" charset="-122"/>
                <a:cs typeface="微软雅黑" panose="020B0503020204020204" pitchFamily="34" charset="-120"/>
              </a:rPr>
              <a:t>动态 GPU 降低部署门槛</a:t>
            </a:r>
            <a:endParaRPr lang="en-US" sz="1050" dirty="0"/>
          </a:p>
        </p:txBody>
      </p:sp>
      <p:sp>
        <p:nvSpPr>
          <p:cNvPr id="19" name="Text 17"/>
          <p:cNvSpPr txBox="1"/>
          <p:nvPr/>
        </p:nvSpPr>
        <p:spPr>
          <a:xfrm>
            <a:off x="685800" y="4187952"/>
            <a:ext cx="822960" cy="274320"/>
          </a:xfrm>
          <a:prstGeom prst="rect">
            <a:avLst/>
          </a:prstGeom>
          <a:noFill/>
        </p:spPr>
        <p:txBody>
          <a:bodyPr wrap="square" lIns="0" tIns="0" rIns="0" bIns="0" rtlCol="0" anchor="ctr">
            <a:normAutofit/>
          </a:bodyPr>
          <a:lstStyle/>
          <a:p>
            <a:pPr marL="0" indent="0" algn="l">
              <a:buNone/>
            </a:pPr>
            <a:r>
              <a:rPr lang="en-US" sz="1050" b="1" kern="0" spc="140"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下一步</a:t>
            </a:r>
            <a:endParaRPr lang="en-US" sz="1050" dirty="0"/>
          </a:p>
        </p:txBody>
      </p:sp>
      <p:sp>
        <p:nvSpPr>
          <p:cNvPr id="20" name="Shape 18"/>
          <p:cNvSpPr/>
          <p:nvPr/>
        </p:nvSpPr>
        <p:spPr>
          <a:xfrm>
            <a:off x="685800" y="4645152"/>
            <a:ext cx="420624" cy="420624"/>
          </a:xfrm>
          <a:prstGeom prst="ellipse">
            <a:avLst/>
          </a:prstGeom>
          <a:solidFill>
            <a:srgbClr val="E8734A"/>
          </a:solidFill>
          <a:ln w="12700">
            <a:solidFill>
              <a:srgbClr val="E8734A"/>
            </a:solidFill>
            <a:prstDash val="solid"/>
          </a:ln>
        </p:spPr>
      </p:sp>
      <p:sp>
        <p:nvSpPr>
          <p:cNvPr id="21" name="Text 19"/>
          <p:cNvSpPr txBox="1"/>
          <p:nvPr/>
        </p:nvSpPr>
        <p:spPr>
          <a:xfrm>
            <a:off x="685800" y="465429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150" dirty="0"/>
          </a:p>
        </p:txBody>
      </p:sp>
      <p:sp>
        <p:nvSpPr>
          <p:cNvPr id="22" name="Text 20"/>
          <p:cNvSpPr txBox="1"/>
          <p:nvPr/>
        </p:nvSpPr>
        <p:spPr>
          <a:xfrm>
            <a:off x="1271016" y="4608576"/>
            <a:ext cx="1115568" cy="292608"/>
          </a:xfrm>
          <a:prstGeom prst="rect">
            <a:avLst/>
          </a:prstGeom>
          <a:noFill/>
        </p:spPr>
        <p:txBody>
          <a:bodyPr wrap="square" lIns="0" tIns="0" rIns="0" bIns="0" rtlCol="0" anchor="ctr">
            <a:normAutofit/>
          </a:bodyPr>
          <a:lstStyle/>
          <a:p>
            <a:pPr marL="0" indent="0" algn="l">
              <a:buNone/>
            </a:pPr>
            <a:r>
              <a:rPr lang="en-US" sz="13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景区实测</a:t>
            </a:r>
            <a:endParaRPr lang="en-US" sz="1350" dirty="0"/>
          </a:p>
        </p:txBody>
      </p:sp>
      <p:sp>
        <p:nvSpPr>
          <p:cNvPr id="23" name="Text 21"/>
          <p:cNvSpPr txBox="1"/>
          <p:nvPr/>
        </p:nvSpPr>
        <p:spPr>
          <a:xfrm>
            <a:off x="1271016" y="5010912"/>
            <a:ext cx="2514600" cy="530352"/>
          </a:xfrm>
          <a:prstGeom prst="rect">
            <a:avLst/>
          </a:prstGeom>
          <a:noFill/>
        </p:spPr>
        <p:txBody>
          <a:bodyPr wrap="square" lIns="0" tIns="0" rIns="0" bIns="0" rtlCol="0" anchor="t">
            <a:normAutofit/>
          </a:bodyPr>
          <a:lstStyle/>
          <a:p>
            <a:pPr marL="0" indent="0" algn="l">
              <a:buNone/>
            </a:pPr>
            <a:r>
              <a:rPr lang="en-US" sz="980" dirty="0">
                <a:solidFill>
                  <a:srgbClr val="ADC1B4"/>
                </a:solidFill>
                <a:latin typeface="微软雅黑" panose="020B0503020204020204" pitchFamily="34" charset="-122"/>
                <a:ea typeface="微软雅黑" panose="020B0503020204020204" pitchFamily="34" charset="-122"/>
                <a:cs typeface="微软雅黑" panose="020B0503020204020204" pitchFamily="34" charset="-120"/>
              </a:rPr>
              <a:t>补齐真实坐标、BSSID / 蓝牙信标和授权参考图库</a:t>
            </a:r>
            <a:endParaRPr lang="en-US" sz="980" dirty="0"/>
          </a:p>
        </p:txBody>
      </p:sp>
      <p:sp>
        <p:nvSpPr>
          <p:cNvPr id="24" name="Shape 22"/>
          <p:cNvSpPr/>
          <p:nvPr/>
        </p:nvSpPr>
        <p:spPr>
          <a:xfrm>
            <a:off x="4343400" y="4645152"/>
            <a:ext cx="420624" cy="420624"/>
          </a:xfrm>
          <a:prstGeom prst="ellipse">
            <a:avLst/>
          </a:prstGeom>
          <a:solidFill>
            <a:srgbClr val="5B9E8C"/>
          </a:solidFill>
          <a:ln w="12700">
            <a:solidFill>
              <a:srgbClr val="5B9E8C"/>
            </a:solidFill>
            <a:prstDash val="solid"/>
          </a:ln>
        </p:spPr>
      </p:sp>
      <p:sp>
        <p:nvSpPr>
          <p:cNvPr id="25" name="Text 23"/>
          <p:cNvSpPr txBox="1"/>
          <p:nvPr/>
        </p:nvSpPr>
        <p:spPr>
          <a:xfrm>
            <a:off x="4343400" y="465429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150" dirty="0"/>
          </a:p>
        </p:txBody>
      </p:sp>
      <p:sp>
        <p:nvSpPr>
          <p:cNvPr id="26" name="Text 24"/>
          <p:cNvSpPr txBox="1"/>
          <p:nvPr/>
        </p:nvSpPr>
        <p:spPr>
          <a:xfrm>
            <a:off x="4928616" y="4608576"/>
            <a:ext cx="1115568" cy="292608"/>
          </a:xfrm>
          <a:prstGeom prst="rect">
            <a:avLst/>
          </a:prstGeom>
          <a:noFill/>
        </p:spPr>
        <p:txBody>
          <a:bodyPr wrap="square" lIns="0" tIns="0" rIns="0" bIns="0" rtlCol="0" anchor="ctr">
            <a:normAutofit/>
          </a:bodyPr>
          <a:lstStyle/>
          <a:p>
            <a:pPr marL="0" indent="0" algn="l">
              <a:buNone/>
            </a:pPr>
            <a:r>
              <a:rPr lang="en-US" sz="13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规模评测</a:t>
            </a:r>
            <a:endParaRPr lang="en-US" sz="1350" dirty="0"/>
          </a:p>
        </p:txBody>
      </p:sp>
      <p:sp>
        <p:nvSpPr>
          <p:cNvPr id="27" name="Text 25"/>
          <p:cNvSpPr txBox="1"/>
          <p:nvPr/>
        </p:nvSpPr>
        <p:spPr>
          <a:xfrm>
            <a:off x="4928616" y="5010912"/>
            <a:ext cx="2514600" cy="530352"/>
          </a:xfrm>
          <a:prstGeom prst="rect">
            <a:avLst/>
          </a:prstGeom>
          <a:noFill/>
        </p:spPr>
        <p:txBody>
          <a:bodyPr wrap="square" lIns="0" tIns="0" rIns="0" bIns="0" rtlCol="0" anchor="t">
            <a:normAutofit/>
          </a:bodyPr>
          <a:lstStyle/>
          <a:p>
            <a:pPr marL="0" indent="0" algn="l">
              <a:buNone/>
            </a:pPr>
            <a:r>
              <a:rPr lang="en-US" sz="980" dirty="0">
                <a:solidFill>
                  <a:srgbClr val="ADC1B4"/>
                </a:solidFill>
                <a:latin typeface="微软雅黑" panose="020B0503020204020204" pitchFamily="34" charset="-122"/>
                <a:ea typeface="微软雅黑" panose="020B0503020204020204" pitchFamily="34" charset="-122"/>
                <a:cs typeface="微软雅黑" panose="020B0503020204020204" pitchFamily="34" charset="-120"/>
              </a:rPr>
              <a:t>专家事实集、识景 Top-1 / Top-3 与并发容量测试</a:t>
            </a:r>
            <a:endParaRPr lang="en-US" sz="980" dirty="0"/>
          </a:p>
        </p:txBody>
      </p:sp>
      <p:sp>
        <p:nvSpPr>
          <p:cNvPr id="28" name="Shape 26"/>
          <p:cNvSpPr/>
          <p:nvPr/>
        </p:nvSpPr>
        <p:spPr>
          <a:xfrm>
            <a:off x="8001000" y="4645152"/>
            <a:ext cx="420624" cy="420624"/>
          </a:xfrm>
          <a:prstGeom prst="ellipse">
            <a:avLst/>
          </a:prstGeom>
          <a:solidFill>
            <a:srgbClr val="6AB870"/>
          </a:solidFill>
          <a:ln w="12700">
            <a:solidFill>
              <a:srgbClr val="6AB870"/>
            </a:solidFill>
            <a:prstDash val="solid"/>
          </a:ln>
        </p:spPr>
      </p:sp>
      <p:sp>
        <p:nvSpPr>
          <p:cNvPr id="29" name="Text 27"/>
          <p:cNvSpPr txBox="1"/>
          <p:nvPr/>
        </p:nvSpPr>
        <p:spPr>
          <a:xfrm>
            <a:off x="8001000" y="4654296"/>
            <a:ext cx="420624" cy="384048"/>
          </a:xfrm>
          <a:prstGeom prst="rect">
            <a:avLst/>
          </a:prstGeom>
          <a:noFill/>
        </p:spPr>
        <p:txBody>
          <a:bodyPr wrap="square" lIns="0" tIns="0" rIns="0" bIns="0" rtlCol="0" anchor="ctr">
            <a:normAutofit/>
          </a:bodyPr>
          <a:lstStyle/>
          <a:p>
            <a:pPr marL="0" indent="0" algn="ctr">
              <a:buNone/>
            </a:pPr>
            <a:r>
              <a:rPr lang="en-US" sz="11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150" dirty="0"/>
          </a:p>
        </p:txBody>
      </p:sp>
      <p:sp>
        <p:nvSpPr>
          <p:cNvPr id="30" name="Text 28"/>
          <p:cNvSpPr txBox="1"/>
          <p:nvPr/>
        </p:nvSpPr>
        <p:spPr>
          <a:xfrm>
            <a:off x="8586216" y="4608576"/>
            <a:ext cx="1115568" cy="292608"/>
          </a:xfrm>
          <a:prstGeom prst="rect">
            <a:avLst/>
          </a:prstGeom>
          <a:noFill/>
        </p:spPr>
        <p:txBody>
          <a:bodyPr wrap="square" lIns="0" tIns="0" rIns="0" bIns="0" rtlCol="0" anchor="ctr">
            <a:normAutofit/>
          </a:bodyPr>
          <a:lstStyle/>
          <a:p>
            <a:pPr marL="0" indent="0" algn="l">
              <a:buNone/>
            </a:pPr>
            <a:r>
              <a:rPr lang="en-US" sz="1350" b="1" dirty="0">
                <a:solidFill>
                  <a:srgbClr val="F5EDD6"/>
                </a:solidFill>
                <a:latin typeface="微软雅黑" panose="020B0503020204020204" pitchFamily="34" charset="-122"/>
                <a:ea typeface="微软雅黑" panose="020B0503020204020204" pitchFamily="34" charset="-122"/>
                <a:cs typeface="微软雅黑" panose="020B0503020204020204" pitchFamily="34" charset="-120"/>
              </a:rPr>
              <a:t>复制推广</a:t>
            </a:r>
            <a:endParaRPr lang="en-US" sz="1350" dirty="0"/>
          </a:p>
        </p:txBody>
      </p:sp>
      <p:sp>
        <p:nvSpPr>
          <p:cNvPr id="31" name="Text 29"/>
          <p:cNvSpPr txBox="1"/>
          <p:nvPr/>
        </p:nvSpPr>
        <p:spPr>
          <a:xfrm>
            <a:off x="8586216" y="5010912"/>
            <a:ext cx="2514600" cy="530352"/>
          </a:xfrm>
          <a:prstGeom prst="rect">
            <a:avLst/>
          </a:prstGeom>
          <a:noFill/>
        </p:spPr>
        <p:txBody>
          <a:bodyPr wrap="square" lIns="0" tIns="0" rIns="0" bIns="0" rtlCol="0" anchor="t">
            <a:normAutofit/>
          </a:bodyPr>
          <a:lstStyle/>
          <a:p>
            <a:pPr marL="0" indent="0" algn="l">
              <a:buNone/>
            </a:pPr>
            <a:r>
              <a:rPr lang="en-US" sz="980" dirty="0">
                <a:solidFill>
                  <a:srgbClr val="ADC1B4"/>
                </a:solidFill>
                <a:latin typeface="微软雅黑" panose="020B0503020204020204" pitchFamily="34" charset="-122"/>
                <a:ea typeface="微软雅黑" panose="020B0503020204020204" pitchFamily="34" charset="-122"/>
                <a:cs typeface="微软雅黑" panose="020B0503020204020204" pitchFamily="34" charset="-120"/>
              </a:rPr>
              <a:t>多景区、多方言、多数字人形象与小程序入口</a:t>
            </a:r>
            <a:endParaRPr lang="en-US" sz="980" dirty="0"/>
          </a:p>
        </p:txBody>
      </p:sp>
      <p:sp>
        <p:nvSpPr>
          <p:cNvPr id="32" name="Shape 30"/>
          <p:cNvSpPr/>
          <p:nvPr/>
        </p:nvSpPr>
        <p:spPr>
          <a:xfrm>
            <a:off x="658368" y="5779008"/>
            <a:ext cx="10872216" cy="512064"/>
          </a:xfrm>
          <a:prstGeom prst="roundRect">
            <a:avLst/>
          </a:prstGeom>
          <a:solidFill>
            <a:srgbClr val="E8734A"/>
          </a:solidFill>
          <a:ln w="12700">
            <a:solidFill>
              <a:srgbClr val="E8734A"/>
            </a:solidFill>
            <a:prstDash val="solid"/>
          </a:ln>
        </p:spPr>
      </p:sp>
      <p:sp>
        <p:nvSpPr>
          <p:cNvPr id="33" name="Text 31"/>
          <p:cNvSpPr txBox="1"/>
          <p:nvPr/>
        </p:nvSpPr>
        <p:spPr>
          <a:xfrm>
            <a:off x="896112" y="5879592"/>
            <a:ext cx="10387584" cy="283464"/>
          </a:xfrm>
          <a:prstGeom prst="rect">
            <a:avLst/>
          </a:prstGeom>
          <a:noFill/>
        </p:spPr>
        <p:txBody>
          <a:bodyPr wrap="square" lIns="0" tIns="0" rIns="0" bIns="0" rtlCol="0" anchor="ctr">
            <a:normAutofit/>
          </a:bodyP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让每位游客都有专属导游，让每次互动都成为运营依据</a:t>
            </a:r>
            <a:endParaRPr lang="en-US" sz="1600" dirty="0"/>
          </a:p>
        </p:txBody>
      </p:sp>
      <p:sp>
        <p:nvSpPr>
          <p:cNvPr id="35" name="Text 33"/>
          <p:cNvSpPr txBox="1"/>
          <p:nvPr/>
        </p:nvSpPr>
        <p:spPr>
          <a:xfrm>
            <a:off x="10844784" y="6455664"/>
            <a:ext cx="640080" cy="182880"/>
          </a:xfrm>
          <a:prstGeom prst="rect">
            <a:avLst/>
          </a:prstGeom>
          <a:noFill/>
        </p:spPr>
        <p:txBody>
          <a:bodyPr wrap="square" lIns="0" tIns="0" rIns="0" bIns="0" rtlCol="0" anchor="ctr">
            <a:normAutofit/>
          </a:bodyPr>
          <a:lstStyle/>
          <a:p>
            <a:pPr marL="0" indent="0" algn="r">
              <a:buNone/>
            </a:pPr>
            <a:r>
              <a:rPr lang="en-US" sz="900" b="1" dirty="0">
                <a:solidFill>
                  <a:srgbClr val="E8734A"/>
                </a:solidFill>
                <a:latin typeface="微软雅黑" panose="020B0503020204020204" pitchFamily="34" charset="-122"/>
                <a:ea typeface="微软雅黑" panose="020B0503020204020204" pitchFamily="34" charset="-122"/>
                <a:cs typeface="微软雅黑" panose="020B0503020204020204" pitchFamily="34" charset="-120"/>
              </a:rPr>
              <a:t>谢谢</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306.72,&quot;left&quot;:51.839999999999996,&quot;top&quot;:116.64000000000001,&quot;width&quot;:856.0800000000002}"/>
</p:tagLst>
</file>

<file path=ppt/tags/tag2.xml><?xml version="1.0" encoding="utf-8"?>
<p:tagLst xmlns:p="http://schemas.openxmlformats.org/presentationml/2006/main">
  <p:tag name="KSO_WM_DIAGRAM_VIRTUALLY_FRAME" val="{&quot;height&quot;:306.72,&quot;left&quot;:51.839999999999996,&quot;top&quot;:116.64000000000001,&quot;width&quot;:856.0800000000002}"/>
</p:tagLst>
</file>

<file path=ppt/tags/tag3.xml><?xml version="1.0" encoding="utf-8"?>
<p:tagLst xmlns:p="http://schemas.openxmlformats.org/presentationml/2006/main">
  <p:tag name="KSO_WM_DIAGRAM_VIRTUALLY_FRAME" val="{&quot;height&quot;:306.72,&quot;left&quot;:51.839999999999996,&quot;top&quot;:116.64000000000001,&quot;width&quot;:856.0800000000002}"/>
</p:tagLst>
</file>

<file path=ppt/tags/tag4.xml><?xml version="1.0" encoding="utf-8"?>
<p:tagLst xmlns:p="http://schemas.openxmlformats.org/presentationml/2006/main">
  <p:tag name="KSO_WM_DIAGRAM_VIRTUALLY_FRAME" val="{&quot;height&quot;:306.72,&quot;left&quot;:51.839999999999996,&quot;top&quot;:116.64000000000001,&quot;width&quot;:856.0800000000002}"/>
</p:tagLst>
</file>

<file path=ppt/tags/tag5.xml><?xml version="1.0" encoding="utf-8"?>
<p:tagLst xmlns:p="http://schemas.openxmlformats.org/presentationml/2006/main">
  <p:tag name="KSO_WM_DIAGRAM_VIRTUALLY_FRAME" val="{&quot;height&quot;:306.72,&quot;left&quot;:51.839999999999996,&quot;top&quot;:116.64000000000001,&quot;width&quot;:856.0800000000002}"/>
</p:tagLst>
</file>

<file path=ppt/tags/tag6.xml><?xml version="1.0" encoding="utf-8"?>
<p:tagLst xmlns:p="http://schemas.openxmlformats.org/presentationml/2006/main">
  <p:tag name="KSO_WM_DIAGRAM_VIRTUALLY_FRAME" val="{&quot;height&quot;:306.72,&quot;left&quot;:51.839999999999996,&quot;top&quot;:116.64000000000001,&quot;width&quot;:856.0800000000002}"/>
</p:tagLst>
</file>

<file path=ppt/tags/tag7.xml><?xml version="1.0" encoding="utf-8"?>
<p:tagLst xmlns:p="http://schemas.openxmlformats.org/presentationml/2006/main">
  <p:tag name="KSO_WM_DIAGRAM_VIRTUALLY_FRAME" val="{&quot;height&quot;:306.72,&quot;left&quot;:51.839999999999996,&quot;top&quot;:116.64000000000001,&quot;width&quot;:856.0800000000002}"/>
</p:tagLst>
</file>

<file path=ppt/tags/tag8.xml><?xml version="1.0" encoding="utf-8"?>
<p:tagLst xmlns:p="http://schemas.openxmlformats.org/presentationml/2006/main">
  <p:tag name="KSO_WM_DIAGRAM_VIRTUALLY_FRAME" val="{&quot;height&quot;:306.72,&quot;left&quot;:51.839999999999996,&quot;top&quot;:116.64000000000001,&quot;width&quot;:856.0800000000002}"/>
</p:tagLst>
</file>

<file path=ppt/tags/tag9.xml><?xml version="1.0" encoding="utf-8"?>
<p:tagLst xmlns:p="http://schemas.openxmlformats.org/presentationml/2006/main">
  <p:tag name="KSO_WM_DIAGRAM_VIRTUALLY_FRAME" val="{&quot;height&quot;:306.72,&quot;left&quot;:51.839999999999996,&quot;top&quot;:116.64000000000001,&quot;width&quot;:856.0800000000002}"/>
</p:tagLst>
</file>

<file path=ppt/tags/tag10.xml><?xml version="1.0" encoding="utf-8"?>
<p:tagLst xmlns:p="http://schemas.openxmlformats.org/presentationml/2006/main">
  <p:tag name="KSO_WM_DIAGRAM_VIRTUALLY_FRAME" val="{&quot;height&quot;:306.72,&quot;left&quot;:51.839999999999996,&quot;top&quot;:116.64000000000001,&quot;width&quot;:856.0800000000002}"/>
</p:tagLst>
</file>

<file path=ppt/tags/tag11.xml><?xml version="1.0" encoding="utf-8"?>
<p:tagLst xmlns:p="http://schemas.openxmlformats.org/presentationml/2006/main">
  <p:tag name="KSO_WM_DIAGRAM_VIRTUALLY_FRAME" val="{&quot;height&quot;:306.72,&quot;left&quot;:51.839999999999996,&quot;top&quot;:116.64000000000001,&quot;width&quot;:856.0800000000002}"/>
</p:tagLst>
</file>

<file path=ppt/tags/tag12.xml><?xml version="1.0" encoding="utf-8"?>
<p:tagLst xmlns:p="http://schemas.openxmlformats.org/presentationml/2006/main">
  <p:tag name="KSO_WM_DIAGRAM_VIRTUALLY_FRAME" val="{&quot;height&quot;:306.72,&quot;left&quot;:51.839999999999996,&quot;top&quot;:116.64000000000001,&quot;width&quot;:856.0800000000002}"/>
</p:tagLst>
</file>

<file path=ppt/tags/tag13.xml><?xml version="1.0" encoding="utf-8"?>
<p:tagLst xmlns:p="http://schemas.openxmlformats.org/presentationml/2006/main">
  <p:tag name="KSO_WM_DIAGRAM_VIRTUALLY_FRAME" val="{&quot;height&quot;:306.72,&quot;left&quot;:51.839999999999996,&quot;top&quot;:116.64000000000001,&quot;width&quot;:856.0800000000002}"/>
</p:tagLst>
</file>

<file path=ppt/tags/tag14.xml><?xml version="1.0" encoding="utf-8"?>
<p:tagLst xmlns:p="http://schemas.openxmlformats.org/presentationml/2006/main">
  <p:tag name="KSO_WM_DIAGRAM_VIRTUALLY_FRAME" val="{&quot;height&quot;:306.72,&quot;left&quot;:51.839999999999996,&quot;top&quot;:116.64000000000001,&quot;width&quot;:856.0800000000002}"/>
</p:tagLst>
</file>

<file path=ppt/tags/tag15.xml><?xml version="1.0" encoding="utf-8"?>
<p:tagLst xmlns:p="http://schemas.openxmlformats.org/presentationml/2006/main">
  <p:tag name="KSO_WM_DIAGRAM_VIRTUALLY_FRAME" val="{&quot;height&quot;:306.72,&quot;left&quot;:51.839999999999996,&quot;top&quot;:116.64000000000001,&quot;width&quot;:856.0800000000002}"/>
</p:tagLst>
</file>

<file path=ppt/tags/tag16.xml><?xml version="1.0" encoding="utf-8"?>
<p:tagLst xmlns:p="http://schemas.openxmlformats.org/presentationml/2006/main">
  <p:tag name="KSO_WM_DIAGRAM_VIRTUALLY_FRAME" val="{&quot;height&quot;:306.72,&quot;left&quot;:51.839999999999996,&quot;top&quot;:116.64000000000001,&quot;width&quot;:856.0800000000002}"/>
</p:tagLst>
</file>

<file path=ppt/tags/tag17.xml><?xml version="1.0" encoding="utf-8"?>
<p:tagLst xmlns:p="http://schemas.openxmlformats.org/presentationml/2006/main">
  <p:tag name="KSO_WM_DIAGRAM_VIRTUALLY_FRAME" val="{&quot;height&quot;:306.72,&quot;left&quot;:51.839999999999996,&quot;top&quot;:116.64000000000001,&quot;width&quot;:856.0800000000002}"/>
</p:tagLst>
</file>

<file path=ppt/tags/tag18.xml><?xml version="1.0" encoding="utf-8"?>
<p:tagLst xmlns:p="http://schemas.openxmlformats.org/presentationml/2006/main">
  <p:tag name="KSO_WM_DIAGRAM_VIRTUALLY_FRAME" val="{&quot;height&quot;:306.72,&quot;left&quot;:51.839999999999996,&quot;top&quot;:116.64000000000001,&quot;width&quot;:856.0800000000002}"/>
</p:tagLst>
</file>

<file path=ppt/tags/tag19.xml><?xml version="1.0" encoding="utf-8"?>
<p:tagLst xmlns:p="http://schemas.openxmlformats.org/presentationml/2006/main">
  <p:tag name="KSO_WM_DIAGRAM_VIRTUALLY_FRAME" val="{&quot;height&quot;:306.72,&quot;left&quot;:51.839999999999996,&quot;top&quot;:116.64000000000001,&quot;width&quot;:856.0800000000002}"/>
</p:tagLst>
</file>

<file path=ppt/tags/tag20.xml><?xml version="1.0" encoding="utf-8"?>
<p:tagLst xmlns:p="http://schemas.openxmlformats.org/presentationml/2006/main">
  <p:tag name="KSO_WM_DIAGRAM_VIRTUALLY_FRAME" val="{&quot;height&quot;:306.72,&quot;left&quot;:51.839999999999996,&quot;top&quot;:116.64000000000001,&quot;width&quot;:856.0800000000002}"/>
</p:tagLst>
</file>

<file path=ppt/tags/tag21.xml><?xml version="1.0" encoding="utf-8"?>
<p:tagLst xmlns:p="http://schemas.openxmlformats.org/presentationml/2006/main">
  <p:tag name="KSO_WM_DIAGRAM_VIRTUALLY_FRAME" val="{&quot;height&quot;:306.72,&quot;left&quot;:51.839999999999996,&quot;top&quot;:116.64000000000001,&quot;width&quot;:856.0800000000002}"/>
</p:tagLst>
</file>

<file path=ppt/tags/tag22.xml><?xml version="1.0" encoding="utf-8"?>
<p:tagLst xmlns:p="http://schemas.openxmlformats.org/presentationml/2006/main">
  <p:tag name="KSO_WM_DIAGRAM_VIRTUALLY_FRAME" val="{&quot;height&quot;:306.72,&quot;left&quot;:51.839999999999996,&quot;top&quot;:116.64000000000001,&quot;width&quot;:856.0800000000002}"/>
</p:tagLst>
</file>

<file path=ppt/tags/tag23.xml><?xml version="1.0" encoding="utf-8"?>
<p:tagLst xmlns:p="http://schemas.openxmlformats.org/presentationml/2006/main">
  <p:tag name="KSO_WM_DIAGRAM_VIRTUALLY_FRAME" val="{&quot;height&quot;:306.72,&quot;left&quot;:51.839999999999996,&quot;top&quot;:116.64000000000001,&quot;width&quot;:856.0800000000002}"/>
</p:tagLst>
</file>

<file path=ppt/tags/tag24.xml><?xml version="1.0" encoding="utf-8"?>
<p:tagLst xmlns:p="http://schemas.openxmlformats.org/presentationml/2006/main">
  <p:tag name="KSO_WM_DIAGRAM_VIRTUALLY_FRAME" val="{&quot;height&quot;:306.72,&quot;left&quot;:51.839999999999996,&quot;top&quot;:116.64000000000001,&quot;width&quot;:856.0800000000002}"/>
</p:tagLst>
</file>

<file path=ppt/tags/tag25.xml><?xml version="1.0" encoding="utf-8"?>
<p:tagLst xmlns:p="http://schemas.openxmlformats.org/presentationml/2006/main">
  <p:tag name="KSO_WM_DIAGRAM_VIRTUALLY_FRAME" val="{&quot;height&quot;:306.72,&quot;left&quot;:51.839999999999996,&quot;top&quot;:116.64000000000001,&quot;width&quot;:856.0800000000002}"/>
</p:tagLst>
</file>

<file path=ppt/tags/tag26.xml><?xml version="1.0" encoding="utf-8"?>
<p:tagLst xmlns:p="http://schemas.openxmlformats.org/presentationml/2006/main">
  <p:tag name="KSO_WM_DIAGRAM_VIRTUALLY_FRAME" val="{&quot;height&quot;:306.72,&quot;left&quot;:51.839999999999996,&quot;top&quot;:116.64000000000001,&quot;width&quot;:856.0800000000002}"/>
</p:tagLst>
</file>

<file path=ppt/tags/tag27.xml><?xml version="1.0" encoding="utf-8"?>
<p:tagLst xmlns:p="http://schemas.openxmlformats.org/presentationml/2006/main">
  <p:tag name="KSO_WM_DIAGRAM_VIRTUALLY_FRAME" val="{&quot;height&quot;:306.72,&quot;left&quot;:51.839999999999996,&quot;top&quot;:116.64000000000001,&quot;width&quot;:856.0800000000002}"/>
</p:tagLst>
</file>

<file path=ppt/tags/tag28.xml><?xml version="1.0" encoding="utf-8"?>
<p:tagLst xmlns:p="http://schemas.openxmlformats.org/presentationml/2006/main">
  <p:tag name="KSO_WM_DIAGRAM_VIRTUALLY_FRAME" val="{&quot;height&quot;:306.72,&quot;left&quot;:51.839999999999996,&quot;top&quot;:116.64000000000001,&quot;width&quot;:856.08000000000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6825</Words>
  <Application>WPS 演示</Application>
  <PresentationFormat>On-screen Show (16:9)</PresentationFormat>
  <Paragraphs>680</Paragraphs>
  <Slides>21</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宋体</vt:lpstr>
      <vt:lpstr>Wingdings</vt:lpstr>
      <vt:lpstr>微软雅黑</vt:lpstr>
      <vt:lpstr>微软雅黑</vt:lpstr>
      <vt:lpstr>Arial Unicode MS</vt:lpstr>
      <vt:lpstr>Wingdings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华南师范大学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灵山小向导——景区导览服务 AI 数字人</dc:title>
  <dc:creator>卧薪尝胆团队</dc:creator>
  <dc:subject>第十五届中国软件杯 A5 景区导览服务 AI 数字人</dc:subject>
  <cp:lastModifiedBy>高曼宁</cp:lastModifiedBy>
  <cp:revision>2</cp:revision>
  <dcterms:created xsi:type="dcterms:W3CDTF">2026-07-20T06:42:00Z</dcterms:created>
  <dcterms:modified xsi:type="dcterms:W3CDTF">2026-07-20T06:56:27Z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D67E3D9558704ED6A918BE4236DCEE63_12</vt:lpwstr>
  </property>
  <property fmtid="{D5CDD505-2E9C-101B-9397-08002B2CF9AE}" pid="3" name="KSOProductBuildVer">
    <vt:lpwstr>2052-12.1.0.24034</vt:lpwstr>
  </property>
</Properties>
</file>