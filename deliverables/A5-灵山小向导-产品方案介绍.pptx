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-1234440"/>
            <a:ext cx="5212080" cy="5212080"/>
          </a:xfrm>
          <a:prstGeom prst="ellipse">
            <a:avLst/>
          </a:prstGeom>
          <a:noFill/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20" y="-777240"/>
            <a:ext cx="4297680" cy="4297680"/>
          </a:xfrm>
          <a:prstGeom prst="ellipse">
            <a:avLst/>
          </a:prstGeom>
          <a:noFill/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658368"/>
            <a:ext cx="54864" cy="56692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676656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B7C8BE"/>
                </a:solidFill>
                <a:latin typeface="Microsoft YaHei"/>
                <a:ea typeface="Microsoft YaHei"/>
                <a:cs typeface="Microsoft YaHei"/>
              </a:rPr>
              <a:t>第十五届中国软件杯 · A5 赛题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17904"/>
            <a:ext cx="649224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灵山小向导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65836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让灵曦成为每位游客的专属导游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18688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景区导览服务 AI 数字人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13632"/>
            <a:ext cx="1417320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1064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多模态交互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3913632"/>
            <a:ext cx="1234440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3941064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可靠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913632"/>
            <a:ext cx="1417320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941064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数字人讲解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913632"/>
            <a:ext cx="1234440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941064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运营闭环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71032"/>
            <a:ext cx="6675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CB0A4"/>
                </a:solidFill>
                <a:latin typeface="Microsoft YaHei"/>
                <a:ea typeface="Microsoft YaHei"/>
                <a:cs typeface="Microsoft YaHei"/>
              </a:rPr>
              <a:t>参赛学校：[待填写]   团队：[待填写]   指导教师：[待填写]</a:t>
            </a:r>
          </a:p>
        </p:txBody>
      </p:sp>
      <p:sp>
        <p:nvSpPr>
          <p:cNvPr id="18" name="Oval 17"/>
          <p:cNvSpPr/>
          <p:nvPr/>
        </p:nvSpPr>
        <p:spPr>
          <a:xfrm>
            <a:off x="8759952" y="566928"/>
            <a:ext cx="2697480" cy="5532120"/>
          </a:xfrm>
          <a:prstGeom prst="ellipse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xmov-male-runtime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713418"/>
            <a:ext cx="2697480" cy="528485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8048" y="5897880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灵曦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四个行业痛点，必须同时解决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功能完整度 40 分 · 技术创新 30 分 · 体验 20 分 · 文档 10 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542032" cy="4315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00200"/>
            <a:ext cx="594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2084831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导游资源稀缺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7" y="2688336"/>
            <a:ext cx="2103120" cy="1097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907792"/>
            <a:ext cx="21031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旺季供不应求
服务时间受限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673352" y="3968496"/>
            <a:ext cx="512064" cy="475488"/>
          </a:xfrm>
          <a:prstGeom prst="downArrow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617720"/>
            <a:ext cx="217627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7×24 小时数字人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417320"/>
            <a:ext cx="2542032" cy="4315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600200"/>
            <a:ext cx="594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5B9E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121408"/>
            <a:ext cx="2084831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信息单向传递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94176" y="2688336"/>
            <a:ext cx="2103120" cy="1097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2907792"/>
            <a:ext cx="21031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录音内容固定
无法回答个性问题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526280" y="3968496"/>
            <a:ext cx="512064" cy="475488"/>
          </a:xfrm>
          <a:prstGeom prst="downArrow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4176" y="4617720"/>
            <a:ext cx="217627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5B9E8C"/>
                </a:solidFill>
                <a:latin typeface="Microsoft YaHei"/>
                <a:ea typeface="Microsoft YaHei"/>
                <a:cs typeface="Microsoft YaHei"/>
              </a:rPr>
              <a:t>语音/文字/图片互动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1417320"/>
            <a:ext cx="2542032" cy="4315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1600200"/>
            <a:ext cx="594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121408"/>
            <a:ext cx="2084831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缺乏情感连接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7104" y="2688336"/>
            <a:ext cx="2103120" cy="1097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907792"/>
            <a:ext cx="21031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设备冰冷
讲解缺少亲和力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379208" y="3968496"/>
            <a:ext cx="512064" cy="475488"/>
          </a:xfrm>
          <a:prstGeom prst="downArrow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4617720"/>
            <a:ext cx="217627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自然语音与口型表情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7152" y="1417320"/>
            <a:ext cx="2542032" cy="4315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1600200"/>
            <a:ext cx="594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121408"/>
            <a:ext cx="2084831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管理反馈盲区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00032" y="2688336"/>
            <a:ext cx="2103120" cy="1097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2907792"/>
            <a:ext cx="21031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关注点不可量化
服务难持续优化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0232136" y="3968496"/>
            <a:ext cx="512064" cy="475488"/>
          </a:xfrm>
          <a:prstGeom prst="downArrow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4617720"/>
            <a:ext cx="217627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实时数据与游客洞察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71032"/>
            <a:ext cx="10332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产品不是一个聊天框，而是一条从游客服务到景区决策的数据闭环。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一次游览，形成一条持续优化的体验闭环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游客端负责服务，管理端把每次互动转化为运营依据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1499616"/>
            <a:ext cx="603504" cy="603504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64592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64792" y="1792224"/>
            <a:ext cx="1298448" cy="2743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22576"/>
            <a:ext cx="1755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选择偏好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0632"/>
            <a:ext cx="175564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历史 / 自然 / 亲子</a:t>
            </a:r>
          </a:p>
        </p:txBody>
      </p:sp>
      <p:sp>
        <p:nvSpPr>
          <p:cNvPr id="10" name="Oval 9"/>
          <p:cNvSpPr/>
          <p:nvPr/>
        </p:nvSpPr>
        <p:spPr>
          <a:xfrm>
            <a:off x="3044952" y="1499616"/>
            <a:ext cx="603504" cy="603504"/>
          </a:xfrm>
          <a:prstGeom prst="ellipse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64592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66744" y="1792224"/>
            <a:ext cx="1298448" cy="2743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22576"/>
            <a:ext cx="1755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语音提问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770632"/>
            <a:ext cx="175564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文字与麦克风统一入口</a:t>
            </a:r>
          </a:p>
        </p:txBody>
      </p:sp>
      <p:sp>
        <p:nvSpPr>
          <p:cNvPr id="15" name="Oval 14"/>
          <p:cNvSpPr/>
          <p:nvPr/>
        </p:nvSpPr>
        <p:spPr>
          <a:xfrm>
            <a:off x="4946904" y="1499616"/>
            <a:ext cx="603504" cy="603504"/>
          </a:xfrm>
          <a:prstGeom prst="ellipse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74336" y="164592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68696" y="1792224"/>
            <a:ext cx="1298448" cy="2743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2322576"/>
            <a:ext cx="1755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数字人讲解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770632"/>
            <a:ext cx="175564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引用、语音、口型、表情</a:t>
            </a:r>
          </a:p>
        </p:txBody>
      </p:sp>
      <p:sp>
        <p:nvSpPr>
          <p:cNvPr id="20" name="Oval 19"/>
          <p:cNvSpPr/>
          <p:nvPr/>
        </p:nvSpPr>
        <p:spPr>
          <a:xfrm>
            <a:off x="6848856" y="1499616"/>
            <a:ext cx="603504" cy="603504"/>
          </a:xfrm>
          <a:prstGeom prst="ellipse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164592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0648" y="1792224"/>
            <a:ext cx="1298448" cy="2743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2322576"/>
            <a:ext cx="1755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多模态导览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770632"/>
            <a:ext cx="175564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识景、路线、弱定位</a:t>
            </a:r>
          </a:p>
        </p:txBody>
      </p:sp>
      <p:sp>
        <p:nvSpPr>
          <p:cNvPr id="25" name="Oval 24"/>
          <p:cNvSpPr/>
          <p:nvPr/>
        </p:nvSpPr>
        <p:spPr>
          <a:xfrm>
            <a:off x="8750808" y="1499616"/>
            <a:ext cx="603504" cy="603504"/>
          </a:xfrm>
          <a:prstGeom prst="ellipse">
            <a:avLst/>
          </a:prstGeom>
          <a:solidFill>
            <a:srgbClr val="6AB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164592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1792224"/>
            <a:ext cx="1298448" cy="27432"/>
          </a:xfrm>
          <a:prstGeom prst="rect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322576"/>
            <a:ext cx="1755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游客反馈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770632"/>
            <a:ext cx="175564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景点评分与文字建议</a:t>
            </a:r>
          </a:p>
        </p:txBody>
      </p:sp>
      <p:sp>
        <p:nvSpPr>
          <p:cNvPr id="30" name="Oval 29"/>
          <p:cNvSpPr/>
          <p:nvPr/>
        </p:nvSpPr>
        <p:spPr>
          <a:xfrm>
            <a:off x="10652760" y="1499616"/>
            <a:ext cx="603504" cy="603504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80192" y="164592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2322576"/>
            <a:ext cx="1755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运营优化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2770632"/>
            <a:ext cx="175564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知识更新与服务建议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4005072"/>
            <a:ext cx="10680192" cy="1554480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270248"/>
            <a:ext cx="2057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游客实时交互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727448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B6C8BE"/>
                </a:solidFill>
                <a:latin typeface="Microsoft YaHei"/>
                <a:ea typeface="Microsoft YaHei"/>
                <a:cs typeface="Microsoft YaHei"/>
              </a:rPr>
              <a:t>问答 · 位置 · 反馈 · 情绪</a:t>
            </a:r>
          </a:p>
        </p:txBody>
      </p:sp>
      <p:sp>
        <p:nvSpPr>
          <p:cNvPr id="37" name="Chevron 36"/>
          <p:cNvSpPr/>
          <p:nvPr/>
        </p:nvSpPr>
        <p:spPr>
          <a:xfrm>
            <a:off x="3310128" y="4416552"/>
            <a:ext cx="658368" cy="512064"/>
          </a:xfrm>
          <a:prstGeom prst="chevron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2816" y="4270248"/>
            <a:ext cx="187451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运营洞察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2816" y="4727448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B6C8BE"/>
                </a:solidFill>
                <a:latin typeface="Microsoft YaHei"/>
                <a:ea typeface="Microsoft YaHei"/>
                <a:cs typeface="Microsoft YaHei"/>
              </a:rPr>
              <a:t>热点 · 趋势 · 建议 · 客群</a:t>
            </a:r>
          </a:p>
        </p:txBody>
      </p:sp>
      <p:sp>
        <p:nvSpPr>
          <p:cNvPr id="40" name="Chevron 39"/>
          <p:cNvSpPr/>
          <p:nvPr/>
        </p:nvSpPr>
        <p:spPr>
          <a:xfrm>
            <a:off x="6446520" y="4416552"/>
            <a:ext cx="658368" cy="512064"/>
          </a:xfrm>
          <a:prstGeom prst="chevron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4270248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内容与服务优化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72744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B6C8BE"/>
                </a:solidFill>
                <a:latin typeface="Microsoft YaHei"/>
                <a:ea typeface="Microsoft YaHei"/>
                <a:cs typeface="Microsoft YaHei"/>
              </a:rPr>
              <a:t>知识库 · 路线 · 现场引导</a:t>
            </a:r>
          </a:p>
        </p:txBody>
      </p:sp>
      <p:sp>
        <p:nvSpPr>
          <p:cNvPr id="43" name="Circular Arrow 42"/>
          <p:cNvSpPr/>
          <p:nvPr/>
        </p:nvSpPr>
        <p:spPr>
          <a:xfrm>
            <a:off x="10058400" y="4251960"/>
            <a:ext cx="777240" cy="777240"/>
          </a:xfrm>
          <a:prstGeom prst="circularArrow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五层架构，把实时体验与运营分析解耦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内部服务最小暴露 · 云端模型可替换 · GPU 按需使用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" y="1344168"/>
            <a:ext cx="10195560" cy="694944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1344168"/>
            <a:ext cx="1664208" cy="69494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499616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81328"/>
            <a:ext cx="7882127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游客网页 / Android App / 管理后台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258568"/>
            <a:ext cx="10195560" cy="694944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" y="2258568"/>
            <a:ext cx="1664208" cy="694944"/>
          </a:xfrm>
          <a:prstGeom prst="rect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14015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网关层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95727"/>
            <a:ext cx="7882127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FastAPI · HTTPS · SSE · WebRTC · 鉴权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3172968"/>
            <a:ext cx="10195560" cy="694944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2" y="3172968"/>
            <a:ext cx="1664208" cy="694944"/>
          </a:xfrm>
          <a:prstGeom prst="rect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328415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编排层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10127"/>
            <a:ext cx="7882127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GLM-ASR · GLM-4V · GLM-TTS · RAG/GLM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4087368"/>
            <a:ext cx="10195560" cy="694944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552" y="4087368"/>
            <a:ext cx="1664208" cy="694944"/>
          </a:xfrm>
          <a:prstGeom prst="rect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242816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数字人层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224528"/>
            <a:ext cx="7882127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LiveTalking · Wav2Lip FP16 · Live2D 回退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" y="5001768"/>
            <a:ext cx="10195560" cy="694944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2" y="5001768"/>
            <a:ext cx="1664208" cy="694944"/>
          </a:xfrm>
          <a:prstGeom prst="rect">
            <a:avLst/>
          </a:prstGeom>
          <a:solidFill>
            <a:srgbClr val="6AB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157216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数据洞察层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138928"/>
            <a:ext cx="7882127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SQLite · 14 万历史记录 · HumanOmni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6053328"/>
            <a:ext cx="1828800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6080760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8001/8443 游客端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99232" y="6053328"/>
            <a:ext cx="1691640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1" y="6080760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8010 LiveTalking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73752" y="6053328"/>
            <a:ext cx="1901952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6080760"/>
            <a:ext cx="1810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8020 RAG（仅本机）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58584" y="6053328"/>
            <a:ext cx="1755648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6080760"/>
            <a:ext cx="1664207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8444 独立管理端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97112" y="6053328"/>
            <a:ext cx="1417320" cy="310896"/>
          </a:xfrm>
          <a:prstGeom prst="round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6080760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密钥不下发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A9E90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可靠 RAG：回答有依据，资料不足就拒答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BGE-M3 + FAISS + 景点元数据过滤 + 有界会话历史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26464"/>
            <a:ext cx="1664208" cy="2084831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26464"/>
            <a:ext cx="54864" cy="2084831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1298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01  文档切片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12801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官方 DOCX / TXT / XLSX
管理员上传资料</a:t>
            </a:r>
          </a:p>
        </p:txBody>
      </p:sp>
      <p:sp>
        <p:nvSpPr>
          <p:cNvPr id="9" name="Chevron 8"/>
          <p:cNvSpPr/>
          <p:nvPr/>
        </p:nvSpPr>
        <p:spPr>
          <a:xfrm>
            <a:off x="2286000" y="2185416"/>
            <a:ext cx="310896" cy="502920"/>
          </a:xfrm>
          <a:prstGeom prst="chevron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7168" y="1426464"/>
            <a:ext cx="1664208" cy="2084831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5B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1426464"/>
            <a:ext cx="54864" cy="2084831"/>
          </a:xfrm>
          <a:prstGeom prst="rect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8336" y="1591056"/>
            <a:ext cx="1298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02  向量编码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2029968"/>
            <a:ext cx="12801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BGE-M3
1024 维归一化向量</a:t>
            </a:r>
          </a:p>
        </p:txBody>
      </p:sp>
      <p:sp>
        <p:nvSpPr>
          <p:cNvPr id="14" name="Chevron 13"/>
          <p:cNvSpPr/>
          <p:nvPr/>
        </p:nvSpPr>
        <p:spPr>
          <a:xfrm>
            <a:off x="4169664" y="2185416"/>
            <a:ext cx="310896" cy="502920"/>
          </a:xfrm>
          <a:prstGeom prst="chevron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1426464"/>
            <a:ext cx="1664208" cy="2084831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78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426464"/>
            <a:ext cx="54864" cy="2084831"/>
          </a:xfrm>
          <a:prstGeom prst="rect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591056"/>
            <a:ext cx="1298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03  候选过滤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29968"/>
            <a:ext cx="12801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景点名 / 别名
景区元数据缩小范围</a:t>
            </a:r>
          </a:p>
        </p:txBody>
      </p:sp>
      <p:sp>
        <p:nvSpPr>
          <p:cNvPr id="19" name="Chevron 18"/>
          <p:cNvSpPr/>
          <p:nvPr/>
        </p:nvSpPr>
        <p:spPr>
          <a:xfrm>
            <a:off x="6053328" y="2185416"/>
            <a:ext cx="310896" cy="502920"/>
          </a:xfrm>
          <a:prstGeom prst="chevron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4496" y="1426464"/>
            <a:ext cx="1664208" cy="2084831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3A8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426464"/>
            <a:ext cx="54864" cy="2084831"/>
          </a:xfrm>
          <a:prstGeom prst="rect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591056"/>
            <a:ext cx="1298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04  FAISS 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029968"/>
            <a:ext cx="12801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IndexFlatIP
余弦相似度 Top-K</a:t>
            </a:r>
          </a:p>
        </p:txBody>
      </p:sp>
      <p:sp>
        <p:nvSpPr>
          <p:cNvPr id="24" name="Chevron 23"/>
          <p:cNvSpPr/>
          <p:nvPr/>
        </p:nvSpPr>
        <p:spPr>
          <a:xfrm>
            <a:off x="7936992" y="2185416"/>
            <a:ext cx="310896" cy="502920"/>
          </a:xfrm>
          <a:prstGeom prst="chevron">
            <a:avLst/>
          </a:prstGeom>
          <a:solidFill>
            <a:srgbClr val="DED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426464"/>
            <a:ext cx="1664208" cy="2084831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6A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426464"/>
            <a:ext cx="54864" cy="2084831"/>
          </a:xfrm>
          <a:prstGeom prst="rect">
            <a:avLst/>
          </a:prstGeom>
          <a:solidFill>
            <a:srgbClr val="6AB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1591056"/>
            <a:ext cx="1298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05  受约束生成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029968"/>
            <a:ext cx="12801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事实必须来自上下文
返回稳定引用或明确拒答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041648"/>
            <a:ext cx="2560320" cy="15910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187952"/>
            <a:ext cx="2286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15/15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1846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标准事实题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47872" y="4041648"/>
            <a:ext cx="2560320" cy="15910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4187952"/>
            <a:ext cx="2286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6AB87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51846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事实问答准确率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4041648"/>
            <a:ext cx="2560320" cy="15910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3096" y="4187952"/>
            <a:ext cx="2286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51846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当前知识片段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041648"/>
            <a:ext cx="2286000" cy="15910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4187952"/>
            <a:ext cx="201168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180s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518464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RAG GPU 空闲释放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888736"/>
            <a:ext cx="10287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CPU 常驻协调器 → 检索时选择空闲 GPU → 连续问答复用 → 空闲后 worker 退出并彻底释放 CUDA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首句即说：跨模型流水线压缩用户等待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不等待全文完成，按完整语义句进入 TTS 与口型驱动</a:t>
            </a:r>
          </a:p>
        </p:txBody>
      </p:sp>
      <p:pic>
        <p:nvPicPr>
          <p:cNvPr id="5" name="Picture 4" descr="xmov-male-runtime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45194"/>
            <a:ext cx="2514600" cy="49265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127248" y="1828800"/>
            <a:ext cx="1353312" cy="1426464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6976" y="1975104"/>
            <a:ext cx="347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2286000"/>
            <a:ext cx="11338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GLM-ASR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2761488"/>
            <a:ext cx="11338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0" name="Chevron 9"/>
          <p:cNvSpPr/>
          <p:nvPr/>
        </p:nvSpPr>
        <p:spPr>
          <a:xfrm>
            <a:off x="4489704" y="2286000"/>
            <a:ext cx="237744" cy="457200"/>
          </a:xfrm>
          <a:prstGeom prst="chevron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27448" y="1828800"/>
            <a:ext cx="1353312" cy="1426464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347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286000"/>
            <a:ext cx="11338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RAG / GLM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2761488"/>
            <a:ext cx="11338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流式生成</a:t>
            </a:r>
          </a:p>
        </p:txBody>
      </p:sp>
      <p:sp>
        <p:nvSpPr>
          <p:cNvPr id="15" name="Chevron 14"/>
          <p:cNvSpPr/>
          <p:nvPr/>
        </p:nvSpPr>
        <p:spPr>
          <a:xfrm>
            <a:off x="6089904" y="2286000"/>
            <a:ext cx="237744" cy="457200"/>
          </a:xfrm>
          <a:prstGeom prst="chevron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7648" y="1828800"/>
            <a:ext cx="1353312" cy="1426464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975104"/>
            <a:ext cx="347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5B9E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286000"/>
            <a:ext cx="11338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语义分句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761488"/>
            <a:ext cx="11338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完整短句</a:t>
            </a:r>
          </a:p>
        </p:txBody>
      </p:sp>
      <p:sp>
        <p:nvSpPr>
          <p:cNvPr id="20" name="Chevron 19"/>
          <p:cNvSpPr/>
          <p:nvPr/>
        </p:nvSpPr>
        <p:spPr>
          <a:xfrm>
            <a:off x="7690104" y="2286000"/>
            <a:ext cx="237744" cy="457200"/>
          </a:xfrm>
          <a:prstGeom prst="chevron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27848" y="1828800"/>
            <a:ext cx="1353312" cy="1426464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1975104"/>
            <a:ext cx="347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5" y="2286000"/>
            <a:ext cx="11338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GLM-TTS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5" y="2761488"/>
            <a:ext cx="11338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PCM 合并</a:t>
            </a:r>
          </a:p>
        </p:txBody>
      </p:sp>
      <p:sp>
        <p:nvSpPr>
          <p:cNvPr id="25" name="Chevron 24"/>
          <p:cNvSpPr/>
          <p:nvPr/>
        </p:nvSpPr>
        <p:spPr>
          <a:xfrm>
            <a:off x="9290304" y="2286000"/>
            <a:ext cx="237744" cy="457200"/>
          </a:xfrm>
          <a:prstGeom prst="chevron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28048" y="1828800"/>
            <a:ext cx="1353312" cy="1426464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7776" y="1975104"/>
            <a:ext cx="347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6AB8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286000"/>
            <a:ext cx="11338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Wav2Lip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761488"/>
            <a:ext cx="11338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口型同步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45536" y="3959352"/>
            <a:ext cx="2249424" cy="1499616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2696" y="4105656"/>
            <a:ext cx="197510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3373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2696" y="4700016"/>
            <a:ext cx="19751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ms · 单次实测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2696" y="5010912"/>
            <a:ext cx="19751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语音结束→首个数字人音频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14416" y="3959352"/>
            <a:ext cx="2249424" cy="1499616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1576" y="4105656"/>
            <a:ext cx="197510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3618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1576" y="4700016"/>
            <a:ext cx="19751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ms · 三轮中位数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51576" y="5010912"/>
            <a:ext cx="19751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质量优先热链路首响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3959352"/>
            <a:ext cx="2249424" cy="1499616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4105656"/>
            <a:ext cx="197510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1.0×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4700016"/>
            <a:ext cx="19751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完整语义段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5010912"/>
            <a:ext cx="19751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自然原速播报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3824" y="5806440"/>
            <a:ext cx="7269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lang="zh-CN">
                <a:solidFill>
                  <a:srgbClr val="C4D2CA"/>
                </a:solidFill>
                <a:latin typeface="Microsoft YaHei"/>
                <a:ea typeface="Microsoft YaHei"/>
                <a:cs typeface="Microsoft YaHei"/>
              </a:rPr>
              <a:t>再次提问会取消旧播报队列；LiveTalking 不可用时回退 Live2D，文字问答不中断。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A9E90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多模态与个性化，让导览从“能回答”走向“懂场景”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所有模态最终回到景区知识与游客真实意图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5166360" cy="1874519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54864" cy="1874519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拍照识景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478231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GLM-4V 识别后再次进入本地 RAG 校准，降低通用视觉模型的景点幻觉。</a:t>
            </a:r>
          </a:p>
        </p:txBody>
      </p:sp>
      <p:sp>
        <p:nvSpPr>
          <p:cNvPr id="9" name="Oval 8"/>
          <p:cNvSpPr/>
          <p:nvPr/>
        </p:nvSpPr>
        <p:spPr>
          <a:xfrm>
            <a:off x="5148072" y="1627632"/>
            <a:ext cx="420624" cy="420624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709928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371600"/>
            <a:ext cx="5166360" cy="1874519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5B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371600"/>
            <a:ext cx="54864" cy="1874519"/>
          </a:xfrm>
          <a:prstGeom prst="rect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536192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分众路线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975104"/>
            <a:ext cx="478231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历史、自然、亲子三类偏好，结合时间与位置输出顺路路线和讲解重点。</a:t>
            </a:r>
          </a:p>
        </p:txBody>
      </p:sp>
      <p:sp>
        <p:nvSpPr>
          <p:cNvPr id="15" name="Oval 14"/>
          <p:cNvSpPr/>
          <p:nvPr/>
        </p:nvSpPr>
        <p:spPr>
          <a:xfrm>
            <a:off x="10762488" y="1627632"/>
            <a:ext cx="420624" cy="420624"/>
          </a:xfrm>
          <a:prstGeom prst="ellipse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44784" y="1709928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593592"/>
            <a:ext cx="5166360" cy="1874519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78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593592"/>
            <a:ext cx="54864" cy="1874519"/>
          </a:xfrm>
          <a:prstGeom prst="rect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5818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弱定位降级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97096"/>
            <a:ext cx="478231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GPS 不可用时切换景点码、Wi-Fi/二维码适配层或手动选择。</a:t>
            </a:r>
          </a:p>
        </p:txBody>
      </p:sp>
      <p:sp>
        <p:nvSpPr>
          <p:cNvPr id="21" name="Oval 20"/>
          <p:cNvSpPr/>
          <p:nvPr/>
        </p:nvSpPr>
        <p:spPr>
          <a:xfrm>
            <a:off x="5148072" y="3849624"/>
            <a:ext cx="420624" cy="420624"/>
          </a:xfrm>
          <a:prstGeom prst="ellipse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3931920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593592"/>
            <a:ext cx="5166360" cy="1874519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3A8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3593592"/>
            <a:ext cx="54864" cy="1874519"/>
          </a:xfrm>
          <a:prstGeom prst="rect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758184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游客感受度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4197096"/>
            <a:ext cx="478231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HumanOmni 七类情绪 + 文本方面 + 显式评分，保留模式、置信度和降级状态。</a:t>
            </a:r>
          </a:p>
        </p:txBody>
      </p:sp>
      <p:sp>
        <p:nvSpPr>
          <p:cNvPr id="27" name="Oval 26"/>
          <p:cNvSpPr/>
          <p:nvPr/>
        </p:nvSpPr>
        <p:spPr>
          <a:xfrm>
            <a:off x="10762488" y="3849624"/>
            <a:ext cx="420624" cy="420624"/>
          </a:xfrm>
          <a:prstGeom prst="ellipse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44784" y="3931920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89888" y="5797296"/>
            <a:ext cx="9400032" cy="457200"/>
          </a:xfrm>
          <a:prstGeom prst="roundRect">
            <a:avLst/>
          </a:prstGeom>
          <a:solidFill>
            <a:srgbClr val="1A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6192" y="5879592"/>
            <a:ext cx="91257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原则：不把历史满意度伪装成情绪标签；模型不可用时明确显示降级，不阻塞实时问答。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游客端：一个页面完成问答、路线、识景与定位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真实运行界面 · HTTPS 麦克风 · WebRTC 数字人 · 轻量模式自动回退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25296"/>
            <a:ext cx="8339327" cy="4992624"/>
          </a:xfrm>
          <a:prstGeom prst="roundRect">
            <a:avLst/>
          </a:prstGeom>
          <a:solidFill>
            <a:srgbClr val="ECE4D2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s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9" y="1344168"/>
            <a:ext cx="7607808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70848" y="1243584"/>
            <a:ext cx="2487168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70848" y="1243584"/>
            <a:ext cx="54864" cy="102412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2016" y="1408176"/>
            <a:ext cx="2121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一问即答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2016" y="184708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文字与麦克风统一进入同一条问答链路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0848" y="2450592"/>
            <a:ext cx="2487168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5B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70848" y="2450592"/>
            <a:ext cx="54864" cy="1024128"/>
          </a:xfrm>
          <a:prstGeom prst="rect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6" y="2615184"/>
            <a:ext cx="2121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四类工具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305409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问答 / 路线 / 识景 / 定位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3657600"/>
            <a:ext cx="2487168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78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70848" y="3657600"/>
            <a:ext cx="54864" cy="1024128"/>
          </a:xfrm>
          <a:prstGeom prst="rect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3822191"/>
            <a:ext cx="2121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自然讲解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426110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流式语音、口型与情绪状态同步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0848" y="4864608"/>
            <a:ext cx="2487168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3A8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70848" y="4864608"/>
            <a:ext cx="54864" cy="1024128"/>
          </a:xfrm>
          <a:prstGeom prst="rect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5029200"/>
            <a:ext cx="21214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可用性优先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5468112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数字人暂不可用时仍可先提问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管理后台：把真实互动转化为景区运营动作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实时数据、知识维护、数字人配置、游客感受度与历史洞察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25296"/>
            <a:ext cx="8339327" cy="4992624"/>
          </a:xfrm>
          <a:prstGeom prst="roundRect">
            <a:avLst/>
          </a:prstGeom>
          <a:solidFill>
            <a:srgbClr val="ECE4D2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41775"/>
            <a:ext cx="8101583" cy="43596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70848" y="1280160"/>
            <a:ext cx="2487168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8008" y="1426463"/>
            <a:ext cx="22128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8008" y="1911095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今日服务游客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0848" y="2523744"/>
            <a:ext cx="2487168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2670048"/>
            <a:ext cx="22128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235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8" y="3154679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累计问答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3767328"/>
            <a:ext cx="2487168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8008" y="3913632"/>
            <a:ext cx="22128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3182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8" y="4398264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平均响应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5010912"/>
            <a:ext cx="2487168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5157216"/>
            <a:ext cx="22128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6AB870"/>
                </a:solidFill>
                <a:latin typeface="Microsoft YaHei"/>
                <a:ea typeface="Microsoft YaHei"/>
                <a:cs typeface="Microsoft YaHei"/>
              </a:rPr>
              <a:t>140,447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5641848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历史游客记录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用可复现数据证明：准确、快速、稳定、可解释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所有数字注明时间、环境和测试口径，不以演示效果代替验证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89888"/>
            <a:ext cx="2523744" cy="1627632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224942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3055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15/15 标准题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9463"/>
            <a:ext cx="22494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事实准确率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89888"/>
            <a:ext cx="2523744" cy="1627632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36192"/>
            <a:ext cx="224942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3373ms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3055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低于赛题 5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69463"/>
            <a:ext cx="22494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语音首响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389888"/>
            <a:ext cx="2523744" cy="1627632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536192"/>
            <a:ext cx="224942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5B9E8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13055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全部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569463"/>
            <a:ext cx="22494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API 回归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5" y="1389888"/>
            <a:ext cx="2523744" cy="1627632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536192"/>
            <a:ext cx="224942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3055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3 类来源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2569463"/>
            <a:ext cx="22494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知识片段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" y="3675887"/>
            <a:ext cx="278892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767327"/>
            <a:ext cx="27157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59352" y="3675887"/>
            <a:ext cx="205740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5928" y="3767327"/>
            <a:ext cx="19842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赛题门槛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6752" y="3675887"/>
            <a:ext cx="384048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3767327"/>
            <a:ext cx="376732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57232" y="3675887"/>
            <a:ext cx="1143000" cy="4572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3767327"/>
            <a:ext cx="10698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0432" y="4133087"/>
            <a:ext cx="278892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242816"/>
            <a:ext cx="27157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事实问答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4133087"/>
            <a:ext cx="205740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5928" y="4242816"/>
            <a:ext cx="19842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≥ 90%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6752" y="4133087"/>
            <a:ext cx="384048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4242816"/>
            <a:ext cx="376732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57232" y="4133087"/>
            <a:ext cx="114300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8" y="4242816"/>
            <a:ext cx="10698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lang="zh-CN">
                <a:solidFill>
                  <a:srgbClr val="6AB8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70432" y="4636007"/>
            <a:ext cx="278892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4745736"/>
            <a:ext cx="27157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语音问答首响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59352" y="4636007"/>
            <a:ext cx="205740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95928" y="4745736"/>
            <a:ext cx="19842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&lt; 5 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16752" y="4636007"/>
            <a:ext cx="384048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8" y="4745736"/>
            <a:ext cx="376732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3.373 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57232" y="4636007"/>
            <a:ext cx="114300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93808" y="4745736"/>
            <a:ext cx="10698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lang="zh-CN">
                <a:solidFill>
                  <a:srgbClr val="6AB8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70432" y="5138927"/>
            <a:ext cx="278892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" y="5248655"/>
            <a:ext cx="27157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多模态核心模型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59352" y="5138927"/>
            <a:ext cx="205740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95928" y="5248655"/>
            <a:ext cx="19842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至少 1 个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16752" y="5138927"/>
            <a:ext cx="384048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53328" y="5248655"/>
            <a:ext cx="376732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GLM-4V / HumanOmni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57232" y="5138927"/>
            <a:ext cx="1143000" cy="502920"/>
          </a:xfrm>
          <a:prstGeom prst="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93808" y="5248655"/>
            <a:ext cx="10698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lang="zh-CN">
                <a:solidFill>
                  <a:srgbClr val="6AB8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70432" y="5641848"/>
            <a:ext cx="278892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7008" y="5751576"/>
            <a:ext cx="27157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本地知识库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9352" y="5641848"/>
            <a:ext cx="205740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95928" y="5751576"/>
            <a:ext cx="19842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必须构建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16752" y="5641848"/>
            <a:ext cx="384048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53328" y="5751576"/>
            <a:ext cx="376732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BGE-M3 + FAISS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57232" y="5641848"/>
            <a:ext cx="1143000" cy="502920"/>
          </a:xfrm>
          <a:prstGeom prst="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93808" y="5751576"/>
            <a:ext cx="10698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lang="zh-CN">
                <a:solidFill>
                  <a:srgbClr val="6AB8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A9E90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698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七个创新点，最终落到可复制的景区价值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658368" cy="5029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32104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技术不是堆模型，而是围绕准确性、自然度、可用性与运营闭环做取舍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371600"/>
            <a:ext cx="2542032" cy="1207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371600"/>
            <a:ext cx="54864" cy="120700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21762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首句即说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75104"/>
            <a:ext cx="21579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跨模型按语义句流水线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371600"/>
            <a:ext cx="2542032" cy="1207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5B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9856" y="1371600"/>
            <a:ext cx="54864" cy="1207008"/>
          </a:xfrm>
          <a:prstGeom prst="rect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536192"/>
            <a:ext cx="21762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视觉校准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1975104"/>
            <a:ext cx="21579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识景结果二次进入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71600"/>
            <a:ext cx="2542032" cy="1207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78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371600"/>
            <a:ext cx="54864" cy="1207008"/>
          </a:xfrm>
          <a:prstGeom prst="rect">
            <a:avLst/>
          </a:prstGeom>
          <a:solidFill>
            <a:srgbClr val="B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536192"/>
            <a:ext cx="21762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事实追溯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21579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引用、过滤、拒答共同约束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371600"/>
            <a:ext cx="2542032" cy="1207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3A8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54864" cy="1207008"/>
          </a:xfrm>
          <a:prstGeom prst="rect">
            <a:avLst/>
          </a:prstGeom>
          <a:solidFill>
            <a:srgbClr val="3A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536192"/>
            <a:ext cx="21762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按需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975104"/>
            <a:ext cx="215798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闲时释放，连续问答复用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" y="2852928"/>
            <a:ext cx="3401568" cy="1207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6A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2852928"/>
            <a:ext cx="54864" cy="1207008"/>
          </a:xfrm>
          <a:prstGeom prst="rect">
            <a:avLst/>
          </a:prstGeom>
          <a:solidFill>
            <a:srgbClr val="6AB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301752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弱定位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456432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GPS→景点码→手动多级降级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0288" y="2852928"/>
            <a:ext cx="3401568" cy="1207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0288" y="2852928"/>
            <a:ext cx="54864" cy="120700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5" y="301752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双层洞察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5" y="3456432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实时互动 + 14 万历史记录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852928"/>
            <a:ext cx="3401568" cy="1207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5B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852928"/>
            <a:ext cx="54864" cy="1207008"/>
          </a:xfrm>
          <a:prstGeom prst="rect">
            <a:avLst/>
          </a:prstGeom>
          <a:solidFill>
            <a:srgbClr val="5B9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301752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证据化情绪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456432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模态、置信度、降级可解释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617720"/>
            <a:ext cx="1417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2E20"/>
                </a:solidFill>
                <a:latin typeface="Microsoft YaHei"/>
                <a:ea typeface="Microsoft YaHei"/>
                <a:cs typeface="Microsoft YaHei"/>
              </a:rPr>
              <a:t>规模化路线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12848" y="4352544"/>
            <a:ext cx="2852928" cy="1234440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9152" y="45262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4498848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景区试点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974336"/>
            <a:ext cx="250545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B7C8BE"/>
                </a:solidFill>
                <a:latin typeface="Microsoft YaHei"/>
                <a:ea typeface="Microsoft YaHei"/>
                <a:cs typeface="Microsoft YaHei"/>
              </a:rPr>
              <a:t>完善 POI、可信证书与现场定位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4352544"/>
            <a:ext cx="2852928" cy="1234440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41264" y="45262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8464" y="4498848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多景区复制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4974336"/>
            <a:ext cx="250545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B7C8BE"/>
                </a:solidFill>
                <a:latin typeface="Microsoft YaHei"/>
                <a:ea typeface="Microsoft YaHei"/>
                <a:cs typeface="Microsoft YaHei"/>
              </a:rPr>
              <a:t>多租户、方言、IP 头像与内容运营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77072" y="4352544"/>
            <a:ext cx="2852928" cy="1234440"/>
          </a:xfrm>
          <a:prstGeom prst="roundRect">
            <a:avLst/>
          </a:prstGeom>
          <a:solidFill>
            <a:srgbClr val="1A2E20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23376" y="45262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3A8C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4498848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边云协同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3" y="4974336"/>
            <a:ext cx="250545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lang="zh-CN">
                <a:solidFill>
                  <a:srgbClr val="B7C8BE"/>
                </a:solidFill>
                <a:latin typeface="Microsoft YaHei"/>
                <a:ea typeface="Microsoft YaHei"/>
                <a:cs typeface="Microsoft YaHei"/>
              </a:rPr>
              <a:t>量化模型、边缘缓存与旺季容量治理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728178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41664" y="-1005840"/>
            <a:ext cx="4754880" cy="4754880"/>
          </a:xfrm>
          <a:prstGeom prst="ellipse">
            <a:avLst/>
          </a:prstGeom>
          <a:noFill/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80467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让每位游客拥有专属导游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44752"/>
            <a:ext cx="80467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让每次互动成为运营依据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4983480" cy="45720"/>
          </a:xfrm>
          <a:prstGeom prst="rect">
            <a:avLst/>
          </a:prstGeom>
          <a:solidFill>
            <a:srgbClr val="2E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3840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团队信息（提交前补充）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182112"/>
            <a:ext cx="4480560" cy="2240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队长 / 产品架构：[姓名]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大模型与 RAG：[姓名]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数字人与语音：[姓名]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前后端与数据：[姓名]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指导教师：[姓名]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743200"/>
            <a:ext cx="5257800" cy="2697480"/>
          </a:xfrm>
          <a:prstGeom prst="roundRect">
            <a:avLst/>
          </a:prstGeom>
          <a:solidFill>
            <a:srgbClr val="233B2A"/>
          </a:solidFill>
          <a:ln w="12700">
            <a:solidFill>
              <a:srgbClr val="2E4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2999232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5EDD6"/>
                </a:solidFill>
                <a:latin typeface="Microsoft YaHei"/>
                <a:ea typeface="Microsoft YaHei"/>
                <a:cs typeface="Microsoft YaHei"/>
              </a:rPr>
              <a:t>答辩现场建议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3520440"/>
            <a:ext cx="443484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现场语音提问并展示引用与口型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演示路线、识景、定位与反馈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刷新后台证明真实数据闭环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lang="zh-CN">
                <a:solidFill>
                  <a:srgbClr val="B78635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 lang="zh-CN">
                <a:solidFill>
                  <a:srgbClr val="C9D7CF"/>
                </a:solidFill>
                <a:latin typeface="Microsoft YaHei"/>
                <a:ea typeface="Microsoft YaHei"/>
                <a:cs typeface="Microsoft YaHei"/>
              </a:rPr>
              <a:t>最后展示 15/15 与 3373ms 测试证据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5888736"/>
            <a:ext cx="1664208" cy="310896"/>
          </a:xfrm>
          <a:prstGeom prst="round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5916168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 ·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A9E90"/>
                </a:solidFill>
                <a:latin typeface="Microsoft YaHei"/>
                <a:ea typeface="Microsoft YaHei"/>
                <a:cs typeface="Microsoft YaHei"/>
              </a:rPr>
              <a:t>A5 景区导览服务 AI 数字人  ·  灵山小向导·灵曦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E8734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灵山小向导·灵曦——景区导览服务 AI 数字人</dc:title>
  <dc:subject>第十五届中国软件杯 A5 产品方案介绍</dc:subject>
  <dc:creator>[请填写团队名称]</dc:creator>
  <cp:keywords>AI数字人,景区导览,RAG,LiveTalking,GLM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